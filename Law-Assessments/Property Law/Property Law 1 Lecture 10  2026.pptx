
<file path=[Content_Types].xml><?xml version="1.0" encoding="utf-8"?>
<Types xmlns="http://schemas.openxmlformats.org/package/2006/content-types">
  <Default Extension="bin" ContentType="application/vnd.openxmlformats-officedocument.oleObject"/>
  <Default Extension="emf" ContentType="image/x-emf"/>
  <Default Extension="fntdata" ContentType="application/x-fontdata"/>
  <Default Extension="jpeg" ContentType="image/jpeg"/>
  <Default Extension="jpg" ContentType="image/jpe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bookmarkIdSeed="2">
  <p:sldMasterIdLst>
    <p:sldMasterId id="2147483677" r:id="rId1"/>
  </p:sldMasterIdLst>
  <p:notesMasterIdLst>
    <p:notesMasterId r:id="rId25"/>
  </p:notesMasterIdLst>
  <p:handoutMasterIdLst>
    <p:handoutMasterId r:id="rId26"/>
  </p:handoutMasterIdLst>
  <p:sldIdLst>
    <p:sldId id="258" r:id="rId2"/>
    <p:sldId id="417" r:id="rId3"/>
    <p:sldId id="537" r:id="rId4"/>
    <p:sldId id="538" r:id="rId5"/>
    <p:sldId id="539" r:id="rId6"/>
    <p:sldId id="540" r:id="rId7"/>
    <p:sldId id="541" r:id="rId8"/>
    <p:sldId id="542" r:id="rId9"/>
    <p:sldId id="516" r:id="rId10"/>
    <p:sldId id="517" r:id="rId11"/>
    <p:sldId id="536" r:id="rId12"/>
    <p:sldId id="518" r:id="rId13"/>
    <p:sldId id="519" r:id="rId14"/>
    <p:sldId id="522" r:id="rId15"/>
    <p:sldId id="524" r:id="rId16"/>
    <p:sldId id="525" r:id="rId17"/>
    <p:sldId id="526" r:id="rId18"/>
    <p:sldId id="528" r:id="rId19"/>
    <p:sldId id="529" r:id="rId20"/>
    <p:sldId id="531" r:id="rId21"/>
    <p:sldId id="532" r:id="rId22"/>
    <p:sldId id="533" r:id="rId23"/>
    <p:sldId id="535" r:id="rId24"/>
  </p:sldIdLst>
  <p:sldSz cx="6858000" cy="5143500"/>
  <p:notesSz cx="6858000" cy="9144000"/>
  <p:embeddedFontLst>
    <p:embeddedFont>
      <p:font typeface="ＭＳ Ｐゴシック" panose="020B0600070205080204" pitchFamily="34" charset="-128"/>
      <p:regular r:id="rId27"/>
    </p:embeddedFont>
  </p:embeddedFontLst>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00"/>
    <a:srgbClr val="F8B4C3"/>
    <a:srgbClr val="FCEDA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77" autoAdjust="0"/>
    <p:restoredTop sz="78840" autoAdjust="0"/>
  </p:normalViewPr>
  <p:slideViewPr>
    <p:cSldViewPr snapToGrid="0" snapToObjects="1">
      <p:cViewPr varScale="1">
        <p:scale>
          <a:sx n="76" d="100"/>
          <a:sy n="76" d="100"/>
        </p:scale>
        <p:origin x="1364" y="56"/>
      </p:cViewPr>
      <p:guideLst/>
    </p:cSldViewPr>
  </p:slideViewPr>
  <p:notesTextViewPr>
    <p:cViewPr>
      <p:scale>
        <a:sx n="3" d="2"/>
        <a:sy n="3" d="2"/>
      </p:scale>
      <p:origin x="0" y="0"/>
    </p:cViewPr>
  </p:notesTextViewPr>
  <p:sorterViewPr>
    <p:cViewPr>
      <p:scale>
        <a:sx n="66" d="100"/>
        <a:sy n="66" d="100"/>
      </p:scale>
      <p:origin x="0" y="0"/>
    </p:cViewPr>
  </p:sorterViewPr>
  <p:notesViewPr>
    <p:cSldViewPr snapToGrid="0" snapToObjects="1">
      <p:cViewPr varScale="1">
        <p:scale>
          <a:sx n="126" d="100"/>
          <a:sy n="126" d="100"/>
        </p:scale>
        <p:origin x="2512" y="216"/>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F2438A3-CC9E-43D6-A90B-80F88607A0FD}" type="doc">
      <dgm:prSet loTypeId="urn:microsoft.com/office/officeart/2005/8/layout/vList2" loCatId="list" qsTypeId="urn:microsoft.com/office/officeart/2005/8/quickstyle/simple1" qsCatId="simple" csTypeId="urn:microsoft.com/office/officeart/2005/8/colors/accent2_2" csCatId="accent2" phldr="1"/>
      <dgm:spPr/>
      <dgm:t>
        <a:bodyPr/>
        <a:lstStyle/>
        <a:p>
          <a:endParaRPr lang="en-US"/>
        </a:p>
      </dgm:t>
    </dgm:pt>
    <dgm:pt modelId="{DDA4CDA7-AEA0-42AD-B2C9-650FA4CF6EE1}">
      <dgm:prSet/>
      <dgm:spPr/>
      <dgm:t>
        <a:bodyPr/>
        <a:lstStyle/>
        <a:p>
          <a:r>
            <a:rPr lang="en-AU" dirty="0"/>
            <a:t>Express exception - Fraud – A person who acquires title or a registered interest by fraud acquires a </a:t>
          </a:r>
          <a:r>
            <a:rPr lang="en-AU" u="sng" dirty="0"/>
            <a:t>defeasible title</a:t>
          </a:r>
          <a:r>
            <a:rPr lang="en-AU" dirty="0"/>
            <a:t> i.e. an interest which may be set aside by the person defrauded, but the fraud exception is limited to the current title and to the acts of the current registered proprietor or his agent (</a:t>
          </a:r>
          <a:r>
            <a:rPr lang="en-AU" dirty="0" err="1"/>
            <a:t>eg</a:t>
          </a:r>
          <a:r>
            <a:rPr lang="en-AU" dirty="0"/>
            <a:t> a co-owner whose signature was forged would have to apply to set aside the deal against a person who currently has the title who is aware of this fraud  when the property was transferred to them – too late if property is </a:t>
          </a:r>
          <a:r>
            <a:rPr lang="en-AU" dirty="0" err="1"/>
            <a:t>onsold</a:t>
          </a:r>
          <a:r>
            <a:rPr lang="en-AU" dirty="0"/>
            <a:t>).</a:t>
          </a:r>
          <a:endParaRPr lang="en-US" dirty="0"/>
        </a:p>
      </dgm:t>
    </dgm:pt>
    <dgm:pt modelId="{742F5892-134D-460D-9686-DB4575DB32FD}" type="parTrans" cxnId="{CAA60979-92BD-42B9-822D-7C20BD93FC4E}">
      <dgm:prSet/>
      <dgm:spPr/>
      <dgm:t>
        <a:bodyPr/>
        <a:lstStyle/>
        <a:p>
          <a:endParaRPr lang="en-US"/>
        </a:p>
      </dgm:t>
    </dgm:pt>
    <dgm:pt modelId="{F8E3B4E9-643E-4252-930B-41FE605AC98B}" type="sibTrans" cxnId="{CAA60979-92BD-42B9-822D-7C20BD93FC4E}">
      <dgm:prSet/>
      <dgm:spPr/>
      <dgm:t>
        <a:bodyPr/>
        <a:lstStyle/>
        <a:p>
          <a:endParaRPr lang="en-US"/>
        </a:p>
      </dgm:t>
    </dgm:pt>
    <dgm:pt modelId="{6BC7E64A-5FB5-43B2-BF00-B9771B03BE0A}">
      <dgm:prSet/>
      <dgm:spPr/>
      <dgm:t>
        <a:bodyPr/>
        <a:lstStyle/>
        <a:p>
          <a:r>
            <a:rPr lang="en-AU" i="1"/>
            <a:t>Asset Co Ltd v Mere Roihi</a:t>
          </a:r>
          <a:r>
            <a:rPr lang="en-AU"/>
            <a:t> [1905] AC 176</a:t>
          </a:r>
          <a:endParaRPr lang="en-US"/>
        </a:p>
      </dgm:t>
    </dgm:pt>
    <dgm:pt modelId="{93E08E8E-F331-4CE3-A97B-F162D65BE387}" type="parTrans" cxnId="{726F4388-A3C0-4424-8208-15F5103BAECE}">
      <dgm:prSet/>
      <dgm:spPr/>
      <dgm:t>
        <a:bodyPr/>
        <a:lstStyle/>
        <a:p>
          <a:endParaRPr lang="en-US"/>
        </a:p>
      </dgm:t>
    </dgm:pt>
    <dgm:pt modelId="{676BB6D6-3143-4250-994B-CE1518763A52}" type="sibTrans" cxnId="{726F4388-A3C0-4424-8208-15F5103BAECE}">
      <dgm:prSet/>
      <dgm:spPr/>
      <dgm:t>
        <a:bodyPr/>
        <a:lstStyle/>
        <a:p>
          <a:endParaRPr lang="en-US"/>
        </a:p>
      </dgm:t>
    </dgm:pt>
    <dgm:pt modelId="{5B9E17FE-47D0-4387-9C91-7C1A1E7BDC4D}">
      <dgm:prSet/>
      <dgm:spPr/>
      <dgm:t>
        <a:bodyPr/>
        <a:lstStyle/>
        <a:p>
          <a:r>
            <a:rPr lang="en-AU" i="1"/>
            <a:t>Bahr v Nicolay (No 2) </a:t>
          </a:r>
          <a:r>
            <a:rPr lang="en-AU"/>
            <a:t>(1988) 164 CLR 604</a:t>
          </a:r>
          <a:endParaRPr lang="en-US"/>
        </a:p>
      </dgm:t>
    </dgm:pt>
    <dgm:pt modelId="{7E621260-EA73-4BC5-9116-C795B3215B63}" type="parTrans" cxnId="{6DF90292-6C3D-46D4-BCEA-B61B437AD397}">
      <dgm:prSet/>
      <dgm:spPr/>
      <dgm:t>
        <a:bodyPr/>
        <a:lstStyle/>
        <a:p>
          <a:endParaRPr lang="en-US"/>
        </a:p>
      </dgm:t>
    </dgm:pt>
    <dgm:pt modelId="{A4D32876-EC64-4170-84FD-DEE9C833FD38}" type="sibTrans" cxnId="{6DF90292-6C3D-46D4-BCEA-B61B437AD397}">
      <dgm:prSet/>
      <dgm:spPr/>
      <dgm:t>
        <a:bodyPr/>
        <a:lstStyle/>
        <a:p>
          <a:endParaRPr lang="en-US"/>
        </a:p>
      </dgm:t>
    </dgm:pt>
    <dgm:pt modelId="{25F583AA-E744-4594-BAB8-AF26456FB362}" type="pres">
      <dgm:prSet presAssocID="{4F2438A3-CC9E-43D6-A90B-80F88607A0FD}" presName="linear" presStyleCnt="0">
        <dgm:presLayoutVars>
          <dgm:animLvl val="lvl"/>
          <dgm:resizeHandles val="exact"/>
        </dgm:presLayoutVars>
      </dgm:prSet>
      <dgm:spPr/>
    </dgm:pt>
    <dgm:pt modelId="{1347AED3-2CF6-4BD3-9B4B-DC4F5A0E0E28}" type="pres">
      <dgm:prSet presAssocID="{DDA4CDA7-AEA0-42AD-B2C9-650FA4CF6EE1}" presName="parentText" presStyleLbl="node1" presStyleIdx="0" presStyleCnt="3">
        <dgm:presLayoutVars>
          <dgm:chMax val="0"/>
          <dgm:bulletEnabled val="1"/>
        </dgm:presLayoutVars>
      </dgm:prSet>
      <dgm:spPr/>
    </dgm:pt>
    <dgm:pt modelId="{DF375116-742B-4C56-AE54-67C7C17AAC50}" type="pres">
      <dgm:prSet presAssocID="{F8E3B4E9-643E-4252-930B-41FE605AC98B}" presName="spacer" presStyleCnt="0"/>
      <dgm:spPr/>
    </dgm:pt>
    <dgm:pt modelId="{1DC3A247-4D9E-4ACA-9336-830D6BE00261}" type="pres">
      <dgm:prSet presAssocID="{6BC7E64A-5FB5-43B2-BF00-B9771B03BE0A}" presName="parentText" presStyleLbl="node1" presStyleIdx="1" presStyleCnt="3">
        <dgm:presLayoutVars>
          <dgm:chMax val="0"/>
          <dgm:bulletEnabled val="1"/>
        </dgm:presLayoutVars>
      </dgm:prSet>
      <dgm:spPr/>
    </dgm:pt>
    <dgm:pt modelId="{8FA8100C-1C64-40AE-8830-124AC0A94F5D}" type="pres">
      <dgm:prSet presAssocID="{676BB6D6-3143-4250-994B-CE1518763A52}" presName="spacer" presStyleCnt="0"/>
      <dgm:spPr/>
    </dgm:pt>
    <dgm:pt modelId="{DCDCA81F-0D9D-47F4-9239-CC9EEEC37F2B}" type="pres">
      <dgm:prSet presAssocID="{5B9E17FE-47D0-4387-9C91-7C1A1E7BDC4D}" presName="parentText" presStyleLbl="node1" presStyleIdx="2" presStyleCnt="3">
        <dgm:presLayoutVars>
          <dgm:chMax val="0"/>
          <dgm:bulletEnabled val="1"/>
        </dgm:presLayoutVars>
      </dgm:prSet>
      <dgm:spPr/>
    </dgm:pt>
  </dgm:ptLst>
  <dgm:cxnLst>
    <dgm:cxn modelId="{CAA60979-92BD-42B9-822D-7C20BD93FC4E}" srcId="{4F2438A3-CC9E-43D6-A90B-80F88607A0FD}" destId="{DDA4CDA7-AEA0-42AD-B2C9-650FA4CF6EE1}" srcOrd="0" destOrd="0" parTransId="{742F5892-134D-460D-9686-DB4575DB32FD}" sibTransId="{F8E3B4E9-643E-4252-930B-41FE605AC98B}"/>
    <dgm:cxn modelId="{A10F3E81-1E00-45ED-837A-02AD4A7A0ED9}" type="presOf" srcId="{5B9E17FE-47D0-4387-9C91-7C1A1E7BDC4D}" destId="{DCDCA81F-0D9D-47F4-9239-CC9EEEC37F2B}" srcOrd="0" destOrd="0" presId="urn:microsoft.com/office/officeart/2005/8/layout/vList2"/>
    <dgm:cxn modelId="{726F4388-A3C0-4424-8208-15F5103BAECE}" srcId="{4F2438A3-CC9E-43D6-A90B-80F88607A0FD}" destId="{6BC7E64A-5FB5-43B2-BF00-B9771B03BE0A}" srcOrd="1" destOrd="0" parTransId="{93E08E8E-F331-4CE3-A97B-F162D65BE387}" sibTransId="{676BB6D6-3143-4250-994B-CE1518763A52}"/>
    <dgm:cxn modelId="{6DF90292-6C3D-46D4-BCEA-B61B437AD397}" srcId="{4F2438A3-CC9E-43D6-A90B-80F88607A0FD}" destId="{5B9E17FE-47D0-4387-9C91-7C1A1E7BDC4D}" srcOrd="2" destOrd="0" parTransId="{7E621260-EA73-4BC5-9116-C795B3215B63}" sibTransId="{A4D32876-EC64-4170-84FD-DEE9C833FD38}"/>
    <dgm:cxn modelId="{6F2275BA-C492-4066-896F-013C299A161E}" type="presOf" srcId="{DDA4CDA7-AEA0-42AD-B2C9-650FA4CF6EE1}" destId="{1347AED3-2CF6-4BD3-9B4B-DC4F5A0E0E28}" srcOrd="0" destOrd="0" presId="urn:microsoft.com/office/officeart/2005/8/layout/vList2"/>
    <dgm:cxn modelId="{F4FB5FC6-B604-4CE8-ACE6-A49E5C06C342}" type="presOf" srcId="{4F2438A3-CC9E-43D6-A90B-80F88607A0FD}" destId="{25F583AA-E744-4594-BAB8-AF26456FB362}" srcOrd="0" destOrd="0" presId="urn:microsoft.com/office/officeart/2005/8/layout/vList2"/>
    <dgm:cxn modelId="{EFB1B8FB-0151-443F-B7B3-A50B74FFE181}" type="presOf" srcId="{6BC7E64A-5FB5-43B2-BF00-B9771B03BE0A}" destId="{1DC3A247-4D9E-4ACA-9336-830D6BE00261}" srcOrd="0" destOrd="0" presId="urn:microsoft.com/office/officeart/2005/8/layout/vList2"/>
    <dgm:cxn modelId="{6BC5A254-64BF-4E2E-8865-DC7548332AF4}" type="presParOf" srcId="{25F583AA-E744-4594-BAB8-AF26456FB362}" destId="{1347AED3-2CF6-4BD3-9B4B-DC4F5A0E0E28}" srcOrd="0" destOrd="0" presId="urn:microsoft.com/office/officeart/2005/8/layout/vList2"/>
    <dgm:cxn modelId="{4645D5D6-8659-4673-ABE8-D443C6995B9B}" type="presParOf" srcId="{25F583AA-E744-4594-BAB8-AF26456FB362}" destId="{DF375116-742B-4C56-AE54-67C7C17AAC50}" srcOrd="1" destOrd="0" presId="urn:microsoft.com/office/officeart/2005/8/layout/vList2"/>
    <dgm:cxn modelId="{9C974179-A127-46C3-9722-3B9119F4DDFE}" type="presParOf" srcId="{25F583AA-E744-4594-BAB8-AF26456FB362}" destId="{1DC3A247-4D9E-4ACA-9336-830D6BE00261}" srcOrd="2" destOrd="0" presId="urn:microsoft.com/office/officeart/2005/8/layout/vList2"/>
    <dgm:cxn modelId="{7986F532-8AE7-4877-A233-26487C138851}" type="presParOf" srcId="{25F583AA-E744-4594-BAB8-AF26456FB362}" destId="{8FA8100C-1C64-40AE-8830-124AC0A94F5D}" srcOrd="3" destOrd="0" presId="urn:microsoft.com/office/officeart/2005/8/layout/vList2"/>
    <dgm:cxn modelId="{6581D14E-4387-4CB7-87D1-86A5775669E6}" type="presParOf" srcId="{25F583AA-E744-4594-BAB8-AF26456FB362}" destId="{DCDCA81F-0D9D-47F4-9239-CC9EEEC37F2B}" srcOrd="4"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47AED3-2CF6-4BD3-9B4B-DC4F5A0E0E28}">
      <dsp:nvSpPr>
        <dsp:cNvPr id="0" name=""/>
        <dsp:cNvSpPr/>
      </dsp:nvSpPr>
      <dsp:spPr>
        <a:xfrm>
          <a:off x="0" y="92204"/>
          <a:ext cx="4323976" cy="12636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AU" sz="1000" kern="1200" dirty="0"/>
            <a:t>Express exception - Fraud – A person who acquires title or a registered interest by fraud acquires a </a:t>
          </a:r>
          <a:r>
            <a:rPr lang="en-AU" sz="1000" u="sng" kern="1200" dirty="0"/>
            <a:t>defeasible title</a:t>
          </a:r>
          <a:r>
            <a:rPr lang="en-AU" sz="1000" kern="1200" dirty="0"/>
            <a:t> i.e. an interest which may be set aside by the person defrauded, but the fraud exception is limited to the current title and to the acts of the current registered proprietor or his agent (</a:t>
          </a:r>
          <a:r>
            <a:rPr lang="en-AU" sz="1000" kern="1200" dirty="0" err="1"/>
            <a:t>eg</a:t>
          </a:r>
          <a:r>
            <a:rPr lang="en-AU" sz="1000" kern="1200" dirty="0"/>
            <a:t> a co-owner whose signature was forged would have to apply to set aside the deal against a person who currently has the title who is aware of this fraud  when the property was transferred to them – too late if property is </a:t>
          </a:r>
          <a:r>
            <a:rPr lang="en-AU" sz="1000" kern="1200" dirty="0" err="1"/>
            <a:t>onsold</a:t>
          </a:r>
          <a:r>
            <a:rPr lang="en-AU" sz="1000" kern="1200" dirty="0"/>
            <a:t>).</a:t>
          </a:r>
          <a:endParaRPr lang="en-US" sz="1000" kern="1200" dirty="0"/>
        </a:p>
      </dsp:txBody>
      <dsp:txXfrm>
        <a:off x="61684" y="153888"/>
        <a:ext cx="4200608" cy="1140232"/>
      </dsp:txXfrm>
    </dsp:sp>
    <dsp:sp modelId="{1DC3A247-4D9E-4ACA-9336-830D6BE00261}">
      <dsp:nvSpPr>
        <dsp:cNvPr id="0" name=""/>
        <dsp:cNvSpPr/>
      </dsp:nvSpPr>
      <dsp:spPr>
        <a:xfrm>
          <a:off x="0" y="1384604"/>
          <a:ext cx="4323976" cy="12636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AU" sz="1000" i="1" kern="1200"/>
            <a:t>Asset Co Ltd v Mere Roihi</a:t>
          </a:r>
          <a:r>
            <a:rPr lang="en-AU" sz="1000" kern="1200"/>
            <a:t> [1905] AC 176</a:t>
          </a:r>
          <a:endParaRPr lang="en-US" sz="1000" kern="1200"/>
        </a:p>
      </dsp:txBody>
      <dsp:txXfrm>
        <a:off x="61684" y="1446288"/>
        <a:ext cx="4200608" cy="1140232"/>
      </dsp:txXfrm>
    </dsp:sp>
    <dsp:sp modelId="{DCDCA81F-0D9D-47F4-9239-CC9EEEC37F2B}">
      <dsp:nvSpPr>
        <dsp:cNvPr id="0" name=""/>
        <dsp:cNvSpPr/>
      </dsp:nvSpPr>
      <dsp:spPr>
        <a:xfrm>
          <a:off x="0" y="2677004"/>
          <a:ext cx="4323976" cy="12636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38100" rIns="38100" bIns="38100" numCol="1" spcCol="1270" anchor="ctr" anchorCtr="0">
          <a:noAutofit/>
        </a:bodyPr>
        <a:lstStyle/>
        <a:p>
          <a:pPr marL="0" lvl="0" indent="0" algn="l" defTabSz="444500">
            <a:lnSpc>
              <a:spcPct val="90000"/>
            </a:lnSpc>
            <a:spcBef>
              <a:spcPct val="0"/>
            </a:spcBef>
            <a:spcAft>
              <a:spcPct val="35000"/>
            </a:spcAft>
            <a:buNone/>
          </a:pPr>
          <a:r>
            <a:rPr lang="en-AU" sz="1000" i="1" kern="1200"/>
            <a:t>Bahr v Nicolay (No 2) </a:t>
          </a:r>
          <a:r>
            <a:rPr lang="en-AU" sz="1000" kern="1200"/>
            <a:t>(1988) 164 CLR 604</a:t>
          </a:r>
          <a:endParaRPr lang="en-US" sz="1000" kern="1200"/>
        </a:p>
      </dsp:txBody>
      <dsp:txXfrm>
        <a:off x="61684" y="2738688"/>
        <a:ext cx="4200608" cy="1140232"/>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75203B3-A0E4-0F4B-B1B6-74A4145EFC5A}" type="datetimeFigureOut">
              <a:rPr lang="en-US" smtClean="0"/>
              <a:t>4/17/2026</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B395BC3C-2385-1947-9105-333D8DF003CC}" type="slidenum">
              <a:rPr lang="en-US" smtClean="0"/>
              <a:t>‹#›</a:t>
            </a:fld>
            <a:endParaRPr lang="en-US"/>
          </a:p>
        </p:txBody>
      </p:sp>
    </p:spTree>
    <p:extLst>
      <p:ext uri="{BB962C8B-B14F-4D97-AF65-F5344CB8AC3E}">
        <p14:creationId xmlns:p14="http://schemas.microsoft.com/office/powerpoint/2010/main" val="13667747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8134E8-B235-5A4A-886D-94062B59BC60}" type="datetimeFigureOut">
              <a:rPr lang="en-US" smtClean="0"/>
              <a:t>4/17/2026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1F598F4-E49E-0C4A-95A0-3D4224C6B109}" type="slidenum">
              <a:rPr lang="en-US" smtClean="0"/>
              <a:t>‹#›</a:t>
            </a:fld>
            <a:endParaRPr lang="en-US"/>
          </a:p>
        </p:txBody>
      </p:sp>
    </p:spTree>
    <p:extLst>
      <p:ext uri="{BB962C8B-B14F-4D97-AF65-F5344CB8AC3E}">
        <p14:creationId xmlns:p14="http://schemas.microsoft.com/office/powerpoint/2010/main" val="169595773"/>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ain Cover Option A">
    <p:spTree>
      <p:nvGrpSpPr>
        <p:cNvPr id="1" name=""/>
        <p:cNvGrpSpPr/>
        <p:nvPr/>
      </p:nvGrpSpPr>
      <p:grpSpPr>
        <a:xfrm>
          <a:off x="0" y="0"/>
          <a:ext cx="0" cy="0"/>
          <a:chOff x="0" y="0"/>
          <a:chExt cx="0" cy="0"/>
        </a:xfrm>
      </p:grpSpPr>
      <p:sp>
        <p:nvSpPr>
          <p:cNvPr id="9" name="Rectangle 8"/>
          <p:cNvSpPr/>
          <p:nvPr userDrawn="1"/>
        </p:nvSpPr>
        <p:spPr>
          <a:xfrm>
            <a:off x="0" y="0"/>
            <a:ext cx="6858000" cy="51435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760"/>
          </a:p>
        </p:txBody>
      </p:sp>
      <p:sp>
        <p:nvSpPr>
          <p:cNvPr id="6" name="Title 1"/>
          <p:cNvSpPr>
            <a:spLocks noGrp="1"/>
          </p:cNvSpPr>
          <p:nvPr>
            <p:ph type="ctrTitle" hasCustomPrompt="1"/>
          </p:nvPr>
        </p:nvSpPr>
        <p:spPr>
          <a:xfrm>
            <a:off x="385277" y="3511275"/>
            <a:ext cx="3362928" cy="1348199"/>
          </a:xfrm>
        </p:spPr>
        <p:txBody>
          <a:bodyPr anchor="ctr">
            <a:normAutofit/>
          </a:bodyPr>
          <a:lstStyle>
            <a:lvl1pPr algn="l">
              <a:lnSpc>
                <a:spcPct val="100000"/>
              </a:lnSpc>
              <a:spcAft>
                <a:spcPts val="338"/>
              </a:spcAft>
              <a:defRPr sz="1575" b="1" baseline="0">
                <a:solidFill>
                  <a:schemeClr val="tx1"/>
                </a:solidFill>
                <a:latin typeface="Arial" charset="0"/>
                <a:ea typeface="Arial" charset="0"/>
                <a:cs typeface="Arial" charset="0"/>
              </a:defRPr>
            </a:lvl1pPr>
          </a:lstStyle>
          <a:p>
            <a:r>
              <a:rPr lang="en-US" dirty="0"/>
              <a:t>Cover Option A: Click to add heading</a:t>
            </a:r>
          </a:p>
        </p:txBody>
      </p:sp>
      <p:pic>
        <p:nvPicPr>
          <p:cNvPr id="7" name="Picture 6"/>
          <p:cNvPicPr>
            <a:picLocks noChangeAspect="1"/>
          </p:cNvPicPr>
          <p:nvPr userDrawn="1"/>
        </p:nvPicPr>
        <p:blipFill>
          <a:blip r:embed="rId2"/>
          <a:stretch>
            <a:fillRect/>
          </a:stretch>
        </p:blipFill>
        <p:spPr>
          <a:xfrm>
            <a:off x="4340577" y="77164"/>
            <a:ext cx="2427111" cy="557336"/>
          </a:xfrm>
          <a:prstGeom prst="rect">
            <a:avLst/>
          </a:prstGeom>
        </p:spPr>
      </p:pic>
    </p:spTree>
    <p:extLst>
      <p:ext uri="{BB962C8B-B14F-4D97-AF65-F5344CB8AC3E}">
        <p14:creationId xmlns:p14="http://schemas.microsoft.com/office/powerpoint/2010/main" val="20449813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Main Cover Option C">
    <p:spTree>
      <p:nvGrpSpPr>
        <p:cNvPr id="1" name=""/>
        <p:cNvGrpSpPr/>
        <p:nvPr/>
      </p:nvGrpSpPr>
      <p:grpSpPr>
        <a:xfrm>
          <a:off x="0" y="0"/>
          <a:ext cx="0" cy="0"/>
          <a:chOff x="0" y="0"/>
          <a:chExt cx="0" cy="0"/>
        </a:xfrm>
      </p:grpSpPr>
      <p:sp>
        <p:nvSpPr>
          <p:cNvPr id="6" name="Picture Placeholder 5"/>
          <p:cNvSpPr>
            <a:spLocks noGrp="1" noChangeAspect="1"/>
          </p:cNvSpPr>
          <p:nvPr>
            <p:ph type="pic" sz="quarter" idx="10" hasCustomPrompt="1"/>
          </p:nvPr>
        </p:nvSpPr>
        <p:spPr>
          <a:xfrm>
            <a:off x="0" y="0"/>
            <a:ext cx="3800294" cy="5143500"/>
          </a:xfrm>
          <a:solidFill>
            <a:schemeClr val="tx2">
              <a:lumMod val="20000"/>
              <a:lumOff val="80000"/>
            </a:schemeClr>
          </a:solidFill>
        </p:spPr>
        <p:txBody>
          <a:bodyPr anchor="ctr">
            <a:normAutofit/>
          </a:bodyPr>
          <a:lstStyle>
            <a:lvl1pPr marL="0" indent="0" algn="ctr">
              <a:buNone/>
              <a:defRPr sz="900" b="0" baseline="0"/>
            </a:lvl1pPr>
          </a:lstStyle>
          <a:p>
            <a:r>
              <a:rPr lang="en-US" dirty="0"/>
              <a:t>Click this icon to insert image</a:t>
            </a:r>
          </a:p>
        </p:txBody>
      </p:sp>
      <p:sp>
        <p:nvSpPr>
          <p:cNvPr id="14" name="Title 1"/>
          <p:cNvSpPr>
            <a:spLocks noGrp="1"/>
          </p:cNvSpPr>
          <p:nvPr>
            <p:ph type="ctrTitle" hasCustomPrompt="1"/>
          </p:nvPr>
        </p:nvSpPr>
        <p:spPr>
          <a:xfrm>
            <a:off x="3964463" y="2254510"/>
            <a:ext cx="2706179" cy="928217"/>
          </a:xfrm>
        </p:spPr>
        <p:txBody>
          <a:bodyPr anchor="b">
            <a:normAutofit/>
          </a:bodyPr>
          <a:lstStyle>
            <a:lvl1pPr algn="l">
              <a:lnSpc>
                <a:spcPct val="100000"/>
              </a:lnSpc>
              <a:spcAft>
                <a:spcPts val="338"/>
              </a:spcAft>
              <a:defRPr sz="1600" b="1" baseline="0">
                <a:solidFill>
                  <a:schemeClr val="accent4"/>
                </a:solidFill>
                <a:latin typeface="Arial" charset="0"/>
                <a:ea typeface="Arial" charset="0"/>
                <a:cs typeface="Arial" charset="0"/>
              </a:defRPr>
            </a:lvl1pPr>
          </a:lstStyle>
          <a:p>
            <a:r>
              <a:rPr lang="en-US" dirty="0"/>
              <a:t>Cover Option C:</a:t>
            </a:r>
            <a:br>
              <a:rPr lang="en-US" dirty="0"/>
            </a:br>
            <a:r>
              <a:rPr lang="en-US" dirty="0"/>
              <a:t>Click to add heading</a:t>
            </a:r>
          </a:p>
        </p:txBody>
      </p:sp>
      <p:sp>
        <p:nvSpPr>
          <p:cNvPr id="5" name="Text Placeholder 4"/>
          <p:cNvSpPr>
            <a:spLocks noGrp="1"/>
          </p:cNvSpPr>
          <p:nvPr>
            <p:ph type="body" sz="quarter" idx="11" hasCustomPrompt="1"/>
          </p:nvPr>
        </p:nvSpPr>
        <p:spPr>
          <a:xfrm>
            <a:off x="3964843" y="3219451"/>
            <a:ext cx="2705873" cy="646113"/>
          </a:xfrm>
        </p:spPr>
        <p:txBody>
          <a:bodyPr>
            <a:normAutofit/>
          </a:bodyPr>
          <a:lstStyle>
            <a:lvl1pPr marL="0" indent="0">
              <a:lnSpc>
                <a:spcPct val="100000"/>
              </a:lnSpc>
              <a:buNone/>
              <a:defRPr sz="1400">
                <a:solidFill>
                  <a:schemeClr val="tx1"/>
                </a:solidFill>
              </a:defRPr>
            </a:lvl1pPr>
          </a:lstStyle>
          <a:p>
            <a:pPr lvl="0"/>
            <a:r>
              <a:rPr lang="en-US" dirty="0"/>
              <a:t>Click to add sub heading</a:t>
            </a:r>
          </a:p>
        </p:txBody>
      </p:sp>
      <p:pic>
        <p:nvPicPr>
          <p:cNvPr id="8" name="Picture 7"/>
          <p:cNvPicPr>
            <a:picLocks noChangeAspect="1"/>
          </p:cNvPicPr>
          <p:nvPr userDrawn="1"/>
        </p:nvPicPr>
        <p:blipFill>
          <a:blip r:embed="rId2"/>
          <a:stretch>
            <a:fillRect/>
          </a:stretch>
        </p:blipFill>
        <p:spPr>
          <a:xfrm>
            <a:off x="4340578" y="80586"/>
            <a:ext cx="2427111" cy="557336"/>
          </a:xfrm>
          <a:prstGeom prst="rect">
            <a:avLst/>
          </a:prstGeom>
        </p:spPr>
      </p:pic>
    </p:spTree>
    <p:extLst>
      <p:ext uri="{BB962C8B-B14F-4D97-AF65-F5344CB8AC3E}">
        <p14:creationId xmlns:p14="http://schemas.microsoft.com/office/powerpoint/2010/main" val="8193579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userDrawn="1">
  <p:cSld name="1 col text only">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259349" y="889908"/>
            <a:ext cx="4648755" cy="3742815"/>
          </a:xfrm>
        </p:spPr>
        <p:txBody>
          <a:bodyPr>
            <a:normAutofit/>
          </a:bodyPr>
          <a:lstStyle>
            <a:lvl1pPr marL="0" indent="0">
              <a:lnSpc>
                <a:spcPct val="100000"/>
              </a:lnSpc>
              <a:buNone/>
              <a:defRPr sz="900"/>
            </a:lvl1pPr>
            <a:lvl2pPr>
              <a:lnSpc>
                <a:spcPct val="100000"/>
              </a:lnSpc>
              <a:defRPr sz="900"/>
            </a:lvl2pPr>
            <a:lvl3pPr>
              <a:lnSpc>
                <a:spcPct val="100000"/>
              </a:lnSpc>
              <a:defRPr sz="900"/>
            </a:lvl3pPr>
          </a:lstStyle>
          <a:p>
            <a:pPr lvl="0"/>
            <a:r>
              <a:rPr lang="en-US"/>
              <a:t>Click to edit Master text styles</a:t>
            </a:r>
          </a:p>
          <a:p>
            <a:pPr lvl="1"/>
            <a:r>
              <a:rPr lang="en-US"/>
              <a:t>Second level</a:t>
            </a:r>
          </a:p>
          <a:p>
            <a:pPr lvl="2"/>
            <a:r>
              <a:rPr lang="en-US"/>
              <a:t>Third level</a:t>
            </a:r>
          </a:p>
        </p:txBody>
      </p:sp>
      <p:sp>
        <p:nvSpPr>
          <p:cNvPr id="9" name="Rectangle 8"/>
          <p:cNvSpPr>
            <a:spLocks noChangeArrowheads="1"/>
          </p:cNvSpPr>
          <p:nvPr userDrawn="1"/>
        </p:nvSpPr>
        <p:spPr bwMode="auto">
          <a:xfrm>
            <a:off x="0" y="0"/>
            <a:ext cx="6094304" cy="562369"/>
          </a:xfrm>
          <a:prstGeom prst="rect">
            <a:avLst/>
          </a:prstGeom>
          <a:solidFill>
            <a:schemeClr val="accent4"/>
          </a:solidFill>
          <a:ln>
            <a:noFill/>
          </a:ln>
          <a:extLst>
            <a:ext uri="{91240B29-F687-4f45-9708-019B960494DF}">
              <a14:hiddenLine xmlns="" xmlns:a14="http://schemas.microsoft.com/office/drawing/2010/main" w="9525">
                <a:solidFill>
                  <a:srgbClr val="000000"/>
                </a:solidFill>
                <a:miter lim="800000"/>
                <a:headEnd/>
                <a:tailEnd/>
              </a14:hiddenLine>
            </a:ext>
          </a:extLst>
        </p:spPr>
        <p:txBody>
          <a:bodyPr wrap="none" anchor="ctr"/>
          <a:lstStyle>
            <a:lvl1pPr eaLnBrk="0" hangingPunct="0">
              <a:defRPr sz="2400">
                <a:solidFill>
                  <a:schemeClr val="tx1"/>
                </a:solidFill>
                <a:latin typeface="Arial" panose="020B0604020202020204" pitchFamily="34" charset="0"/>
                <a:ea typeface="MS PGothic" panose="020B0600070205080204" pitchFamily="34" charset="-128"/>
              </a:defRPr>
            </a:lvl1pPr>
            <a:lvl2pPr marL="742950" indent="-285750" eaLnBrk="0" hangingPunct="0">
              <a:defRPr sz="2400">
                <a:solidFill>
                  <a:schemeClr val="tx1"/>
                </a:solidFill>
                <a:latin typeface="Arial" panose="020B0604020202020204" pitchFamily="34" charset="0"/>
                <a:ea typeface="MS PGothic" panose="020B0600070205080204" pitchFamily="34" charset="-128"/>
              </a:defRPr>
            </a:lvl2pPr>
            <a:lvl3pPr marL="1143000" indent="-228600" eaLnBrk="0" hangingPunct="0">
              <a:defRPr sz="2400">
                <a:solidFill>
                  <a:schemeClr val="tx1"/>
                </a:solidFill>
                <a:latin typeface="Arial" panose="020B0604020202020204" pitchFamily="34" charset="0"/>
                <a:ea typeface="MS PGothic" panose="020B0600070205080204" pitchFamily="34" charset="-128"/>
              </a:defRPr>
            </a:lvl3pPr>
            <a:lvl4pPr marL="1600200" indent="-228600" eaLnBrk="0" hangingPunct="0">
              <a:defRPr sz="2400">
                <a:solidFill>
                  <a:schemeClr val="tx1"/>
                </a:solidFill>
                <a:latin typeface="Arial" panose="020B0604020202020204" pitchFamily="34" charset="0"/>
                <a:ea typeface="MS PGothic" panose="020B0600070205080204" pitchFamily="34" charset="-128"/>
              </a:defRPr>
            </a:lvl4pPr>
            <a:lvl5pPr marL="2057400" indent="-228600" eaLnBrk="0" hangingPunct="0">
              <a:defRPr sz="24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Arial" panose="020B0604020202020204" pitchFamily="34" charset="0"/>
                <a:ea typeface="MS PGothic" panose="020B0600070205080204" pitchFamily="34" charset="-128"/>
              </a:defRPr>
            </a:lvl9pPr>
          </a:lstStyle>
          <a:p>
            <a:pPr eaLnBrk="1" hangingPunct="1"/>
            <a:endParaRPr lang="en-US" altLang="en-US" sz="1013">
              <a:solidFill>
                <a:schemeClr val="accent5"/>
              </a:solidFill>
            </a:endParaRPr>
          </a:p>
        </p:txBody>
      </p:sp>
      <p:sp>
        <p:nvSpPr>
          <p:cNvPr id="10" name="Title 1"/>
          <p:cNvSpPr>
            <a:spLocks noGrp="1"/>
          </p:cNvSpPr>
          <p:nvPr>
            <p:ph type="title" hasCustomPrompt="1"/>
          </p:nvPr>
        </p:nvSpPr>
        <p:spPr>
          <a:xfrm>
            <a:off x="259350" y="-2380"/>
            <a:ext cx="5667318" cy="564749"/>
          </a:xfrm>
        </p:spPr>
        <p:txBody>
          <a:bodyPr>
            <a:normAutofit/>
          </a:bodyPr>
          <a:lstStyle>
            <a:lvl1pPr>
              <a:defRPr sz="1350" b="1" baseline="0">
                <a:solidFill>
                  <a:schemeClr val="tx1"/>
                </a:solidFill>
              </a:defRPr>
            </a:lvl1pPr>
          </a:lstStyle>
          <a:p>
            <a:r>
              <a:rPr lang="en-US" dirty="0"/>
              <a:t>1 column text only slide. Click to add title. </a:t>
            </a:r>
          </a:p>
        </p:txBody>
      </p:sp>
      <p:pic>
        <p:nvPicPr>
          <p:cNvPr id="2" name="Picture 1"/>
          <p:cNvPicPr>
            <a:picLocks noChangeAspect="1"/>
          </p:cNvPicPr>
          <p:nvPr userDrawn="1"/>
        </p:nvPicPr>
        <p:blipFill>
          <a:blip r:embed="rId2"/>
          <a:stretch>
            <a:fillRect/>
          </a:stretch>
        </p:blipFill>
        <p:spPr>
          <a:xfrm>
            <a:off x="6094304" y="-2380"/>
            <a:ext cx="763695" cy="564749"/>
          </a:xfrm>
          <a:prstGeom prst="rect">
            <a:avLst/>
          </a:prstGeom>
        </p:spPr>
      </p:pic>
    </p:spTree>
    <p:extLst>
      <p:ext uri="{BB962C8B-B14F-4D97-AF65-F5344CB8AC3E}">
        <p14:creationId xmlns:p14="http://schemas.microsoft.com/office/powerpoint/2010/main" val="128336645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273845"/>
            <a:ext cx="5915025" cy="99417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1369219"/>
            <a:ext cx="5915025"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4767264"/>
            <a:ext cx="154305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C764DE79-268F-4C1A-8933-263129D2AF90}" type="datetimeFigureOut">
              <a:rPr lang="en-US" dirty="0"/>
              <a:t>4/17/2026</a:t>
            </a:fld>
            <a:endParaRPr lang="en-US" dirty="0"/>
          </a:p>
        </p:txBody>
      </p:sp>
      <p:sp>
        <p:nvSpPr>
          <p:cNvPr id="5" name="Footer Placeholder 4"/>
          <p:cNvSpPr>
            <a:spLocks noGrp="1"/>
          </p:cNvSpPr>
          <p:nvPr>
            <p:ph type="ftr" sz="quarter" idx="3"/>
          </p:nvPr>
        </p:nvSpPr>
        <p:spPr>
          <a:xfrm>
            <a:off x="2271713" y="4767264"/>
            <a:ext cx="2314575"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4843463" y="4767264"/>
            <a:ext cx="154305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1550542115"/>
      </p:ext>
    </p:extLst>
  </p:cSld>
  <p:clrMap bg1="lt1" tx1="dk1" bg2="lt2" tx2="dk2" accent1="accent1" accent2="accent2" accent3="accent3" accent4="accent4" accent5="accent5" accent6="accent6" hlink="hlink" folHlink="folHlink"/>
  <p:sldLayoutIdLst>
    <p:sldLayoutId id="2147483676" r:id="rId1"/>
    <p:sldLayoutId id="2147483691" r:id="rId2"/>
    <p:sldLayoutId id="2147483692" r:id="rId3"/>
  </p:sldLayoutIdLst>
  <p:hf sldNum="0" hdr="0" ftr="0" dt="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oleObject" Target="../embeddings/oleObject1.bin"/><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6.jpg"/><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image" Target="../media/image13.jp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p:cNvSpPr>
            <a:spLocks noGrp="1"/>
          </p:cNvSpPr>
          <p:nvPr>
            <p:ph type="ctrTitle"/>
          </p:nvPr>
        </p:nvSpPr>
        <p:spPr>
          <a:xfrm>
            <a:off x="3497581" y="1620696"/>
            <a:ext cx="3173062" cy="1562032"/>
          </a:xfrm>
        </p:spPr>
        <p:txBody>
          <a:bodyPr>
            <a:normAutofit/>
          </a:bodyPr>
          <a:lstStyle/>
          <a:p>
            <a:r>
              <a:rPr lang="en-US" altLang="en-US" sz="2400" b="1" dirty="0">
                <a:ea typeface="ＭＳ Ｐゴシック" panose="020B0600070205080204" pitchFamily="34" charset="-128"/>
              </a:rPr>
              <a:t>LAW2102</a:t>
            </a:r>
            <a:br>
              <a:rPr lang="en-US" altLang="en-US" sz="2400" b="1" dirty="0">
                <a:ea typeface="ＭＳ Ｐゴシック" panose="020B0600070205080204" pitchFamily="34" charset="-128"/>
              </a:rPr>
            </a:br>
            <a:r>
              <a:rPr lang="en-US" altLang="en-US" sz="2400" b="1" dirty="0">
                <a:ea typeface="ＭＳ Ｐゴシック" panose="020B0600070205080204" pitchFamily="34" charset="-128"/>
              </a:rPr>
              <a:t>PROPERTY </a:t>
            </a:r>
            <a:r>
              <a:rPr lang="en-US" altLang="en-US" sz="2400" dirty="0">
                <a:ea typeface="ＭＳ Ｐゴシック" panose="020B0600070205080204" pitchFamily="34" charset="-128"/>
              </a:rPr>
              <a:t>LAW </a:t>
            </a:r>
            <a:r>
              <a:rPr lang="en-US" altLang="en-US" sz="2400" b="1" dirty="0">
                <a:ea typeface="ＭＳ Ｐゴシック" panose="020B0600070205080204" pitchFamily="34" charset="-128"/>
              </a:rPr>
              <a:t>1</a:t>
            </a:r>
            <a:br>
              <a:rPr lang="en-US" altLang="en-US" sz="2400" b="1" dirty="0">
                <a:ea typeface="ＭＳ Ｐゴシック" panose="020B0600070205080204" pitchFamily="34" charset="-128"/>
              </a:rPr>
            </a:br>
            <a:endParaRPr lang="en-US" dirty="0"/>
          </a:p>
        </p:txBody>
      </p:sp>
      <p:sp>
        <p:nvSpPr>
          <p:cNvPr id="19" name="Text Placeholder 18"/>
          <p:cNvSpPr>
            <a:spLocks noGrp="1"/>
          </p:cNvSpPr>
          <p:nvPr>
            <p:ph type="body" sz="quarter" idx="11"/>
          </p:nvPr>
        </p:nvSpPr>
        <p:spPr>
          <a:xfrm>
            <a:off x="435128" y="2888243"/>
            <a:ext cx="6369269" cy="1668889"/>
          </a:xfrm>
        </p:spPr>
        <p:txBody>
          <a:bodyPr>
            <a:normAutofit fontScale="70000" lnSpcReduction="20000"/>
          </a:bodyPr>
          <a:lstStyle/>
          <a:p>
            <a:r>
              <a:rPr lang="en-US" altLang="en-US" b="1" dirty="0">
                <a:ea typeface="ＭＳ Ｐゴシック" panose="020B0600070205080204" pitchFamily="34" charset="-128"/>
              </a:rPr>
              <a:t>					Week 10</a:t>
            </a:r>
            <a:br>
              <a:rPr lang="en-US" altLang="en-US" b="1" dirty="0">
                <a:ea typeface="ＭＳ Ｐゴシック" panose="020B0600070205080204" pitchFamily="34" charset="-128"/>
              </a:rPr>
            </a:br>
            <a:endParaRPr lang="en-US" altLang="en-US" b="1" dirty="0">
              <a:ea typeface="ＭＳ Ｐゴシック" panose="020B0600070205080204" pitchFamily="34" charset="-128"/>
            </a:endParaRPr>
          </a:p>
          <a:p>
            <a:endParaRPr lang="en-US" altLang="en-US" b="1" dirty="0">
              <a:ea typeface="ＭＳ Ｐゴシック" panose="020B0600070205080204" pitchFamily="34" charset="-128"/>
            </a:endParaRPr>
          </a:p>
          <a:p>
            <a:r>
              <a:rPr lang="en-US" altLang="en-US" b="1" dirty="0">
                <a:ea typeface="ＭＳ Ｐゴシック" panose="020B0600070205080204" pitchFamily="34" charset="-128"/>
              </a:rPr>
              <a:t>					Exceptions to Indefeasibility of Title</a:t>
            </a:r>
          </a:p>
          <a:p>
            <a:r>
              <a:rPr lang="en-US" dirty="0"/>
              <a:t>					Semester 1, 2026</a:t>
            </a:r>
          </a:p>
          <a:p>
            <a:endParaRPr lang="en-US" sz="1200" dirty="0"/>
          </a:p>
          <a:p>
            <a:r>
              <a:rPr lang="en-US" sz="1200" dirty="0"/>
              <a:t>Godzilla? No, just some exceptional characters from </a:t>
            </a:r>
            <a:r>
              <a:rPr lang="en-US" sz="1200" i="1" dirty="0"/>
              <a:t>Mass Effect</a:t>
            </a:r>
            <a:r>
              <a:rPr lang="en-US" dirty="0"/>
              <a:t>	Presented by Joshua Forrester</a:t>
            </a:r>
          </a:p>
          <a:p>
            <a:r>
              <a:rPr lang="en-US" dirty="0"/>
              <a:t>				</a:t>
            </a:r>
          </a:p>
        </p:txBody>
      </p:sp>
      <p:graphicFrame>
        <p:nvGraphicFramePr>
          <p:cNvPr id="2" name="Picture Placeholder 1">
            <a:extLst>
              <a:ext uri="{FF2B5EF4-FFF2-40B4-BE49-F238E27FC236}">
                <a16:creationId xmlns:a16="http://schemas.microsoft.com/office/drawing/2014/main" id="{8DA06D4B-1117-4DEC-9AEC-206D30368E09}"/>
              </a:ext>
            </a:extLst>
          </p:cNvPr>
          <p:cNvGraphicFramePr>
            <a:graphicFrameLocks noGrp="1" noChangeAspect="1"/>
          </p:cNvGraphicFramePr>
          <p:nvPr>
            <p:ph type="pic" sz="quarter" idx="10"/>
            <p:extLst>
              <p:ext uri="{D42A27DB-BD31-4B8C-83A1-F6EECF244321}">
                <p14:modId xmlns:p14="http://schemas.microsoft.com/office/powerpoint/2010/main" val="3853471683"/>
              </p:ext>
            </p:extLst>
          </p:nvPr>
        </p:nvGraphicFramePr>
        <p:xfrm>
          <a:off x="655845" y="1368448"/>
          <a:ext cx="2468629" cy="1406283"/>
        </p:xfrm>
        <a:graphic>
          <a:graphicData uri="http://schemas.openxmlformats.org/presentationml/2006/ole">
            <mc:AlternateContent xmlns:mc="http://schemas.openxmlformats.org/markup-compatibility/2006">
              <mc:Choice xmlns:v="urn:schemas-microsoft-com:vml" Requires="v">
                <p:oleObj name="Packager Shell Object" showAsIcon="1" r:id="rId2" imgW="2549160" imgH="481320" progId="Package">
                  <p:embed/>
                </p:oleObj>
              </mc:Choice>
              <mc:Fallback>
                <p:oleObj name="Packager Shell Object" showAsIcon="1" r:id="rId2" imgW="2549160" imgH="481320" progId="Package">
                  <p:embed/>
                  <p:pic>
                    <p:nvPicPr>
                      <p:cNvPr id="2" name="Picture Placeholder 1">
                        <a:extLst>
                          <a:ext uri="{FF2B5EF4-FFF2-40B4-BE49-F238E27FC236}">
                            <a16:creationId xmlns:a16="http://schemas.microsoft.com/office/drawing/2014/main" id="{8DA06D4B-1117-4DEC-9AEC-206D30368E09}"/>
                          </a:ext>
                        </a:extLst>
                      </p:cNvPr>
                      <p:cNvPicPr/>
                      <p:nvPr/>
                    </p:nvPicPr>
                    <p:blipFill>
                      <a:blip r:embed="rId3"/>
                      <a:stretch>
                        <a:fillRect/>
                      </a:stretch>
                    </p:blipFill>
                    <p:spPr>
                      <a:xfrm>
                        <a:off x="655845" y="1368448"/>
                        <a:ext cx="2468629" cy="1406283"/>
                      </a:xfrm>
                      <a:prstGeom prst="rect">
                        <a:avLst/>
                      </a:prstGeom>
                    </p:spPr>
                  </p:pic>
                </p:oleObj>
              </mc:Fallback>
            </mc:AlternateContent>
          </a:graphicData>
        </a:graphic>
      </p:graphicFrame>
      <p:pic>
        <p:nvPicPr>
          <p:cNvPr id="1030" name="Picture 6" descr="Fan Casting Dwayne Johnson as Urdnot Grunt in Mass Effect TV Show on myCast">
            <a:extLst>
              <a:ext uri="{FF2B5EF4-FFF2-40B4-BE49-F238E27FC236}">
                <a16:creationId xmlns:a16="http://schemas.microsoft.com/office/drawing/2014/main" id="{1FB79B3D-E91E-CD89-C300-4739A99127E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8847" y="215856"/>
            <a:ext cx="2735016" cy="3852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331093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DDC81A7F-1B2E-4564-B56E-22D365D2E9C6}"/>
              </a:ext>
            </a:extLst>
          </p:cNvPr>
          <p:cNvSpPr>
            <a:spLocks noGrp="1"/>
          </p:cNvSpPr>
          <p:nvPr>
            <p:ph sz="half" idx="1"/>
          </p:nvPr>
        </p:nvSpPr>
        <p:spPr>
          <a:xfrm>
            <a:off x="259349" y="889908"/>
            <a:ext cx="3283951" cy="3742815"/>
          </a:xfrm>
        </p:spPr>
        <p:txBody>
          <a:bodyPr>
            <a:normAutofit fontScale="85000" lnSpcReduction="10000"/>
          </a:bodyPr>
          <a:lstStyle/>
          <a:p>
            <a:pPr>
              <a:spcBef>
                <a:spcPts val="900"/>
              </a:spcBef>
              <a:buNone/>
              <a:defRPr/>
            </a:pPr>
            <a:r>
              <a:rPr lang="en-US" altLang="en-US" sz="1800" dirty="0">
                <a:ea typeface="ＭＳ Ｐゴシック" pitchFamily="34" charset="-128"/>
              </a:rPr>
              <a:t>By the end of this lecture you should be able to:</a:t>
            </a:r>
          </a:p>
          <a:p>
            <a:pPr marL="342900" indent="-342900" algn="just">
              <a:spcBef>
                <a:spcPts val="900"/>
              </a:spcBef>
              <a:buFont typeface="+mj-lt"/>
              <a:buAutoNum type="arabicPeriod"/>
              <a:defRPr/>
            </a:pPr>
            <a:r>
              <a:rPr lang="en-US" altLang="en-US" sz="1800" dirty="0">
                <a:ea typeface="ＭＳ Ｐゴシック" pitchFamily="34" charset="-128"/>
              </a:rPr>
              <a:t>Recap the Torrens system of registration of deeds &amp; concept of Indefeasibility of title.</a:t>
            </a:r>
          </a:p>
          <a:p>
            <a:pPr marL="342900" indent="-342900" algn="just">
              <a:spcBef>
                <a:spcPts val="900"/>
              </a:spcBef>
              <a:buFont typeface="+mj-lt"/>
              <a:buAutoNum type="arabicPeriod"/>
              <a:defRPr/>
            </a:pPr>
            <a:r>
              <a:rPr lang="en-US" altLang="en-US" sz="1800" dirty="0">
                <a:ea typeface="ＭＳ Ｐゴシック" pitchFamily="34" charset="-128"/>
              </a:rPr>
              <a:t>Know the exceptions to indefeasibility of title with an emphasis on the fraud exception.</a:t>
            </a:r>
          </a:p>
          <a:p>
            <a:pPr marL="342900" indent="-342900" algn="just">
              <a:spcBef>
                <a:spcPts val="900"/>
              </a:spcBef>
              <a:buFont typeface="+mj-lt"/>
              <a:buAutoNum type="arabicPeriod"/>
              <a:defRPr/>
            </a:pPr>
            <a:r>
              <a:rPr lang="en-US" altLang="en-US" sz="1800" dirty="0">
                <a:ea typeface="ＭＳ Ｐゴシック" pitchFamily="34" charset="-128"/>
              </a:rPr>
              <a:t>Understand the operation of caveats under Torrens. </a:t>
            </a:r>
          </a:p>
          <a:p>
            <a:pPr marL="342900" indent="-342900" algn="just">
              <a:spcBef>
                <a:spcPts val="900"/>
              </a:spcBef>
              <a:buFont typeface="+mj-lt"/>
              <a:buAutoNum type="arabicPeriod"/>
              <a:defRPr/>
            </a:pPr>
            <a:r>
              <a:rPr lang="en-US" altLang="en-US" sz="1800" dirty="0">
                <a:ea typeface="ＭＳ Ｐゴシック" pitchFamily="34" charset="-128"/>
              </a:rPr>
              <a:t>Know how the law on priorities is affected by Torrens system of registration.</a:t>
            </a:r>
          </a:p>
          <a:p>
            <a:pPr algn="just">
              <a:spcBef>
                <a:spcPts val="900"/>
              </a:spcBef>
              <a:defRPr/>
            </a:pPr>
            <a:endParaRPr lang="en-US" altLang="en-US" i="1" dirty="0">
              <a:ea typeface="ＭＳ Ｐゴシック" pitchFamily="34" charset="-128"/>
            </a:endParaRPr>
          </a:p>
        </p:txBody>
      </p:sp>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p:txBody>
          <a:bodyPr>
            <a:normAutofit/>
          </a:bodyPr>
          <a:lstStyle/>
          <a:p>
            <a:r>
              <a:rPr lang="en-AU" sz="1800" b="0" dirty="0">
                <a:solidFill>
                  <a:schemeClr val="bg1"/>
                </a:solidFill>
              </a:rPr>
              <a:t>Today’s Agenda/Learning Goals</a:t>
            </a:r>
          </a:p>
        </p:txBody>
      </p:sp>
      <p:pic>
        <p:nvPicPr>
          <p:cNvPr id="5" name="Picture 4" descr="A person with his mouth open&#10;&#10;Description automatically generated">
            <a:extLst>
              <a:ext uri="{FF2B5EF4-FFF2-40B4-BE49-F238E27FC236}">
                <a16:creationId xmlns:a16="http://schemas.microsoft.com/office/drawing/2014/main" id="{B81504EB-577E-9F08-8139-B078AFF6BEBF}"/>
              </a:ext>
            </a:extLst>
          </p:cNvPr>
          <p:cNvPicPr>
            <a:picLocks noChangeAspect="1"/>
          </p:cNvPicPr>
          <p:nvPr/>
        </p:nvPicPr>
        <p:blipFill>
          <a:blip r:embed="rId2"/>
          <a:stretch>
            <a:fillRect/>
          </a:stretch>
        </p:blipFill>
        <p:spPr>
          <a:xfrm>
            <a:off x="3688080" y="889908"/>
            <a:ext cx="2316480" cy="3537312"/>
          </a:xfrm>
          <a:prstGeom prst="rect">
            <a:avLst/>
          </a:prstGeom>
        </p:spPr>
      </p:pic>
    </p:spTree>
    <p:extLst>
      <p:ext uri="{BB962C8B-B14F-4D97-AF65-F5344CB8AC3E}">
        <p14:creationId xmlns:p14="http://schemas.microsoft.com/office/powerpoint/2010/main" val="365608370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3A7A72A5-F0A4-8AD6-B46D-AE338604AC00}"/>
              </a:ext>
            </a:extLst>
          </p:cNvPr>
          <p:cNvSpPr>
            <a:spLocks noGrp="1"/>
          </p:cNvSpPr>
          <p:nvPr>
            <p:ph sz="half" idx="1"/>
          </p:nvPr>
        </p:nvSpPr>
        <p:spPr>
          <a:xfrm>
            <a:off x="259349" y="889908"/>
            <a:ext cx="6300842" cy="3742815"/>
          </a:xfrm>
        </p:spPr>
        <p:txBody>
          <a:bodyPr>
            <a:normAutofit fontScale="92500" lnSpcReduction="20000"/>
          </a:bodyPr>
          <a:lstStyle/>
          <a:p>
            <a:pPr algn="just">
              <a:spcBef>
                <a:spcPts val="900"/>
              </a:spcBef>
              <a:defRPr/>
            </a:pPr>
            <a:r>
              <a:rPr lang="en-US" altLang="en-US" sz="1600" dirty="0">
                <a:ea typeface="ＭＳ Ｐゴシック" pitchFamily="34" charset="-128"/>
              </a:rPr>
              <a:t>Under the Torrens system of deed registration, title is given by registering a deed instrument in the register book.</a:t>
            </a:r>
          </a:p>
          <a:p>
            <a:pPr algn="just">
              <a:spcBef>
                <a:spcPts val="900"/>
              </a:spcBef>
              <a:defRPr/>
            </a:pPr>
            <a:r>
              <a:rPr lang="en-US" altLang="en-US" sz="1600" dirty="0">
                <a:ea typeface="ＭＳ Ｐゴシック" pitchFamily="34" charset="-128"/>
              </a:rPr>
              <a:t>This registration creates the legal interest </a:t>
            </a:r>
            <a:r>
              <a:rPr lang="en-US" altLang="en-US" sz="1600" i="1" dirty="0">
                <a:ea typeface="ＭＳ Ｐゴシック" pitchFamily="34" charset="-128"/>
              </a:rPr>
              <a:t>immediately</a:t>
            </a:r>
            <a:r>
              <a:rPr lang="en-US" altLang="en-US" sz="1600" dirty="0">
                <a:ea typeface="ＭＳ Ｐゴシック" pitchFamily="34" charset="-128"/>
              </a:rPr>
              <a:t> The title is </a:t>
            </a:r>
            <a:r>
              <a:rPr lang="en-US" altLang="en-US" sz="1600" i="1" dirty="0">
                <a:ea typeface="ＭＳ Ｐゴシック" pitchFamily="34" charset="-128"/>
              </a:rPr>
              <a:t>indefeasible - good</a:t>
            </a:r>
            <a:r>
              <a:rPr lang="en-US" altLang="en-US" sz="1600" dirty="0">
                <a:ea typeface="ＭＳ Ｐゴシック" pitchFamily="34" charset="-128"/>
              </a:rPr>
              <a:t> </a:t>
            </a:r>
            <a:r>
              <a:rPr lang="en-US" altLang="en-US" sz="1600" i="1" dirty="0">
                <a:ea typeface="ＭＳ Ｐゴシック" pitchFamily="34" charset="-128"/>
              </a:rPr>
              <a:t>against the whole world.</a:t>
            </a:r>
          </a:p>
          <a:p>
            <a:pPr algn="just">
              <a:spcBef>
                <a:spcPts val="900"/>
              </a:spcBef>
              <a:defRPr/>
            </a:pPr>
            <a:r>
              <a:rPr lang="en-US" altLang="en-US" sz="1600" dirty="0">
                <a:ea typeface="ＭＳ Ｐゴシック" pitchFamily="34" charset="-128"/>
              </a:rPr>
              <a:t>Registration creates the title: it is title </a:t>
            </a:r>
            <a:r>
              <a:rPr lang="en-US" altLang="en-US" sz="1600" i="1" dirty="0">
                <a:ea typeface="ＭＳ Ｐゴシック" pitchFamily="34" charset="-128"/>
              </a:rPr>
              <a:t>by </a:t>
            </a:r>
            <a:r>
              <a:rPr lang="en-US" altLang="en-US" sz="1600" dirty="0">
                <a:ea typeface="ＭＳ Ｐゴシック" pitchFamily="34" charset="-128"/>
              </a:rPr>
              <a:t>registration (</a:t>
            </a:r>
            <a:r>
              <a:rPr lang="en-US" altLang="en-US" sz="1600" i="1" dirty="0" err="1">
                <a:ea typeface="ＭＳ Ｐゴシック" pitchFamily="34" charset="-128"/>
              </a:rPr>
              <a:t>Breskvar</a:t>
            </a:r>
            <a:r>
              <a:rPr lang="en-US" altLang="en-US" sz="1600" i="1" dirty="0">
                <a:ea typeface="ＭＳ Ｐゴシック" pitchFamily="34" charset="-128"/>
              </a:rPr>
              <a:t> v Wall</a:t>
            </a:r>
            <a:r>
              <a:rPr lang="en-US" altLang="en-US" sz="1600" dirty="0">
                <a:ea typeface="ＭＳ Ｐゴシック" pitchFamily="34" charset="-128"/>
              </a:rPr>
              <a:t>).</a:t>
            </a:r>
          </a:p>
          <a:p>
            <a:pPr algn="just">
              <a:spcBef>
                <a:spcPts val="900"/>
              </a:spcBef>
              <a:defRPr/>
            </a:pPr>
            <a:r>
              <a:rPr lang="en-US" altLang="en-US" sz="1600" dirty="0">
                <a:ea typeface="ＭＳ Ｐゴシック" pitchFamily="34" charset="-128"/>
              </a:rPr>
              <a:t>Indefeasibility does not apply to: rights </a:t>
            </a:r>
            <a:r>
              <a:rPr lang="en-US" altLang="en-US" sz="1600" i="1" dirty="0">
                <a:ea typeface="ＭＳ Ｐゴシック" pitchFamily="34" charset="-128"/>
              </a:rPr>
              <a:t>in personam</a:t>
            </a:r>
            <a:r>
              <a:rPr lang="en-US" altLang="en-US" sz="1600" dirty="0">
                <a:ea typeface="ＭＳ Ｐゴシック" pitchFamily="34" charset="-128"/>
              </a:rPr>
              <a:t>, some covenants unconnected to land, and where there are exceptions (this lecture).</a:t>
            </a:r>
          </a:p>
          <a:p>
            <a:pPr algn="just">
              <a:spcBef>
                <a:spcPts val="900"/>
              </a:spcBef>
              <a:defRPr/>
            </a:pPr>
            <a:r>
              <a:rPr lang="en-US" altLang="en-US" sz="1600" dirty="0">
                <a:ea typeface="ＭＳ Ｐゴシック" pitchFamily="34" charset="-128"/>
              </a:rPr>
              <a:t>s 58 TLA – registration creates legal interest.</a:t>
            </a:r>
          </a:p>
          <a:p>
            <a:pPr algn="just">
              <a:spcBef>
                <a:spcPts val="900"/>
              </a:spcBef>
              <a:defRPr/>
            </a:pPr>
            <a:r>
              <a:rPr lang="en-US" altLang="en-US" sz="1600" dirty="0">
                <a:ea typeface="ＭＳ Ｐゴシック" pitchFamily="34" charset="-128"/>
              </a:rPr>
              <a:t>s 68(1) TLA – indefeasibility of title – registered interest is only subject to prior registered interests, subject to fraud exception and misdescription of title.</a:t>
            </a:r>
          </a:p>
          <a:p>
            <a:pPr algn="just">
              <a:spcBef>
                <a:spcPts val="900"/>
              </a:spcBef>
              <a:defRPr/>
            </a:pPr>
            <a:r>
              <a:rPr lang="en-US" altLang="en-US" sz="1600" dirty="0">
                <a:ea typeface="ＭＳ Ｐゴシック" pitchFamily="34" charset="-128"/>
              </a:rPr>
              <a:t>s 68(1A) TLA – sets out other exceptions to indefeasibility (</a:t>
            </a:r>
            <a:r>
              <a:rPr lang="en-US" altLang="en-US" sz="1600" dirty="0" err="1">
                <a:ea typeface="ＭＳ Ｐゴシック" pitchFamily="34" charset="-128"/>
              </a:rPr>
              <a:t>eg</a:t>
            </a:r>
            <a:r>
              <a:rPr lang="en-US" altLang="en-US" sz="1600" dirty="0">
                <a:ea typeface="ＭＳ Ｐゴシック" pitchFamily="34" charset="-128"/>
              </a:rPr>
              <a:t> rights of way, unpaid rates, mining leases, lease instruments &lt;5 years, </a:t>
            </a:r>
            <a:r>
              <a:rPr lang="en-US" altLang="en-US" sz="1600" dirty="0" err="1">
                <a:ea typeface="ＭＳ Ｐゴシック" pitchFamily="34" charset="-128"/>
              </a:rPr>
              <a:t>etc</a:t>
            </a:r>
            <a:r>
              <a:rPr lang="en-US" altLang="en-US" sz="1600" dirty="0">
                <a:ea typeface="ＭＳ Ｐゴシック" pitchFamily="34" charset="-128"/>
              </a:rPr>
              <a:t>).</a:t>
            </a:r>
          </a:p>
          <a:p>
            <a:pPr algn="just">
              <a:spcBef>
                <a:spcPts val="900"/>
              </a:spcBef>
              <a:defRPr/>
            </a:pPr>
            <a:r>
              <a:rPr lang="en-US" altLang="en-US" sz="1600" dirty="0">
                <a:ea typeface="ＭＳ Ｐゴシック" pitchFamily="34" charset="-128"/>
              </a:rPr>
              <a:t>s 85 – every instrument of transfer registered at Landgate deemed to have same effect as a deed.</a:t>
            </a:r>
          </a:p>
          <a:p>
            <a:endParaRPr lang="en-AU" dirty="0"/>
          </a:p>
        </p:txBody>
      </p:sp>
      <p:sp>
        <p:nvSpPr>
          <p:cNvPr id="3" name="Title 2">
            <a:extLst>
              <a:ext uri="{FF2B5EF4-FFF2-40B4-BE49-F238E27FC236}">
                <a16:creationId xmlns:a16="http://schemas.microsoft.com/office/drawing/2014/main" id="{56CFEE46-2ED7-32B1-DCED-B1EE9A09ADE7}"/>
              </a:ext>
            </a:extLst>
          </p:cNvPr>
          <p:cNvSpPr>
            <a:spLocks noGrp="1"/>
          </p:cNvSpPr>
          <p:nvPr>
            <p:ph type="title"/>
          </p:nvPr>
        </p:nvSpPr>
        <p:spPr/>
        <p:txBody>
          <a:bodyPr>
            <a:normAutofit/>
          </a:bodyPr>
          <a:lstStyle/>
          <a:p>
            <a:r>
              <a:rPr lang="en-US" altLang="en-US" sz="1800" b="0" dirty="0">
                <a:solidFill>
                  <a:schemeClr val="bg1"/>
                </a:solidFill>
                <a:ea typeface="ＭＳ Ｐゴシック" panose="020B0600070205080204" pitchFamily="34" charset="-128"/>
                <a:cs typeface="Arial" panose="020B0604020202020204" pitchFamily="34" charset="0"/>
              </a:rPr>
              <a:t>RECAP from Lecture 9</a:t>
            </a:r>
            <a:endParaRPr lang="en-AU" sz="1800" b="0" dirty="0">
              <a:solidFill>
                <a:schemeClr val="bg1"/>
              </a:solidFill>
            </a:endParaRPr>
          </a:p>
        </p:txBody>
      </p:sp>
    </p:spTree>
    <p:extLst>
      <p:ext uri="{BB962C8B-B14F-4D97-AF65-F5344CB8AC3E}">
        <p14:creationId xmlns:p14="http://schemas.microsoft.com/office/powerpoint/2010/main" val="2816254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110BD134-4FA6-1437-5E11-D898133D46FD}"/>
              </a:ext>
            </a:extLst>
          </p:cNvPr>
          <p:cNvSpPr>
            <a:spLocks noGrp="1"/>
          </p:cNvSpPr>
          <p:nvPr>
            <p:ph sz="half" idx="1"/>
          </p:nvPr>
        </p:nvSpPr>
        <p:spPr>
          <a:xfrm>
            <a:off x="259349" y="700342"/>
            <a:ext cx="6057561" cy="4123328"/>
          </a:xfrm>
        </p:spPr>
        <p:txBody>
          <a:bodyPr>
            <a:normAutofit/>
          </a:bodyPr>
          <a:lstStyle/>
          <a:p>
            <a:pPr algn="just">
              <a:spcBef>
                <a:spcPts val="900"/>
              </a:spcBef>
              <a:tabLst>
                <a:tab pos="535781" algn="l"/>
                <a:tab pos="872729" algn="l"/>
              </a:tabLst>
              <a:defRPr/>
            </a:pPr>
            <a:r>
              <a:rPr lang="en-US" altLang="en-US" sz="1800" dirty="0">
                <a:ea typeface="ＭＳ Ｐゴシック" panose="020B0600070205080204" pitchFamily="34" charset="-128"/>
              </a:rPr>
              <a:t>Effect of Registration = Immediate indefeasibility of title.</a:t>
            </a:r>
          </a:p>
          <a:p>
            <a:pPr marL="360363" indent="-360363" algn="just">
              <a:spcBef>
                <a:spcPts val="900"/>
              </a:spcBef>
              <a:buFontTx/>
              <a:buAutoNum type="arabicPeriod"/>
              <a:tabLst>
                <a:tab pos="360363" algn="l"/>
                <a:tab pos="871538" algn="l"/>
              </a:tabLst>
              <a:defRPr/>
            </a:pPr>
            <a:r>
              <a:rPr lang="en-US" altLang="en-US" sz="1800" dirty="0">
                <a:ea typeface="ＭＳ Ｐゴシック" panose="020B0600070205080204" pitchFamily="34" charset="-128"/>
              </a:rPr>
              <a:t>A registered title is </a:t>
            </a:r>
            <a:r>
              <a:rPr lang="en-US" altLang="en-US" sz="1800" b="1" dirty="0">
                <a:ea typeface="ＭＳ Ｐゴシック" panose="020B0600070205080204" pitchFamily="34" charset="-128"/>
              </a:rPr>
              <a:t>conclusive</a:t>
            </a:r>
            <a:r>
              <a:rPr lang="en-US" altLang="en-US" sz="1800" dirty="0">
                <a:ea typeface="ＭＳ Ｐゴシック" panose="020B0600070205080204" pitchFamily="34" charset="-128"/>
              </a:rPr>
              <a:t> regardless of defects.</a:t>
            </a:r>
          </a:p>
          <a:p>
            <a:pPr marL="360363" indent="-360363" algn="just">
              <a:spcBef>
                <a:spcPts val="900"/>
              </a:spcBef>
              <a:buFontTx/>
              <a:buAutoNum type="arabicPeriod"/>
              <a:tabLst>
                <a:tab pos="360363" algn="l"/>
                <a:tab pos="871538" algn="l"/>
              </a:tabLst>
              <a:defRPr/>
            </a:pPr>
            <a:r>
              <a:rPr lang="en-US" altLang="en-US" sz="1800" dirty="0">
                <a:ea typeface="ＭＳ Ｐゴシック" panose="020B0600070205080204" pitchFamily="34" charset="-128"/>
              </a:rPr>
              <a:t>Registration gives </a:t>
            </a:r>
            <a:r>
              <a:rPr lang="en-US" altLang="en-US" sz="1800" b="1" dirty="0">
                <a:ea typeface="ＭＳ Ｐゴシック" panose="020B0600070205080204" pitchFamily="34" charset="-128"/>
              </a:rPr>
              <a:t>priority</a:t>
            </a:r>
            <a:r>
              <a:rPr lang="en-US" altLang="en-US" sz="1800" dirty="0">
                <a:ea typeface="ＭＳ Ｐゴシック" panose="020B0600070205080204" pitchFamily="34" charset="-128"/>
              </a:rPr>
              <a:t> against all, except </a:t>
            </a:r>
            <a:r>
              <a:rPr lang="en-US" altLang="en-US" sz="1800" b="1" dirty="0">
                <a:ea typeface="ＭＳ Ｐゴシック" panose="020B0600070205080204" pitchFamily="34" charset="-128"/>
              </a:rPr>
              <a:t>exceptions </a:t>
            </a:r>
            <a:r>
              <a:rPr lang="en-US" altLang="en-US" sz="1800" dirty="0">
                <a:ea typeface="ＭＳ Ｐゴシック" panose="020B0600070205080204" pitchFamily="34" charset="-128"/>
              </a:rPr>
              <a:t>that are </a:t>
            </a:r>
            <a:r>
              <a:rPr lang="en-US" altLang="en-US" sz="1800" dirty="0" err="1">
                <a:ea typeface="ＭＳ Ｐゴシック" panose="020B0600070205080204" pitchFamily="34" charset="-128"/>
              </a:rPr>
              <a:t>recognised</a:t>
            </a:r>
            <a:r>
              <a:rPr lang="en-US" altLang="en-US" sz="1800" dirty="0">
                <a:ea typeface="ＭＳ Ｐゴシック" panose="020B0600070205080204" pitchFamily="34" charset="-128"/>
              </a:rPr>
              <a:t>.</a:t>
            </a:r>
          </a:p>
          <a:p>
            <a:pPr marL="360363" indent="-360363" algn="just">
              <a:spcBef>
                <a:spcPts val="900"/>
              </a:spcBef>
              <a:buFontTx/>
              <a:buAutoNum type="arabicPeriod"/>
              <a:tabLst>
                <a:tab pos="360363" algn="l"/>
                <a:tab pos="871538" algn="l"/>
              </a:tabLst>
              <a:defRPr/>
            </a:pPr>
            <a:r>
              <a:rPr lang="en-US" altLang="en-US" sz="1800" dirty="0">
                <a:ea typeface="ＭＳ Ｐゴシック" panose="020B0600070205080204" pitchFamily="34" charset="-128"/>
              </a:rPr>
              <a:t>A registered proprietor is not affected by actual or constructive </a:t>
            </a:r>
            <a:r>
              <a:rPr lang="en-US" altLang="en-US" sz="1800" b="1" dirty="0">
                <a:ea typeface="ＭＳ Ｐゴシック" panose="020B0600070205080204" pitchFamily="34" charset="-128"/>
              </a:rPr>
              <a:t>notice </a:t>
            </a:r>
            <a:r>
              <a:rPr lang="en-US" altLang="en-US" sz="1800" dirty="0">
                <a:ea typeface="ＭＳ Ｐゴシック" panose="020B0600070205080204" pitchFamily="34" charset="-128"/>
              </a:rPr>
              <a:t>of an unregistered interest and has no obligation to inquire into quality of title.</a:t>
            </a:r>
          </a:p>
          <a:p>
            <a:pPr marL="360363" indent="-360363" algn="just">
              <a:spcBef>
                <a:spcPts val="900"/>
              </a:spcBef>
              <a:buFontTx/>
              <a:buAutoNum type="arabicPeriod"/>
              <a:tabLst>
                <a:tab pos="360363" algn="l"/>
                <a:tab pos="871538" algn="l"/>
              </a:tabLst>
              <a:defRPr/>
            </a:pPr>
            <a:r>
              <a:rPr lang="en-US" altLang="en-US" sz="1800" dirty="0">
                <a:ea typeface="ＭＳ Ｐゴシック" panose="020B0600070205080204" pitchFamily="34" charset="-128"/>
              </a:rPr>
              <a:t>Only those exceptions in the TLA affect a registered interest.</a:t>
            </a:r>
          </a:p>
          <a:p>
            <a:pPr algn="just">
              <a:spcBef>
                <a:spcPts val="900"/>
              </a:spcBef>
              <a:defRPr/>
            </a:pPr>
            <a:r>
              <a:rPr lang="en-US" altLang="en-US" sz="1800" dirty="0">
                <a:ea typeface="ＭＳ Ｐゴシック" panose="020B0600070205080204" pitchFamily="34" charset="-128"/>
              </a:rPr>
              <a:t>So, the Torrens system displaces the common law doctrine of notice and alters common law rules on priorities.</a:t>
            </a:r>
          </a:p>
          <a:p>
            <a:endParaRPr lang="en-AU" dirty="0"/>
          </a:p>
        </p:txBody>
      </p:sp>
      <p:sp>
        <p:nvSpPr>
          <p:cNvPr id="3" name="Title 2">
            <a:extLst>
              <a:ext uri="{FF2B5EF4-FFF2-40B4-BE49-F238E27FC236}">
                <a16:creationId xmlns:a16="http://schemas.microsoft.com/office/drawing/2014/main" id="{B46FD6D9-3835-6F9D-DE61-F97FEC994093}"/>
              </a:ext>
            </a:extLst>
          </p:cNvPr>
          <p:cNvSpPr>
            <a:spLocks noGrp="1"/>
          </p:cNvSpPr>
          <p:nvPr>
            <p:ph type="title"/>
          </p:nvPr>
        </p:nvSpPr>
        <p:spPr/>
        <p:txBody>
          <a:bodyPr>
            <a:normAutofit/>
          </a:bodyPr>
          <a:lstStyle/>
          <a:p>
            <a:r>
              <a:rPr lang="en-US" altLang="en-US" sz="1800" b="0" dirty="0">
                <a:solidFill>
                  <a:schemeClr val="bg1"/>
                </a:solidFill>
                <a:ea typeface="ＭＳ Ｐゴシック" panose="020B0600070205080204" pitchFamily="34" charset="-128"/>
                <a:cs typeface="Arial" panose="020B0604020202020204" pitchFamily="34" charset="0"/>
              </a:rPr>
              <a:t>RECAP from Lecture 9</a:t>
            </a:r>
            <a:endParaRPr lang="en-AU" sz="1800" dirty="0"/>
          </a:p>
        </p:txBody>
      </p:sp>
    </p:spTree>
    <p:extLst>
      <p:ext uri="{BB962C8B-B14F-4D97-AF65-F5344CB8AC3E}">
        <p14:creationId xmlns:p14="http://schemas.microsoft.com/office/powerpoint/2010/main" val="25271865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2F2AA41D-36AC-4401-CCCE-EE57FC92DED1}"/>
              </a:ext>
            </a:extLst>
          </p:cNvPr>
          <p:cNvSpPr>
            <a:spLocks noGrp="1"/>
          </p:cNvSpPr>
          <p:nvPr>
            <p:ph sz="half" idx="1"/>
          </p:nvPr>
        </p:nvSpPr>
        <p:spPr>
          <a:xfrm>
            <a:off x="259349" y="700342"/>
            <a:ext cx="6208563" cy="4341441"/>
          </a:xfrm>
        </p:spPr>
        <p:txBody>
          <a:bodyPr>
            <a:normAutofit/>
          </a:bodyPr>
          <a:lstStyle/>
          <a:p>
            <a:pPr algn="just">
              <a:spcBef>
                <a:spcPts val="900"/>
              </a:spcBef>
              <a:defRPr/>
            </a:pPr>
            <a:r>
              <a:rPr lang="en-US" altLang="en-US" sz="1400" dirty="0">
                <a:ea typeface="ＭＳ Ｐゴシック" pitchFamily="34" charset="-128"/>
              </a:rPr>
              <a:t>EXCEPTIONS: A bona fide purchaser of that particular piece of land without notice gains a legal interest to that land immediately UNLESS any one of the following exceptions apply (NB: Exceptions found in s 68(1) and (1A) TLA):</a:t>
            </a:r>
          </a:p>
          <a:p>
            <a:pPr marL="176213" indent="-176213" algn="just">
              <a:spcBef>
                <a:spcPts val="900"/>
              </a:spcBef>
              <a:buFont typeface="Wingdings" panose="05000000000000000000" pitchFamily="2" charset="2"/>
              <a:buChar char="Ø"/>
              <a:defRPr/>
            </a:pPr>
            <a:r>
              <a:rPr lang="en-US" altLang="en-US" sz="1400" dirty="0">
                <a:ea typeface="ＭＳ Ｐゴシック" pitchFamily="34" charset="-128"/>
              </a:rPr>
              <a:t>Same land has already been registered (prior CT). </a:t>
            </a:r>
          </a:p>
          <a:p>
            <a:pPr marL="176213" indent="-176213" algn="just">
              <a:spcBef>
                <a:spcPts val="900"/>
              </a:spcBef>
              <a:buFont typeface="Wingdings" panose="05000000000000000000" pitchFamily="2" charset="2"/>
              <a:buChar char="Ø"/>
              <a:defRPr/>
            </a:pPr>
            <a:r>
              <a:rPr lang="en-US" altLang="en-US" sz="1400" dirty="0">
                <a:ea typeface="ＭＳ Ｐゴシック" pitchFamily="34" charset="-128"/>
              </a:rPr>
              <a:t>Wrong description of parcels or boundaries. </a:t>
            </a:r>
          </a:p>
          <a:p>
            <a:pPr marL="176213" indent="-176213" algn="just">
              <a:spcBef>
                <a:spcPts val="900"/>
              </a:spcBef>
              <a:buFont typeface="Wingdings" panose="05000000000000000000" pitchFamily="2" charset="2"/>
              <a:buChar char="Ø"/>
              <a:defRPr/>
            </a:pPr>
            <a:r>
              <a:rPr lang="en-US" altLang="en-US" sz="1400" dirty="0">
                <a:ea typeface="ＭＳ Ｐゴシック" pitchFamily="34" charset="-128"/>
              </a:rPr>
              <a:t>Reservations, exceptions, conditions and powers that appear in the grant (CT).</a:t>
            </a:r>
          </a:p>
          <a:p>
            <a:pPr marL="176213" indent="-176213" algn="just">
              <a:spcBef>
                <a:spcPts val="900"/>
              </a:spcBef>
              <a:buFont typeface="Wingdings" panose="05000000000000000000" pitchFamily="2" charset="2"/>
              <a:buChar char="Ø"/>
              <a:defRPr/>
            </a:pPr>
            <a:r>
              <a:rPr lang="en-US" altLang="en-US" sz="1400" dirty="0">
                <a:ea typeface="ＭＳ Ｐゴシック" pitchFamily="34" charset="-128"/>
              </a:rPr>
              <a:t>Adverse possession.</a:t>
            </a:r>
          </a:p>
          <a:p>
            <a:pPr marL="176213" indent="-176213" algn="just">
              <a:spcBef>
                <a:spcPts val="900"/>
              </a:spcBef>
              <a:buFont typeface="Wingdings" panose="05000000000000000000" pitchFamily="2" charset="2"/>
              <a:buChar char="Ø"/>
              <a:defRPr/>
            </a:pPr>
            <a:r>
              <a:rPr lang="en-US" altLang="en-US" sz="1400" dirty="0">
                <a:ea typeface="ＭＳ Ｐゴシック" pitchFamily="34" charset="-128"/>
              </a:rPr>
              <a:t>Public rights of way or easements.</a:t>
            </a:r>
          </a:p>
          <a:p>
            <a:pPr marL="176213" indent="-176213" algn="just">
              <a:spcBef>
                <a:spcPts val="900"/>
              </a:spcBef>
              <a:buFont typeface="Wingdings" panose="05000000000000000000" pitchFamily="2" charset="2"/>
              <a:buChar char="Ø"/>
              <a:defRPr/>
            </a:pPr>
            <a:r>
              <a:rPr lang="en-US" altLang="en-US" sz="1400" dirty="0">
                <a:ea typeface="ＭＳ Ｐゴシック" pitchFamily="34" charset="-128"/>
              </a:rPr>
              <a:t>Unpaid rates.</a:t>
            </a:r>
          </a:p>
          <a:p>
            <a:pPr marL="176213" indent="-176213" algn="just">
              <a:spcBef>
                <a:spcPts val="900"/>
              </a:spcBef>
              <a:buFont typeface="Wingdings" panose="05000000000000000000" pitchFamily="2" charset="2"/>
              <a:buChar char="Ø"/>
              <a:defRPr/>
            </a:pPr>
            <a:r>
              <a:rPr lang="en-US" altLang="en-US" sz="1400" dirty="0">
                <a:ea typeface="ＭＳ Ｐゴシック" pitchFamily="34" charset="-128"/>
              </a:rPr>
              <a:t>Mining leases or </a:t>
            </a:r>
            <a:r>
              <a:rPr lang="en-US" altLang="en-US" sz="1400" dirty="0" err="1">
                <a:ea typeface="ＭＳ Ｐゴシック" pitchFamily="34" charset="-128"/>
              </a:rPr>
              <a:t>licences</a:t>
            </a:r>
            <a:r>
              <a:rPr lang="en-US" altLang="en-US" sz="1400" dirty="0">
                <a:ea typeface="ＭＳ Ｐゴシック" pitchFamily="34" charset="-128"/>
              </a:rPr>
              <a:t>.</a:t>
            </a:r>
          </a:p>
          <a:p>
            <a:pPr marL="176213" indent="-176213" algn="just">
              <a:spcBef>
                <a:spcPts val="900"/>
              </a:spcBef>
              <a:buFont typeface="Wingdings" panose="05000000000000000000" pitchFamily="2" charset="2"/>
              <a:buChar char="Ø"/>
              <a:defRPr/>
            </a:pPr>
            <a:r>
              <a:rPr lang="en-US" altLang="en-US" sz="1400" dirty="0">
                <a:ea typeface="ＭＳ Ｐゴシック" pitchFamily="34" charset="-128"/>
              </a:rPr>
              <a:t>Tenant in possession of lease not exceeding 5 years – but won’t be renewed unless protected by caveat.</a:t>
            </a:r>
          </a:p>
          <a:p>
            <a:pPr marL="176213" indent="-176213" algn="just">
              <a:spcBef>
                <a:spcPts val="900"/>
              </a:spcBef>
              <a:buFont typeface="Wingdings" panose="05000000000000000000" pitchFamily="2" charset="2"/>
              <a:buChar char="Ø"/>
              <a:defRPr/>
            </a:pPr>
            <a:r>
              <a:rPr lang="en-US" altLang="en-US" sz="1400" b="1" dirty="0">
                <a:ea typeface="ＭＳ Ｐゴシック" pitchFamily="34" charset="-128"/>
              </a:rPr>
              <a:t>Fraud (to be discussed in this lecture).</a:t>
            </a:r>
            <a:endParaRPr lang="en-US" altLang="en-US" sz="1400" dirty="0">
              <a:ea typeface="ＭＳ Ｐゴシック" pitchFamily="34" charset="-128"/>
            </a:endParaRPr>
          </a:p>
        </p:txBody>
      </p:sp>
      <p:sp>
        <p:nvSpPr>
          <p:cNvPr id="3" name="Title 2">
            <a:extLst>
              <a:ext uri="{FF2B5EF4-FFF2-40B4-BE49-F238E27FC236}">
                <a16:creationId xmlns:a16="http://schemas.microsoft.com/office/drawing/2014/main" id="{61FC599A-0F3E-DA15-B1F7-3E899FCD666A}"/>
              </a:ext>
            </a:extLst>
          </p:cNvPr>
          <p:cNvSpPr>
            <a:spLocks noGrp="1"/>
          </p:cNvSpPr>
          <p:nvPr>
            <p:ph type="title"/>
          </p:nvPr>
        </p:nvSpPr>
        <p:spPr/>
        <p:txBody>
          <a:bodyPr>
            <a:normAutofit/>
          </a:bodyPr>
          <a:lstStyle/>
          <a:p>
            <a:r>
              <a:rPr lang="en-US" altLang="en-US" sz="1800" b="0" dirty="0">
                <a:solidFill>
                  <a:schemeClr val="bg1"/>
                </a:solidFill>
                <a:ea typeface="ＭＳ Ｐゴシック" panose="020B0600070205080204" pitchFamily="34" charset="-128"/>
                <a:cs typeface="Arial" panose="020B0604020202020204" pitchFamily="34" charset="0"/>
              </a:rPr>
              <a:t>RECAP from Lecture 9</a:t>
            </a:r>
            <a:endParaRPr lang="en-AU" sz="1800" dirty="0"/>
          </a:p>
        </p:txBody>
      </p:sp>
    </p:spTree>
    <p:extLst>
      <p:ext uri="{BB962C8B-B14F-4D97-AF65-F5344CB8AC3E}">
        <p14:creationId xmlns:p14="http://schemas.microsoft.com/office/powerpoint/2010/main" val="19220097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ECEFF7EA-4B0B-CEFA-3CFA-4B460DB85869}"/>
              </a:ext>
            </a:extLst>
          </p:cNvPr>
          <p:cNvSpPr>
            <a:spLocks noGrp="1"/>
          </p:cNvSpPr>
          <p:nvPr>
            <p:ph sz="half" idx="1"/>
          </p:nvPr>
        </p:nvSpPr>
        <p:spPr>
          <a:xfrm>
            <a:off x="259349" y="700342"/>
            <a:ext cx="6267286" cy="3742815"/>
          </a:xfrm>
        </p:spPr>
        <p:txBody>
          <a:bodyPr>
            <a:normAutofit fontScale="92500"/>
          </a:bodyPr>
          <a:lstStyle/>
          <a:p>
            <a:pPr algn="just">
              <a:spcBef>
                <a:spcPts val="900"/>
              </a:spcBef>
              <a:defRPr/>
            </a:pPr>
            <a:r>
              <a:rPr lang="en-US" altLang="en-US" sz="1800" b="1" dirty="0">
                <a:ea typeface="ＭＳ Ｐゴシック" pitchFamily="34" charset="-128"/>
              </a:rPr>
              <a:t>s 68 Estate of registered proprietor paramount</a:t>
            </a:r>
          </a:p>
          <a:p>
            <a:pPr algn="just">
              <a:spcBef>
                <a:spcPts val="900"/>
              </a:spcBef>
              <a:defRPr/>
            </a:pPr>
            <a:r>
              <a:rPr lang="en-US" altLang="en-US" sz="1600" dirty="0">
                <a:ea typeface="ＭＳ Ｐゴシック" pitchFamily="34" charset="-128"/>
              </a:rPr>
              <a:t>(1) Notwithstanding the existence in any other person of any estate or interest whether derived by grant or transfer of the fee simple from the Crown or otherwise which but for this Act might be held to be paramount or to have priority the proprietor of land or of any estate or interest in land under the operation of this Act shall </a:t>
            </a:r>
            <a:r>
              <a:rPr lang="en-US" altLang="en-US" sz="1600" b="1" dirty="0">
                <a:solidFill>
                  <a:srgbClr val="FF0000"/>
                </a:solidFill>
                <a:ea typeface="ＭＳ Ｐゴシック" pitchFamily="34" charset="-128"/>
              </a:rPr>
              <a:t>except </a:t>
            </a:r>
            <a:r>
              <a:rPr lang="en-US" altLang="en-US" sz="1600" dirty="0">
                <a:ea typeface="ＭＳ Ｐゴシック" pitchFamily="34" charset="-128"/>
              </a:rPr>
              <a:t>in case of </a:t>
            </a:r>
            <a:r>
              <a:rPr lang="en-US" altLang="en-US" sz="1600" b="1" dirty="0">
                <a:solidFill>
                  <a:srgbClr val="FF0000"/>
                </a:solidFill>
                <a:ea typeface="ＭＳ Ｐゴシック" pitchFamily="34" charset="-128"/>
              </a:rPr>
              <a:t>fraud</a:t>
            </a:r>
            <a:r>
              <a:rPr lang="en-US" altLang="en-US" sz="1600" dirty="0">
                <a:ea typeface="ＭＳ Ｐゴシック" pitchFamily="34" charset="-128"/>
              </a:rPr>
              <a:t> hold the same subject to such encumbrances as may be notified on the registered certificate of title for the land; but absolutely free from all other encumbrances whatsoever </a:t>
            </a:r>
            <a:r>
              <a:rPr lang="en-US" altLang="en-US" sz="1600" b="1" dirty="0">
                <a:solidFill>
                  <a:srgbClr val="FF0000"/>
                </a:solidFill>
                <a:ea typeface="ＭＳ Ｐゴシック" pitchFamily="34" charset="-128"/>
              </a:rPr>
              <a:t>except</a:t>
            </a:r>
            <a:r>
              <a:rPr lang="en-US" altLang="en-US" sz="1600" dirty="0">
                <a:ea typeface="ＭＳ Ｐゴシック" pitchFamily="34" charset="-128"/>
              </a:rPr>
              <a:t> the estate or interest of a </a:t>
            </a:r>
            <a:r>
              <a:rPr lang="en-US" altLang="en-US" sz="1600" b="1" dirty="0">
                <a:solidFill>
                  <a:srgbClr val="FF0000"/>
                </a:solidFill>
                <a:ea typeface="ＭＳ Ｐゴシック" pitchFamily="34" charset="-128"/>
              </a:rPr>
              <a:t>proprietor claiming the same land under a prior registered certificate of title </a:t>
            </a:r>
            <a:r>
              <a:rPr lang="en-US" altLang="en-US" sz="1600" dirty="0">
                <a:ea typeface="ＭＳ Ｐゴシック" pitchFamily="34" charset="-128"/>
              </a:rPr>
              <a:t>and </a:t>
            </a:r>
            <a:r>
              <a:rPr lang="en-US" altLang="en-US" sz="1600" b="1" dirty="0">
                <a:solidFill>
                  <a:srgbClr val="FF0000"/>
                </a:solidFill>
                <a:ea typeface="ＭＳ Ｐゴシック" pitchFamily="34" charset="-128"/>
              </a:rPr>
              <a:t>except</a:t>
            </a:r>
            <a:r>
              <a:rPr lang="en-US" altLang="en-US" sz="1600" dirty="0">
                <a:ea typeface="ＭＳ Ｐゴシック" pitchFamily="34" charset="-128"/>
              </a:rPr>
              <a:t> as regards any portion of land that may by </a:t>
            </a:r>
            <a:r>
              <a:rPr lang="en-US" altLang="en-US" sz="1600" b="1" dirty="0">
                <a:solidFill>
                  <a:srgbClr val="FF0000"/>
                </a:solidFill>
                <a:ea typeface="ＭＳ Ｐゴシック" pitchFamily="34" charset="-128"/>
              </a:rPr>
              <a:t>wrong description </a:t>
            </a:r>
            <a:r>
              <a:rPr lang="en-US" altLang="en-US" sz="1600" dirty="0">
                <a:ea typeface="ＭＳ Ｐゴシック" pitchFamily="34" charset="-128"/>
              </a:rPr>
              <a:t>of parcels or boundaries be included in the certificate of title or instrument evidencing the title of such proprietor not being a purchaser for valuable consideration or deriving from or through such a purchaser.</a:t>
            </a:r>
          </a:p>
          <a:p>
            <a:endParaRPr lang="en-AU" dirty="0"/>
          </a:p>
        </p:txBody>
      </p:sp>
      <p:sp>
        <p:nvSpPr>
          <p:cNvPr id="3" name="Title 2">
            <a:extLst>
              <a:ext uri="{FF2B5EF4-FFF2-40B4-BE49-F238E27FC236}">
                <a16:creationId xmlns:a16="http://schemas.microsoft.com/office/drawing/2014/main" id="{D2A88A62-B638-2F9F-4316-B89C9AE26808}"/>
              </a:ext>
            </a:extLst>
          </p:cNvPr>
          <p:cNvSpPr>
            <a:spLocks noGrp="1"/>
          </p:cNvSpPr>
          <p:nvPr>
            <p:ph type="title"/>
          </p:nvPr>
        </p:nvSpPr>
        <p:spPr/>
        <p:txBody>
          <a:bodyPr>
            <a:normAutofit/>
          </a:bodyPr>
          <a:lstStyle/>
          <a:p>
            <a:r>
              <a:rPr lang="en-US" altLang="en-US" sz="1800" b="0" dirty="0">
                <a:solidFill>
                  <a:schemeClr val="bg1"/>
                </a:solidFill>
                <a:ea typeface="ＭＳ Ｐゴシック" panose="020B0600070205080204" pitchFamily="34" charset="-128"/>
                <a:cs typeface="Arial" panose="020B0604020202020204" pitchFamily="34" charset="0"/>
              </a:rPr>
              <a:t>RECAP from Lecture 9 – ‘</a:t>
            </a:r>
            <a:r>
              <a:rPr lang="en-US" altLang="en-US" sz="1800" b="0" dirty="0" err="1">
                <a:solidFill>
                  <a:schemeClr val="bg1"/>
                </a:solidFill>
                <a:ea typeface="ＭＳ Ｐゴシック" panose="020B0600070205080204" pitchFamily="34" charset="-128"/>
                <a:cs typeface="Arial" panose="020B0604020202020204" pitchFamily="34" charset="0"/>
              </a:rPr>
              <a:t>Oops’</a:t>
            </a:r>
            <a:r>
              <a:rPr lang="en-US" altLang="en-US" sz="1800" b="0" dirty="0">
                <a:solidFill>
                  <a:schemeClr val="bg1"/>
                </a:solidFill>
                <a:ea typeface="ＭＳ Ｐゴシック" panose="020B0600070205080204" pitchFamily="34" charset="-128"/>
                <a:cs typeface="Arial" panose="020B0604020202020204" pitchFamily="34" charset="0"/>
              </a:rPr>
              <a:t> exceptions</a:t>
            </a:r>
            <a:endParaRPr lang="en-AU" sz="1800" dirty="0"/>
          </a:p>
        </p:txBody>
      </p:sp>
    </p:spTree>
    <p:extLst>
      <p:ext uri="{BB962C8B-B14F-4D97-AF65-F5344CB8AC3E}">
        <p14:creationId xmlns:p14="http://schemas.microsoft.com/office/powerpoint/2010/main" val="12860496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5CCEF53D-E936-F2DC-CB2C-D257383D9BC0}"/>
              </a:ext>
            </a:extLst>
          </p:cNvPr>
          <p:cNvSpPr>
            <a:spLocks noGrp="1"/>
          </p:cNvSpPr>
          <p:nvPr>
            <p:ph sz="half" idx="1"/>
          </p:nvPr>
        </p:nvSpPr>
        <p:spPr>
          <a:xfrm>
            <a:off x="259349" y="638238"/>
            <a:ext cx="6275675" cy="4126709"/>
          </a:xfrm>
        </p:spPr>
        <p:txBody>
          <a:bodyPr>
            <a:normAutofit fontScale="92500"/>
          </a:bodyPr>
          <a:lstStyle/>
          <a:p>
            <a:pPr algn="just">
              <a:spcBef>
                <a:spcPts val="900"/>
              </a:spcBef>
              <a:defRPr/>
            </a:pPr>
            <a:r>
              <a:rPr lang="en-US" altLang="en-US" sz="1800" b="1" dirty="0">
                <a:ea typeface="ＭＳ Ｐゴシック" pitchFamily="34" charset="-128"/>
              </a:rPr>
              <a:t>s 68 Estate of registered proprietor paramount</a:t>
            </a:r>
          </a:p>
          <a:p>
            <a:pPr algn="just">
              <a:spcBef>
                <a:spcPts val="900"/>
              </a:spcBef>
              <a:defRPr/>
            </a:pPr>
            <a:r>
              <a:rPr lang="en-US" altLang="en-US" sz="1600" dirty="0">
                <a:ea typeface="ＭＳ Ｐゴシック" pitchFamily="34" charset="-128"/>
              </a:rPr>
              <a:t>(1A) Despite subsection (1), the land which shall be included in any certificate of title or registered instrument shall be deemed to be </a:t>
            </a:r>
            <a:r>
              <a:rPr lang="en-US" altLang="en-US" sz="1600" b="1" dirty="0">
                <a:solidFill>
                  <a:srgbClr val="FF0000"/>
                </a:solidFill>
                <a:ea typeface="ＭＳ Ｐゴシック" pitchFamily="34" charset="-128"/>
              </a:rPr>
              <a:t>subject to the reservations exceptions conditions and powers </a:t>
            </a:r>
            <a:r>
              <a:rPr lang="en-US" altLang="en-US" sz="1600" dirty="0">
                <a:ea typeface="ＭＳ Ｐゴシック" pitchFamily="34" charset="-128"/>
              </a:rPr>
              <a:t>(if any) contained in the grant thereof or transfer of the fee simple or otherwise and to </a:t>
            </a:r>
            <a:r>
              <a:rPr lang="en-US" altLang="en-US" sz="1600" b="1" dirty="0">
                <a:solidFill>
                  <a:srgbClr val="FF0000"/>
                </a:solidFill>
                <a:ea typeface="ＭＳ Ｐゴシック" pitchFamily="34" charset="-128"/>
              </a:rPr>
              <a:t>any rights subsisting under any adverse possession </a:t>
            </a:r>
            <a:r>
              <a:rPr lang="en-US" altLang="en-US" sz="1600" dirty="0">
                <a:ea typeface="ＭＳ Ｐゴシック" pitchFamily="34" charset="-128"/>
              </a:rPr>
              <a:t>of such land and to any </a:t>
            </a:r>
            <a:r>
              <a:rPr lang="en-US" altLang="en-US" sz="1600" b="1" dirty="0">
                <a:solidFill>
                  <a:srgbClr val="FF0000"/>
                </a:solidFill>
                <a:ea typeface="ＭＳ Ｐゴシック" pitchFamily="34" charset="-128"/>
              </a:rPr>
              <a:t>public rights of way and to any easements </a:t>
            </a:r>
            <a:r>
              <a:rPr lang="en-US" altLang="en-US" sz="1600" dirty="0">
                <a:ea typeface="ＭＳ Ｐゴシック" pitchFamily="34" charset="-128"/>
              </a:rPr>
              <a:t>acquired by enjoyment or user or subsisting over or upon or affecting such land and to any </a:t>
            </a:r>
            <a:r>
              <a:rPr lang="en-US" altLang="en-US" sz="1600" b="1" dirty="0">
                <a:solidFill>
                  <a:srgbClr val="FF0000"/>
                </a:solidFill>
                <a:ea typeface="ＭＳ Ｐゴシック" pitchFamily="34" charset="-128"/>
              </a:rPr>
              <a:t>unpaid rates and to any mining lease or </a:t>
            </a:r>
            <a:r>
              <a:rPr lang="en-US" altLang="en-US" sz="1600" b="1" dirty="0" err="1">
                <a:solidFill>
                  <a:srgbClr val="FF0000"/>
                </a:solidFill>
                <a:ea typeface="ＭＳ Ｐゴシック" pitchFamily="34" charset="-128"/>
              </a:rPr>
              <a:t>licence</a:t>
            </a:r>
            <a:r>
              <a:rPr lang="en-US" altLang="en-US" sz="1600" b="1" dirty="0">
                <a:solidFill>
                  <a:srgbClr val="FF0000"/>
                </a:solidFill>
                <a:ea typeface="ＭＳ Ｐゴシック" pitchFamily="34" charset="-128"/>
              </a:rPr>
              <a:t> </a:t>
            </a:r>
            <a:r>
              <a:rPr lang="en-US" altLang="en-US" sz="1600" dirty="0">
                <a:ea typeface="ＭＳ Ｐゴシック" pitchFamily="34" charset="-128"/>
              </a:rPr>
              <a:t>issued under the provisions of any statute and to any </a:t>
            </a:r>
            <a:r>
              <a:rPr lang="en-US" altLang="en-US" sz="1600" b="1" dirty="0">
                <a:solidFill>
                  <a:srgbClr val="FF0000"/>
                </a:solidFill>
                <a:ea typeface="ＭＳ Ｐゴシック" pitchFamily="34" charset="-128"/>
              </a:rPr>
              <a:t>prior unregistered lease </a:t>
            </a:r>
            <a:r>
              <a:rPr lang="en-US" altLang="en-US" sz="1600" dirty="0">
                <a:ea typeface="ＭＳ Ｐゴシック" pitchFamily="34" charset="-128"/>
              </a:rPr>
              <a:t>or agreement for lease or for letting for a term </a:t>
            </a:r>
            <a:r>
              <a:rPr lang="en-US" altLang="en-US" sz="1600" b="1" dirty="0">
                <a:solidFill>
                  <a:srgbClr val="FF0000"/>
                </a:solidFill>
                <a:ea typeface="ＭＳ Ｐゴシック" pitchFamily="34" charset="-128"/>
              </a:rPr>
              <a:t>not exceeding 5 years to a tenant in actual possession </a:t>
            </a:r>
            <a:r>
              <a:rPr lang="en-US" altLang="en-US" sz="1600" dirty="0">
                <a:ea typeface="ＭＳ Ｐゴシック" pitchFamily="34" charset="-128"/>
              </a:rPr>
              <a:t>notwithstanding the same respectively may not be specially notified as encumbrances on such certificate or instrument </a:t>
            </a:r>
            <a:r>
              <a:rPr lang="en-US" altLang="en-US" sz="1600" b="1" dirty="0">
                <a:solidFill>
                  <a:srgbClr val="FF0000"/>
                </a:solidFill>
                <a:ea typeface="ＭＳ Ｐゴシック" pitchFamily="34" charset="-128"/>
              </a:rPr>
              <a:t>but no option of purchase or renewal in any such lease</a:t>
            </a:r>
            <a:r>
              <a:rPr lang="en-US" altLang="en-US" sz="1600" dirty="0">
                <a:ea typeface="ＭＳ Ｐゴシック" pitchFamily="34" charset="-128"/>
              </a:rPr>
              <a:t> or agreement shall be valid as against a subsequent registered interest </a:t>
            </a:r>
            <a:r>
              <a:rPr lang="en-US" altLang="en-US" sz="1600" b="1" dirty="0">
                <a:solidFill>
                  <a:srgbClr val="FF0000"/>
                </a:solidFill>
                <a:ea typeface="ＭＳ Ｐゴシック" pitchFamily="34" charset="-128"/>
              </a:rPr>
              <a:t>unless</a:t>
            </a:r>
            <a:r>
              <a:rPr lang="en-US" altLang="en-US" sz="1600" dirty="0">
                <a:ea typeface="ＭＳ Ｐゴシック" pitchFamily="34" charset="-128"/>
              </a:rPr>
              <a:t> such lease or agreement is registered or </a:t>
            </a:r>
            <a:r>
              <a:rPr lang="en-US" altLang="en-US" sz="1600" b="1" dirty="0">
                <a:solidFill>
                  <a:srgbClr val="FF0000"/>
                </a:solidFill>
                <a:ea typeface="ＭＳ Ｐゴシック" pitchFamily="34" charset="-128"/>
              </a:rPr>
              <a:t>protected by caveat</a:t>
            </a:r>
            <a:r>
              <a:rPr lang="en-US" altLang="en-US" sz="1600" dirty="0">
                <a:ea typeface="ＭＳ Ｐゴシック" pitchFamily="34" charset="-128"/>
              </a:rPr>
              <a:t>.</a:t>
            </a:r>
          </a:p>
          <a:p>
            <a:endParaRPr lang="en-AU" dirty="0"/>
          </a:p>
        </p:txBody>
      </p:sp>
      <p:sp>
        <p:nvSpPr>
          <p:cNvPr id="3" name="Title 2">
            <a:extLst>
              <a:ext uri="{FF2B5EF4-FFF2-40B4-BE49-F238E27FC236}">
                <a16:creationId xmlns:a16="http://schemas.microsoft.com/office/drawing/2014/main" id="{F088F789-F603-E011-148A-791EBBCF5B24}"/>
              </a:ext>
            </a:extLst>
          </p:cNvPr>
          <p:cNvSpPr>
            <a:spLocks noGrp="1"/>
          </p:cNvSpPr>
          <p:nvPr>
            <p:ph type="title"/>
          </p:nvPr>
        </p:nvSpPr>
        <p:spPr/>
        <p:txBody>
          <a:bodyPr>
            <a:normAutofit fontScale="90000"/>
          </a:bodyPr>
          <a:lstStyle/>
          <a:p>
            <a:r>
              <a:rPr lang="en-US" altLang="en-US" sz="1800" b="0" dirty="0">
                <a:solidFill>
                  <a:schemeClr val="bg1"/>
                </a:solidFill>
                <a:ea typeface="ＭＳ Ｐゴシック" panose="020B0600070205080204" pitchFamily="34" charset="-128"/>
                <a:cs typeface="Arial" panose="020B0604020202020204" pitchFamily="34" charset="0"/>
              </a:rPr>
              <a:t>RECAP from Lecture 9 – </a:t>
            </a:r>
            <a:r>
              <a:rPr lang="en-US" altLang="en-US" sz="1800" b="0" dirty="0" err="1">
                <a:solidFill>
                  <a:schemeClr val="bg1"/>
                </a:solidFill>
                <a:ea typeface="ＭＳ Ｐゴシック" panose="020B0600070205080204" pitchFamily="34" charset="-128"/>
                <a:cs typeface="Arial" panose="020B0604020202020204" pitchFamily="34" charset="0"/>
              </a:rPr>
              <a:t>Recognised</a:t>
            </a:r>
            <a:r>
              <a:rPr lang="en-US" altLang="en-US" sz="1800" b="0" dirty="0">
                <a:solidFill>
                  <a:schemeClr val="bg1"/>
                </a:solidFill>
                <a:ea typeface="ＭＳ Ｐゴシック" panose="020B0600070205080204" pitchFamily="34" charset="-128"/>
                <a:cs typeface="Arial" panose="020B0604020202020204" pitchFamily="34" charset="0"/>
              </a:rPr>
              <a:t> Exception Categories</a:t>
            </a:r>
            <a:endParaRPr lang="en-AU" sz="1800" dirty="0"/>
          </a:p>
        </p:txBody>
      </p:sp>
    </p:spTree>
    <p:extLst>
      <p:ext uri="{BB962C8B-B14F-4D97-AF65-F5344CB8AC3E}">
        <p14:creationId xmlns:p14="http://schemas.microsoft.com/office/powerpoint/2010/main" val="16831512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C4BDBA5-A162-14DA-2FE3-57E4AE67600C}"/>
              </a:ext>
            </a:extLst>
          </p:cNvPr>
          <p:cNvSpPr>
            <a:spLocks noGrp="1"/>
          </p:cNvSpPr>
          <p:nvPr>
            <p:ph sz="half" idx="1"/>
          </p:nvPr>
        </p:nvSpPr>
        <p:spPr>
          <a:xfrm>
            <a:off x="259349" y="700342"/>
            <a:ext cx="5822669" cy="3742815"/>
          </a:xfrm>
        </p:spPr>
        <p:txBody>
          <a:bodyPr/>
          <a:lstStyle/>
          <a:p>
            <a:pPr>
              <a:spcBef>
                <a:spcPts val="900"/>
              </a:spcBef>
              <a:defRPr/>
            </a:pPr>
            <a:r>
              <a:rPr lang="en-US" altLang="en-US" sz="2000" dirty="0">
                <a:ea typeface="ＭＳ Ｐゴシック" pitchFamily="34" charset="-128"/>
              </a:rPr>
              <a:t>Errors on the title can be corrected by Registrar</a:t>
            </a:r>
          </a:p>
          <a:p>
            <a:pPr>
              <a:spcBef>
                <a:spcPts val="900"/>
              </a:spcBef>
              <a:defRPr/>
            </a:pPr>
            <a:r>
              <a:rPr lang="en-AU" altLang="en-US" sz="1800" dirty="0">
                <a:ea typeface="ＭＳ Ｐゴシック" panose="020B0600070205080204" pitchFamily="34" charset="-128"/>
              </a:rPr>
              <a:t>s 76(1) TLA: The Registrar’s power of correction – direct parties to correct. errors, or</a:t>
            </a:r>
          </a:p>
          <a:p>
            <a:pPr>
              <a:defRPr/>
            </a:pPr>
            <a:r>
              <a:rPr lang="en-AU" altLang="en-US" sz="1800" dirty="0">
                <a:ea typeface="ＭＳ Ｐゴシック" panose="020B0600070205080204" pitchFamily="34" charset="-128"/>
              </a:rPr>
              <a:t>s 188 TLA: Registrar’s power of correction - make corrections themselves.</a:t>
            </a:r>
          </a:p>
          <a:p>
            <a:pPr>
              <a:defRPr/>
            </a:pPr>
            <a:r>
              <a:rPr lang="en-AU" altLang="en-US" sz="1800" dirty="0">
                <a:ea typeface="ＭＳ Ｐゴシック" panose="020B0600070205080204" pitchFamily="34" charset="-128"/>
              </a:rPr>
              <a:t>Power to correct limited - </a:t>
            </a:r>
            <a:r>
              <a:rPr lang="en-AU" altLang="en-US" sz="1800" dirty="0" err="1">
                <a:ea typeface="ＭＳ Ｐゴシック" panose="020B0600070205080204" pitchFamily="34" charset="-128"/>
              </a:rPr>
              <a:t>eg</a:t>
            </a:r>
            <a:r>
              <a:rPr lang="en-AU" altLang="en-US" sz="1800" dirty="0">
                <a:ea typeface="ＭＳ Ｐゴシック" panose="020B0600070205080204" pitchFamily="34" charset="-128"/>
              </a:rPr>
              <a:t> they cannot correct if a bona fide purchaser or mortgagor acquires the interest by relying on the register.</a:t>
            </a:r>
          </a:p>
          <a:p>
            <a:endParaRPr lang="en-AU" dirty="0"/>
          </a:p>
        </p:txBody>
      </p:sp>
      <p:sp>
        <p:nvSpPr>
          <p:cNvPr id="3" name="Title 2">
            <a:extLst>
              <a:ext uri="{FF2B5EF4-FFF2-40B4-BE49-F238E27FC236}">
                <a16:creationId xmlns:a16="http://schemas.microsoft.com/office/drawing/2014/main" id="{0B93057A-3F10-E77E-BA01-F32C7663F9C8}"/>
              </a:ext>
            </a:extLst>
          </p:cNvPr>
          <p:cNvSpPr>
            <a:spLocks noGrp="1"/>
          </p:cNvSpPr>
          <p:nvPr>
            <p:ph type="title"/>
          </p:nvPr>
        </p:nvSpPr>
        <p:spPr/>
        <p:txBody>
          <a:bodyPr>
            <a:normAutofit/>
          </a:bodyPr>
          <a:lstStyle/>
          <a:p>
            <a:r>
              <a:rPr lang="en-US" altLang="en-US" sz="1800" b="0" dirty="0">
                <a:solidFill>
                  <a:schemeClr val="bg1"/>
                </a:solidFill>
                <a:ea typeface="ＭＳ Ｐゴシック" panose="020B0600070205080204" pitchFamily="34" charset="-128"/>
                <a:cs typeface="Arial" panose="020B0604020202020204" pitchFamily="34" charset="0"/>
              </a:rPr>
              <a:t>RECAP from Lecture 9</a:t>
            </a:r>
            <a:endParaRPr lang="en-AU" sz="1800" dirty="0"/>
          </a:p>
        </p:txBody>
      </p:sp>
    </p:spTree>
    <p:extLst>
      <p:ext uri="{BB962C8B-B14F-4D97-AF65-F5344CB8AC3E}">
        <p14:creationId xmlns:p14="http://schemas.microsoft.com/office/powerpoint/2010/main" val="24726495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88DA532-786A-4486-BF09-16A6B1E45330}"/>
              </a:ext>
            </a:extLst>
          </p:cNvPr>
          <p:cNvSpPr>
            <a:spLocks noGrp="1"/>
          </p:cNvSpPr>
          <p:nvPr>
            <p:ph type="title"/>
          </p:nvPr>
        </p:nvSpPr>
        <p:spPr>
          <a:xfrm>
            <a:off x="259350" y="-2380"/>
            <a:ext cx="5667318" cy="564749"/>
          </a:xfrm>
        </p:spPr>
        <p:txBody>
          <a:bodyPr anchor="ctr">
            <a:normAutofit/>
          </a:bodyPr>
          <a:lstStyle/>
          <a:p>
            <a:r>
              <a:rPr lang="en-AU" sz="1800" b="0" dirty="0">
                <a:solidFill>
                  <a:schemeClr val="bg1"/>
                </a:solidFill>
              </a:rPr>
              <a:t>Exception of Fraud</a:t>
            </a:r>
          </a:p>
        </p:txBody>
      </p:sp>
      <p:graphicFrame>
        <p:nvGraphicFramePr>
          <p:cNvPr id="5" name="Content Placeholder 1">
            <a:extLst>
              <a:ext uri="{FF2B5EF4-FFF2-40B4-BE49-F238E27FC236}">
                <a16:creationId xmlns:a16="http://schemas.microsoft.com/office/drawing/2014/main" id="{01206002-8E19-0EA3-1EF7-253272F5854A}"/>
              </a:ext>
            </a:extLst>
          </p:cNvPr>
          <p:cNvGraphicFramePr>
            <a:graphicFrameLocks noGrp="1"/>
          </p:cNvGraphicFramePr>
          <p:nvPr>
            <p:ph sz="half" idx="1"/>
            <p:extLst>
              <p:ext uri="{D42A27DB-BD31-4B8C-83A1-F6EECF244321}">
                <p14:modId xmlns:p14="http://schemas.microsoft.com/office/powerpoint/2010/main" val="50313182"/>
              </p:ext>
            </p:extLst>
          </p:nvPr>
        </p:nvGraphicFramePr>
        <p:xfrm>
          <a:off x="122189" y="841194"/>
          <a:ext cx="4323976" cy="403281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4" name="Picture 3" descr="A person in a suit&#10;&#10;Description automatically generated">
            <a:extLst>
              <a:ext uri="{FF2B5EF4-FFF2-40B4-BE49-F238E27FC236}">
                <a16:creationId xmlns:a16="http://schemas.microsoft.com/office/drawing/2014/main" id="{93AE7BBB-4959-5EB6-C27E-982D81EB426D}"/>
              </a:ext>
            </a:extLst>
          </p:cNvPr>
          <p:cNvPicPr>
            <a:picLocks noChangeAspect="1"/>
          </p:cNvPicPr>
          <p:nvPr/>
        </p:nvPicPr>
        <p:blipFill>
          <a:blip r:embed="rId7"/>
          <a:stretch>
            <a:fillRect/>
          </a:stretch>
        </p:blipFill>
        <p:spPr>
          <a:xfrm>
            <a:off x="4555222" y="1354962"/>
            <a:ext cx="1990244" cy="2901451"/>
          </a:xfrm>
          <a:prstGeom prst="rect">
            <a:avLst/>
          </a:prstGeom>
        </p:spPr>
      </p:pic>
    </p:spTree>
    <p:extLst>
      <p:ext uri="{BB962C8B-B14F-4D97-AF65-F5344CB8AC3E}">
        <p14:creationId xmlns:p14="http://schemas.microsoft.com/office/powerpoint/2010/main" val="41802401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0CAE4D-E945-4A30-8F23-B01045B0CFFC}"/>
              </a:ext>
            </a:extLst>
          </p:cNvPr>
          <p:cNvSpPr>
            <a:spLocks noGrp="1"/>
          </p:cNvSpPr>
          <p:nvPr>
            <p:ph sz="half" idx="1"/>
          </p:nvPr>
        </p:nvSpPr>
        <p:spPr>
          <a:xfrm>
            <a:off x="259349" y="562369"/>
            <a:ext cx="4430097" cy="4367771"/>
          </a:xfrm>
        </p:spPr>
        <p:txBody>
          <a:bodyPr>
            <a:normAutofit/>
          </a:bodyPr>
          <a:lstStyle/>
          <a:p>
            <a:pPr algn="just" eaLnBrk="1" hangingPunct="1">
              <a:spcBef>
                <a:spcPts val="600"/>
              </a:spcBef>
              <a:buFontTx/>
              <a:buNone/>
              <a:defRPr/>
            </a:pPr>
            <a:r>
              <a:rPr lang="en-US" altLang="en-US" sz="1400" dirty="0">
                <a:ea typeface="ＭＳ Ｐゴシック" pitchFamily="34" charset="-128"/>
              </a:rPr>
              <a:t>What do we mean by fraud?</a:t>
            </a:r>
          </a:p>
          <a:p>
            <a:pPr marL="176213" algn="just" eaLnBrk="1" hangingPunct="1">
              <a:spcBef>
                <a:spcPts val="600"/>
              </a:spcBef>
              <a:buFontTx/>
              <a:buNone/>
              <a:defRPr/>
            </a:pPr>
            <a:r>
              <a:rPr lang="en-US" altLang="en-US" sz="1400" spc="-80" dirty="0">
                <a:ea typeface="ＭＳ Ｐゴシック" pitchFamily="34" charset="-128"/>
              </a:rPr>
              <a:t>[F]</a:t>
            </a:r>
            <a:r>
              <a:rPr lang="en-US" altLang="en-US" sz="1400" spc="-80" dirty="0" err="1">
                <a:ea typeface="ＭＳ Ｐゴシック" pitchFamily="34" charset="-128"/>
              </a:rPr>
              <a:t>raud</a:t>
            </a:r>
            <a:r>
              <a:rPr lang="en-US" altLang="en-US" sz="1400" spc="-80" dirty="0">
                <a:ea typeface="ＭＳ Ｐゴシック" pitchFamily="34" charset="-128"/>
              </a:rPr>
              <a:t> meant </a:t>
            </a:r>
            <a:r>
              <a:rPr lang="en-US" altLang="en-US" sz="1400" b="1" spc="-80" dirty="0">
                <a:solidFill>
                  <a:srgbClr val="FF0000"/>
                </a:solidFill>
                <a:ea typeface="ＭＳ Ｐゴシック" pitchFamily="34" charset="-128"/>
              </a:rPr>
              <a:t>actual fraud</a:t>
            </a:r>
            <a:r>
              <a:rPr lang="en-US" altLang="en-US" sz="1400" spc="-80" dirty="0">
                <a:ea typeface="ＭＳ Ｐゴシック" pitchFamily="34" charset="-128"/>
              </a:rPr>
              <a:t>, i.e. dishonesty of some sort, not what is called constructive or equitable fraud … Further it appears … that the fraud which must be proved in order to invalidate the title of a registered proprietor for value … must be brought home to the person whose registered title is impeached or to his agents. The mere fact that he might have found out fraud if he had been more vigilant and had made further inquiries which he omitted to make, does not of itself prove fraud on his part. But if it be shown that he abstained from making inquiries for fear of learning the truth, the case is very different and fraud may be properly ascribed to him. A person who presents for registration of a document which is forged or has been fraudulently or improperly obtained is not guilty of fraud if he honestly believes it to be a genuine document which can be properly acted upon.</a:t>
            </a:r>
          </a:p>
          <a:p>
            <a:pPr algn="just" eaLnBrk="1" hangingPunct="1">
              <a:spcBef>
                <a:spcPts val="600"/>
              </a:spcBef>
              <a:buFontTx/>
              <a:buNone/>
              <a:defRPr/>
            </a:pPr>
            <a:r>
              <a:rPr lang="en-US" altLang="en-US" sz="1400" i="1" spc="-80" dirty="0">
                <a:ea typeface="ＭＳ Ｐゴシック" pitchFamily="34" charset="-128"/>
              </a:rPr>
              <a:t>Assets Co Ltd v Mere </a:t>
            </a:r>
            <a:r>
              <a:rPr lang="en-US" altLang="en-US" sz="1400" i="1" spc="-80" dirty="0" err="1">
                <a:ea typeface="ＭＳ Ｐゴシック" pitchFamily="34" charset="-128"/>
              </a:rPr>
              <a:t>Roihi</a:t>
            </a:r>
            <a:r>
              <a:rPr lang="en-US" altLang="en-US" sz="1400" i="1" spc="-80" dirty="0">
                <a:ea typeface="ＭＳ Ｐゴシック" pitchFamily="34" charset="-128"/>
              </a:rPr>
              <a:t> </a:t>
            </a:r>
            <a:r>
              <a:rPr lang="en-US" altLang="en-US" sz="1400" spc="-80" dirty="0">
                <a:ea typeface="ＭＳ Ｐゴシック" pitchFamily="34" charset="-128"/>
              </a:rPr>
              <a:t>[1905] AC 17</a:t>
            </a:r>
          </a:p>
          <a:p>
            <a:pPr marL="714375" indent="-714375" algn="just" eaLnBrk="1" hangingPunct="1">
              <a:spcBef>
                <a:spcPts val="600"/>
              </a:spcBef>
              <a:buFontTx/>
              <a:buNone/>
              <a:defRPr/>
            </a:pPr>
            <a:endParaRPr lang="en-US" altLang="en-US" sz="1400" spc="-80" dirty="0">
              <a:ea typeface="ＭＳ Ｐゴシック" pitchFamily="34" charset="-128"/>
            </a:endParaRPr>
          </a:p>
          <a:p>
            <a:pPr marL="714375" indent="-714375" algn="just" eaLnBrk="1" hangingPunct="1">
              <a:spcBef>
                <a:spcPts val="600"/>
              </a:spcBef>
              <a:buFontTx/>
              <a:buNone/>
              <a:defRPr/>
            </a:pPr>
            <a:endParaRPr lang="en-US" altLang="en-US" dirty="0">
              <a:ea typeface="ＭＳ Ｐゴシック" pitchFamily="34" charset="-128"/>
            </a:endParaRPr>
          </a:p>
        </p:txBody>
      </p:sp>
      <p:sp>
        <p:nvSpPr>
          <p:cNvPr id="3" name="Title 2">
            <a:extLst>
              <a:ext uri="{FF2B5EF4-FFF2-40B4-BE49-F238E27FC236}">
                <a16:creationId xmlns:a16="http://schemas.microsoft.com/office/drawing/2014/main" id="{DBFB7CA8-1812-4B8F-B8E2-5E9FC526C77D}"/>
              </a:ext>
            </a:extLst>
          </p:cNvPr>
          <p:cNvSpPr>
            <a:spLocks noGrp="1"/>
          </p:cNvSpPr>
          <p:nvPr>
            <p:ph type="title"/>
          </p:nvPr>
        </p:nvSpPr>
        <p:spPr/>
        <p:txBody>
          <a:bodyPr>
            <a:noAutofit/>
          </a:bodyPr>
          <a:lstStyle/>
          <a:p>
            <a:br>
              <a:rPr lang="en-US" altLang="en-US" sz="1800" dirty="0">
                <a:solidFill>
                  <a:schemeClr val="bg1"/>
                </a:solidFill>
                <a:ea typeface="ＭＳ Ｐゴシック" pitchFamily="34" charset="-128"/>
              </a:rPr>
            </a:br>
            <a:r>
              <a:rPr lang="en-US" altLang="en-US" sz="1800" b="0" dirty="0">
                <a:solidFill>
                  <a:schemeClr val="bg1"/>
                </a:solidFill>
                <a:ea typeface="ＭＳ Ｐゴシック" pitchFamily="34" charset="-128"/>
              </a:rPr>
              <a:t>Fraud as an exception to indefeasibility of title</a:t>
            </a:r>
            <a:br>
              <a:rPr lang="en-US" altLang="en-US" sz="1800" b="1" dirty="0">
                <a:solidFill>
                  <a:schemeClr val="bg1"/>
                </a:solidFill>
                <a:ea typeface="ＭＳ Ｐゴシック" pitchFamily="34" charset="-128"/>
              </a:rPr>
            </a:br>
            <a:endParaRPr lang="en-AU" sz="1800" dirty="0">
              <a:solidFill>
                <a:schemeClr val="bg1"/>
              </a:solidFill>
            </a:endParaRPr>
          </a:p>
        </p:txBody>
      </p:sp>
      <p:pic>
        <p:nvPicPr>
          <p:cNvPr id="5" name="Picture 4" descr="A person in a robe&#10;&#10;Description automatically generated">
            <a:extLst>
              <a:ext uri="{FF2B5EF4-FFF2-40B4-BE49-F238E27FC236}">
                <a16:creationId xmlns:a16="http://schemas.microsoft.com/office/drawing/2014/main" id="{98059F3C-F9C3-B678-C374-7A827AFE93DF}"/>
              </a:ext>
            </a:extLst>
          </p:cNvPr>
          <p:cNvPicPr>
            <a:picLocks noChangeAspect="1"/>
          </p:cNvPicPr>
          <p:nvPr/>
        </p:nvPicPr>
        <p:blipFill>
          <a:blip r:embed="rId2"/>
          <a:stretch>
            <a:fillRect/>
          </a:stretch>
        </p:blipFill>
        <p:spPr>
          <a:xfrm>
            <a:off x="4757362" y="739140"/>
            <a:ext cx="1841289" cy="2977183"/>
          </a:xfrm>
          <a:prstGeom prst="rect">
            <a:avLst/>
          </a:prstGeom>
        </p:spPr>
      </p:pic>
      <p:sp>
        <p:nvSpPr>
          <p:cNvPr id="4" name="TextBox 3">
            <a:extLst>
              <a:ext uri="{FF2B5EF4-FFF2-40B4-BE49-F238E27FC236}">
                <a16:creationId xmlns:a16="http://schemas.microsoft.com/office/drawing/2014/main" id="{F47F1364-6339-7194-923C-45BDB24315F6}"/>
              </a:ext>
            </a:extLst>
          </p:cNvPr>
          <p:cNvSpPr txBox="1"/>
          <p:nvPr/>
        </p:nvSpPr>
        <p:spPr>
          <a:xfrm>
            <a:off x="4757362" y="3724712"/>
            <a:ext cx="1841289" cy="484748"/>
          </a:xfrm>
          <a:prstGeom prst="rect">
            <a:avLst/>
          </a:prstGeom>
          <a:noFill/>
        </p:spPr>
        <p:txBody>
          <a:bodyPr wrap="square" rtlCol="0">
            <a:spAutoFit/>
          </a:bodyPr>
          <a:lstStyle/>
          <a:p>
            <a:pPr algn="ctr"/>
            <a:r>
              <a:rPr lang="en-US" altLang="en-US" sz="1200" spc="-80" dirty="0">
                <a:ea typeface="ＭＳ Ｐゴシック" pitchFamily="34" charset="-128"/>
              </a:rPr>
              <a:t>Thus sayeth</a:t>
            </a:r>
            <a:r>
              <a:rPr lang="en-US" altLang="en-US" sz="1200" dirty="0">
                <a:ea typeface="ＭＳ Ｐゴシック" pitchFamily="34" charset="-128"/>
              </a:rPr>
              <a:t> Lord Lindley</a:t>
            </a:r>
          </a:p>
          <a:p>
            <a:endParaRPr lang="en-AU" dirty="0"/>
          </a:p>
        </p:txBody>
      </p:sp>
    </p:spTree>
    <p:extLst>
      <p:ext uri="{BB962C8B-B14F-4D97-AF65-F5344CB8AC3E}">
        <p14:creationId xmlns:p14="http://schemas.microsoft.com/office/powerpoint/2010/main" val="2910969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0CAE4D-E945-4A30-8F23-B01045B0CFFC}"/>
              </a:ext>
            </a:extLst>
          </p:cNvPr>
          <p:cNvSpPr>
            <a:spLocks noGrp="1"/>
          </p:cNvSpPr>
          <p:nvPr>
            <p:ph sz="half" idx="1"/>
          </p:nvPr>
        </p:nvSpPr>
        <p:spPr>
          <a:xfrm>
            <a:off x="259349" y="889908"/>
            <a:ext cx="4136482" cy="3883428"/>
          </a:xfrm>
        </p:spPr>
        <p:txBody>
          <a:bodyPr>
            <a:normAutofit/>
          </a:bodyPr>
          <a:lstStyle/>
          <a:p>
            <a:pPr algn="just" eaLnBrk="1" hangingPunct="1">
              <a:spcBef>
                <a:spcPts val="600"/>
              </a:spcBef>
              <a:buFontTx/>
              <a:buNone/>
              <a:defRPr/>
            </a:pPr>
            <a:r>
              <a:rPr lang="en-AU" altLang="en-US" sz="1600" spc="23" dirty="0">
                <a:ea typeface="ＭＳ Ｐゴシック" pitchFamily="34" charset="-128"/>
              </a:rPr>
              <a:t>Fraud includes actual ‘personal dishonesty or moral turpitude’ or ‘grave moral blame’. (</a:t>
            </a:r>
            <a:r>
              <a:rPr lang="en-AU" altLang="en-US" sz="1600" i="1" spc="23" dirty="0">
                <a:ea typeface="ＭＳ Ｐゴシック" pitchFamily="34" charset="-128"/>
              </a:rPr>
              <a:t>Stuart v Kingston </a:t>
            </a:r>
            <a:r>
              <a:rPr lang="en-AU" altLang="en-US" sz="1600" spc="23" dirty="0">
                <a:ea typeface="ＭＳ Ｐゴシック" pitchFamily="34" charset="-128"/>
              </a:rPr>
              <a:t>(1923) HCA 17.</a:t>
            </a:r>
          </a:p>
          <a:p>
            <a:pPr algn="just">
              <a:spcBef>
                <a:spcPts val="900"/>
              </a:spcBef>
              <a:buNone/>
              <a:defRPr/>
            </a:pPr>
            <a:r>
              <a:rPr lang="en-AU" altLang="en-US" sz="1600" spc="23" dirty="0">
                <a:ea typeface="ＭＳ Ｐゴシック" pitchFamily="34" charset="-128"/>
              </a:rPr>
              <a:t>There is a wide variety of forms of fraud </a:t>
            </a:r>
            <a:r>
              <a:rPr lang="en-AU" altLang="en-US" sz="1600" spc="23" dirty="0" err="1">
                <a:ea typeface="ＭＳ Ｐゴシック" pitchFamily="34" charset="-128"/>
              </a:rPr>
              <a:t>eg</a:t>
            </a:r>
            <a:r>
              <a:rPr lang="en-AU" altLang="en-US" sz="1600" spc="23" dirty="0">
                <a:ea typeface="ＭＳ Ｐゴシック" pitchFamily="34" charset="-128"/>
              </a:rPr>
              <a:t> a misrepresentation by a registered proprietor that he would not override an unregistered interest which he knew about when he got on the title: </a:t>
            </a:r>
            <a:r>
              <a:rPr lang="en-AU" altLang="en-US" sz="1600" i="1" spc="23" dirty="0">
                <a:ea typeface="ＭＳ Ｐゴシック" pitchFamily="34" charset="-128"/>
              </a:rPr>
              <a:t>Loke Yew v Port Swettenham </a:t>
            </a:r>
            <a:r>
              <a:rPr lang="en-AU" altLang="en-US" sz="1600" spc="23" dirty="0">
                <a:ea typeface="ＭＳ Ｐゴシック" pitchFamily="34" charset="-128"/>
              </a:rPr>
              <a:t>[1913] AC 491).</a:t>
            </a:r>
          </a:p>
          <a:p>
            <a:pPr algn="just">
              <a:spcBef>
                <a:spcPts val="900"/>
              </a:spcBef>
              <a:buNone/>
              <a:defRPr/>
            </a:pPr>
            <a:r>
              <a:rPr lang="en-AU" altLang="en-US" sz="1600" spc="23" dirty="0">
                <a:ea typeface="ＭＳ Ｐゴシック" pitchFamily="34" charset="-128"/>
              </a:rPr>
              <a:t>But note more modern and broader concept of fraud: </a:t>
            </a:r>
            <a:r>
              <a:rPr lang="en-AU" altLang="en-US" sz="1600" i="1" spc="23" dirty="0">
                <a:ea typeface="ＭＳ Ｐゴシック" pitchFamily="34" charset="-128"/>
              </a:rPr>
              <a:t>Bahr v Nicolay</a:t>
            </a:r>
            <a:r>
              <a:rPr lang="en-AU" altLang="en-US" sz="1600" spc="23" dirty="0">
                <a:ea typeface="ＭＳ Ｐゴシック" pitchFamily="34" charset="-128"/>
              </a:rPr>
              <a:t> </a:t>
            </a:r>
            <a:r>
              <a:rPr lang="en-AU" altLang="en-US" sz="1600" i="1" spc="23" dirty="0">
                <a:ea typeface="ＭＳ Ｐゴシック" pitchFamily="34" charset="-128"/>
              </a:rPr>
              <a:t>(No 2)</a:t>
            </a:r>
            <a:r>
              <a:rPr lang="en-AU" altLang="en-US" sz="1600" spc="23" dirty="0">
                <a:ea typeface="ＭＳ Ｐゴシック" pitchFamily="34" charset="-128"/>
              </a:rPr>
              <a:t> (1988) 164 CLR 604. </a:t>
            </a:r>
          </a:p>
          <a:p>
            <a:pPr marL="714375" indent="-714375" algn="just" eaLnBrk="1" hangingPunct="1">
              <a:spcBef>
                <a:spcPts val="600"/>
              </a:spcBef>
              <a:buFontTx/>
              <a:buNone/>
              <a:defRPr/>
            </a:pPr>
            <a:endParaRPr lang="en-US" altLang="en-US" sz="900" dirty="0">
              <a:ea typeface="ＭＳ Ｐゴシック" pitchFamily="34" charset="-128"/>
            </a:endParaRPr>
          </a:p>
          <a:p>
            <a:endParaRPr lang="en-AU" dirty="0"/>
          </a:p>
        </p:txBody>
      </p:sp>
      <p:sp>
        <p:nvSpPr>
          <p:cNvPr id="3" name="Title 2">
            <a:extLst>
              <a:ext uri="{FF2B5EF4-FFF2-40B4-BE49-F238E27FC236}">
                <a16:creationId xmlns:a16="http://schemas.microsoft.com/office/drawing/2014/main" id="{DBFB7CA8-1812-4B8F-B8E2-5E9FC526C77D}"/>
              </a:ext>
            </a:extLst>
          </p:cNvPr>
          <p:cNvSpPr>
            <a:spLocks noGrp="1"/>
          </p:cNvSpPr>
          <p:nvPr>
            <p:ph type="title"/>
          </p:nvPr>
        </p:nvSpPr>
        <p:spPr/>
        <p:txBody>
          <a:bodyPr>
            <a:normAutofit fontScale="90000"/>
          </a:bodyPr>
          <a:lstStyle/>
          <a:p>
            <a:br>
              <a:rPr lang="en-US" altLang="en-US" sz="1800" b="0" dirty="0">
                <a:solidFill>
                  <a:schemeClr val="bg1"/>
                </a:solidFill>
                <a:ea typeface="ＭＳ Ｐゴシック" pitchFamily="34" charset="-128"/>
              </a:rPr>
            </a:br>
            <a:r>
              <a:rPr lang="en-US" altLang="en-US" sz="2000" b="0" dirty="0">
                <a:solidFill>
                  <a:schemeClr val="bg1"/>
                </a:solidFill>
                <a:ea typeface="ＭＳ Ｐゴシック" pitchFamily="34" charset="-128"/>
              </a:rPr>
              <a:t>Fraud as an exception to indefeasibility of title</a:t>
            </a:r>
            <a:br>
              <a:rPr lang="en-US" altLang="en-US" sz="1400" b="1" dirty="0">
                <a:ea typeface="ＭＳ Ｐゴシック" pitchFamily="34" charset="-128"/>
              </a:rPr>
            </a:br>
            <a:endParaRPr lang="en-AU" dirty="0"/>
          </a:p>
        </p:txBody>
      </p:sp>
      <p:pic>
        <p:nvPicPr>
          <p:cNvPr id="5" name="Picture 4" descr="A person in a suit&#10;&#10;Description automatically generated">
            <a:extLst>
              <a:ext uri="{FF2B5EF4-FFF2-40B4-BE49-F238E27FC236}">
                <a16:creationId xmlns:a16="http://schemas.microsoft.com/office/drawing/2014/main" id="{06D63F34-2071-CB01-9DF7-0A4E748FC9B5}"/>
              </a:ext>
            </a:extLst>
          </p:cNvPr>
          <p:cNvPicPr>
            <a:picLocks noChangeAspect="1"/>
          </p:cNvPicPr>
          <p:nvPr/>
        </p:nvPicPr>
        <p:blipFill>
          <a:blip r:embed="rId2"/>
          <a:stretch>
            <a:fillRect/>
          </a:stretch>
        </p:blipFill>
        <p:spPr>
          <a:xfrm>
            <a:off x="4659653" y="889908"/>
            <a:ext cx="1846719" cy="2735834"/>
          </a:xfrm>
          <a:prstGeom prst="rect">
            <a:avLst/>
          </a:prstGeom>
        </p:spPr>
      </p:pic>
    </p:spTree>
    <p:extLst>
      <p:ext uri="{BB962C8B-B14F-4D97-AF65-F5344CB8AC3E}">
        <p14:creationId xmlns:p14="http://schemas.microsoft.com/office/powerpoint/2010/main" val="34815075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0CAE4D-E945-4A30-8F23-B01045B0CFFC}"/>
              </a:ext>
            </a:extLst>
          </p:cNvPr>
          <p:cNvSpPr>
            <a:spLocks noGrp="1"/>
          </p:cNvSpPr>
          <p:nvPr>
            <p:ph sz="half" idx="1"/>
          </p:nvPr>
        </p:nvSpPr>
        <p:spPr>
          <a:xfrm>
            <a:off x="259349" y="700342"/>
            <a:ext cx="6208563" cy="4198829"/>
          </a:xfrm>
        </p:spPr>
        <p:txBody>
          <a:bodyPr>
            <a:normAutofit lnSpcReduction="10000"/>
          </a:bodyPr>
          <a:lstStyle/>
          <a:p>
            <a:pPr algn="just">
              <a:spcBef>
                <a:spcPts val="900"/>
              </a:spcBef>
              <a:buNone/>
              <a:defRPr/>
            </a:pPr>
            <a:r>
              <a:rPr lang="en-AU" altLang="en-US" sz="1400" spc="23" dirty="0">
                <a:ea typeface="ＭＳ Ｐゴシック" pitchFamily="34" charset="-128"/>
              </a:rPr>
              <a:t>Mr and Mrs Bahr were unable to raise money to develop their land. To finance redevelopment they sold land to Nicolay on terms that they might lease land for a number of years and then buy it back for amount specified in cl.6 of contract of sale. Nicolay sold the land to Thompson and this contract included an acknowledgement of the agreement between the Bahrs and Nicolay (cl 4). Thompson said to the Bahrs that he recognised cl. 6 of their contract with Nicolay and would agree to sell land back to them for specified price. However, Thompson then refused to sell to the Bahrs.</a:t>
            </a:r>
          </a:p>
          <a:p>
            <a:pPr algn="just">
              <a:spcBef>
                <a:spcPts val="900"/>
              </a:spcBef>
              <a:buNone/>
              <a:defRPr/>
            </a:pPr>
            <a:r>
              <a:rPr lang="en-AU" altLang="en-US" sz="1400" spc="23" dirty="0">
                <a:ea typeface="ＭＳ Ｐゴシック" pitchFamily="34" charset="-128"/>
              </a:rPr>
              <a:t>The Bahrs brought claim against Nicolay and Thompson under the personal equity AND fraud as exceptions to indefeasibility of title.</a:t>
            </a:r>
          </a:p>
          <a:p>
            <a:pPr algn="just">
              <a:spcBef>
                <a:spcPts val="900"/>
              </a:spcBef>
              <a:buNone/>
              <a:defRPr/>
            </a:pPr>
            <a:r>
              <a:rPr lang="en-AU" altLang="en-US" sz="1400" spc="23" dirty="0">
                <a:ea typeface="ＭＳ Ｐゴシック" pitchFamily="34" charset="-128"/>
              </a:rPr>
              <a:t>The Bahrs’ claim was dismissed by a single judge and then the Full Court of WA Supreme Court. However, they successfully appealed to High Court to establish that their option to purchase conferred on them an equitable interest which Thompson took his interest subject to because he had notice of it, and his refusal to let the Bahrs exercise the option was fraud.</a:t>
            </a:r>
          </a:p>
          <a:p>
            <a:pPr algn="just">
              <a:spcBef>
                <a:spcPts val="900"/>
              </a:spcBef>
              <a:buNone/>
              <a:defRPr/>
            </a:pPr>
            <a:r>
              <a:rPr lang="en-AU" altLang="en-US" sz="1400" spc="23" dirty="0">
                <a:ea typeface="ＭＳ Ｐゴシック" pitchFamily="34" charset="-128"/>
              </a:rPr>
              <a:t>The High Court considered ss 68 &amp; 134 TLA (s 134 provides that a </a:t>
            </a:r>
            <a:r>
              <a:rPr lang="en-US" altLang="en-US" sz="1400" spc="23" dirty="0">
                <a:ea typeface="ＭＳ Ｐゴシック" pitchFamily="34" charset="-128"/>
              </a:rPr>
              <a:t>purchaser is not required to inquire into title, and is not affected by notice of unregistered interest … except in the case of fraud: s 134(a)).</a:t>
            </a:r>
          </a:p>
        </p:txBody>
      </p:sp>
      <p:sp>
        <p:nvSpPr>
          <p:cNvPr id="3" name="Title 2">
            <a:extLst>
              <a:ext uri="{FF2B5EF4-FFF2-40B4-BE49-F238E27FC236}">
                <a16:creationId xmlns:a16="http://schemas.microsoft.com/office/drawing/2014/main" id="{DBFB7CA8-1812-4B8F-B8E2-5E9FC526C77D}"/>
              </a:ext>
            </a:extLst>
          </p:cNvPr>
          <p:cNvSpPr>
            <a:spLocks noGrp="1"/>
          </p:cNvSpPr>
          <p:nvPr>
            <p:ph type="title"/>
          </p:nvPr>
        </p:nvSpPr>
        <p:spPr/>
        <p:txBody>
          <a:bodyPr>
            <a:normAutofit/>
          </a:bodyPr>
          <a:lstStyle/>
          <a:p>
            <a:pPr marL="535781" indent="-535781" algn="just">
              <a:spcBef>
                <a:spcPts val="900"/>
              </a:spcBef>
              <a:buNone/>
              <a:defRPr/>
            </a:pPr>
            <a:r>
              <a:rPr lang="en-AU" altLang="en-US" sz="1800" b="0" i="1" spc="23" dirty="0">
                <a:solidFill>
                  <a:schemeClr val="bg1"/>
                </a:solidFill>
                <a:ea typeface="ＭＳ Ｐゴシック" pitchFamily="34" charset="-128"/>
              </a:rPr>
              <a:t>Bahr v Nicolay</a:t>
            </a:r>
            <a:r>
              <a:rPr lang="en-AU" altLang="en-US" sz="1800" b="0" spc="23" dirty="0">
                <a:solidFill>
                  <a:schemeClr val="bg1"/>
                </a:solidFill>
                <a:ea typeface="ＭＳ Ｐゴシック" pitchFamily="34" charset="-128"/>
              </a:rPr>
              <a:t> </a:t>
            </a:r>
            <a:r>
              <a:rPr lang="en-AU" altLang="en-US" sz="1800" b="0" i="1" spc="23" dirty="0">
                <a:solidFill>
                  <a:schemeClr val="bg1"/>
                </a:solidFill>
                <a:ea typeface="ＭＳ Ｐゴシック" pitchFamily="34" charset="-128"/>
              </a:rPr>
              <a:t>(No 2)</a:t>
            </a:r>
            <a:r>
              <a:rPr lang="en-AU" altLang="en-US" sz="1800" b="0" spc="23" dirty="0">
                <a:solidFill>
                  <a:schemeClr val="bg1"/>
                </a:solidFill>
                <a:ea typeface="ＭＳ Ｐゴシック" pitchFamily="34" charset="-128"/>
              </a:rPr>
              <a:t> (1988) 164 CLR 604 </a:t>
            </a:r>
          </a:p>
        </p:txBody>
      </p:sp>
    </p:spTree>
    <p:extLst>
      <p:ext uri="{BB962C8B-B14F-4D97-AF65-F5344CB8AC3E}">
        <p14:creationId xmlns:p14="http://schemas.microsoft.com/office/powerpoint/2010/main" val="22875140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0CAE4D-E945-4A30-8F23-B01045B0CFFC}"/>
              </a:ext>
            </a:extLst>
          </p:cNvPr>
          <p:cNvSpPr>
            <a:spLocks noGrp="1"/>
          </p:cNvSpPr>
          <p:nvPr>
            <p:ph sz="half" idx="1"/>
          </p:nvPr>
        </p:nvSpPr>
        <p:spPr>
          <a:xfrm>
            <a:off x="259349" y="655016"/>
            <a:ext cx="6133062" cy="4154532"/>
          </a:xfrm>
        </p:spPr>
        <p:txBody>
          <a:bodyPr>
            <a:normAutofit fontScale="92500" lnSpcReduction="20000"/>
          </a:bodyPr>
          <a:lstStyle/>
          <a:p>
            <a:pPr algn="just">
              <a:spcBef>
                <a:spcPts val="900"/>
              </a:spcBef>
              <a:buNone/>
              <a:defRPr/>
            </a:pPr>
            <a:r>
              <a:rPr lang="en-AU" altLang="en-US" sz="1400" spc="23" dirty="0">
                <a:ea typeface="ＭＳ Ｐゴシック" pitchFamily="34" charset="-128"/>
              </a:rPr>
              <a:t>The High Court held that Thompson’s conduct of gave rise to a </a:t>
            </a:r>
            <a:r>
              <a:rPr lang="en-AU" altLang="en-US" sz="1400" b="1" spc="23" dirty="0">
                <a:ea typeface="ＭＳ Ｐゴシック" pitchFamily="34" charset="-128"/>
              </a:rPr>
              <a:t>personal equity enforceable </a:t>
            </a:r>
            <a:r>
              <a:rPr lang="en-AU" altLang="en-US" sz="1400" spc="23" dirty="0">
                <a:ea typeface="ＭＳ Ｐゴシック" pitchFamily="34" charset="-128"/>
              </a:rPr>
              <a:t>by Bahrs. </a:t>
            </a:r>
          </a:p>
          <a:p>
            <a:pPr algn="just">
              <a:spcBef>
                <a:spcPts val="900"/>
              </a:spcBef>
              <a:buNone/>
              <a:defRPr/>
            </a:pPr>
            <a:r>
              <a:rPr lang="en-AU" altLang="en-US" sz="1400" spc="23" dirty="0">
                <a:ea typeface="ＭＳ Ｐゴシック" pitchFamily="34" charset="-128"/>
              </a:rPr>
              <a:t>Mason &amp; Dawson JJ: if cl 4 </a:t>
            </a:r>
            <a:r>
              <a:rPr lang="en-AU" altLang="en-US" sz="1400" i="1" spc="23" dirty="0">
                <a:ea typeface="ＭＳ Ｐゴシック" pitchFamily="34" charset="-128"/>
              </a:rPr>
              <a:t>only</a:t>
            </a:r>
            <a:r>
              <a:rPr lang="en-AU" altLang="en-US" sz="1400" spc="23" dirty="0">
                <a:ea typeface="ＭＳ Ｐゴシック" pitchFamily="34" charset="-128"/>
              </a:rPr>
              <a:t> amounted to notice to Thompson, then the Bahrs’ equitable interest would have been destroyed by registration. However, here there was an agreement or undertaking by Thompson to recognise the Bahrs’ rights.</a:t>
            </a:r>
          </a:p>
          <a:p>
            <a:pPr algn="just">
              <a:spcBef>
                <a:spcPts val="900"/>
              </a:spcBef>
              <a:buNone/>
              <a:defRPr/>
            </a:pPr>
            <a:r>
              <a:rPr lang="en-AU" altLang="en-US" sz="1400" spc="23" dirty="0">
                <a:ea typeface="ＭＳ Ｐゴシック" pitchFamily="34" charset="-128"/>
              </a:rPr>
              <a:t>The issue was one of constructive trust or, if not, that the statutory exception of fraud applied (as fraud could arise if there was an intent to defraud at the time Thompson gave the undertaking or, subsequently, he intended to destroy the prior equitable interest.)</a:t>
            </a:r>
            <a:endParaRPr lang="en-AU" altLang="en-US" sz="1000" spc="23" dirty="0">
              <a:ea typeface="ＭＳ Ｐゴシック" pitchFamily="34" charset="-128"/>
            </a:endParaRPr>
          </a:p>
          <a:p>
            <a:pPr algn="just">
              <a:spcBef>
                <a:spcPts val="900"/>
              </a:spcBef>
              <a:defRPr/>
            </a:pPr>
            <a:r>
              <a:rPr lang="en-AU" altLang="en-US" sz="1400" spc="23" dirty="0">
                <a:ea typeface="ＭＳ Ｐゴシック" pitchFamily="34" charset="-128"/>
              </a:rPr>
              <a:t>Wilson &amp; Toohey JJ: There was a constructive trust between the Bahrs and Thompson. The Bahrs had an equitable interest in land arising out of the undertaking, but the statutory exception of fraud did not apply.</a:t>
            </a:r>
          </a:p>
          <a:p>
            <a:pPr algn="just">
              <a:spcBef>
                <a:spcPts val="900"/>
              </a:spcBef>
              <a:defRPr/>
            </a:pPr>
            <a:r>
              <a:rPr lang="en-AU" altLang="en-US" sz="1400" spc="23" dirty="0">
                <a:ea typeface="ＭＳ Ｐゴシック" pitchFamily="34" charset="-128"/>
              </a:rPr>
              <a:t>Brennan J:. A constructive trust should be imposed on Thompson by equity, so Thompson cannot ‘deny this unregistered interest to which he has undertaken to subject his registered title’.</a:t>
            </a:r>
          </a:p>
          <a:p>
            <a:pPr algn="just">
              <a:spcBef>
                <a:spcPts val="900"/>
              </a:spcBef>
              <a:defRPr/>
            </a:pPr>
            <a:r>
              <a:rPr lang="en-AU" altLang="en-US" sz="1400" spc="23" dirty="0">
                <a:ea typeface="ＭＳ Ｐゴシック" pitchFamily="34" charset="-128"/>
              </a:rPr>
              <a:t>Hence, </a:t>
            </a:r>
            <a:r>
              <a:rPr lang="en-AU" altLang="en-US" sz="1400" i="1" spc="23" dirty="0">
                <a:ea typeface="ＭＳ Ｐゴシック" pitchFamily="34" charset="-128"/>
              </a:rPr>
              <a:t>Bahr v Nicolay</a:t>
            </a:r>
            <a:r>
              <a:rPr lang="en-AU" altLang="en-US" sz="1400" spc="23" dirty="0">
                <a:ea typeface="ＭＳ Ｐゴシック" pitchFamily="34" charset="-128"/>
              </a:rPr>
              <a:t> </a:t>
            </a:r>
            <a:r>
              <a:rPr lang="en-AU" altLang="en-US" sz="1400" i="1" spc="23" dirty="0">
                <a:ea typeface="ＭＳ Ｐゴシック" pitchFamily="34" charset="-128"/>
              </a:rPr>
              <a:t>(No 2) </a:t>
            </a:r>
            <a:r>
              <a:rPr lang="en-AU" altLang="en-US" sz="1400" spc="23" dirty="0">
                <a:ea typeface="ＭＳ Ｐゴシック" pitchFamily="34" charset="-128"/>
              </a:rPr>
              <a:t>provides</a:t>
            </a:r>
            <a:r>
              <a:rPr lang="en-AU" altLang="en-US" sz="1400" i="1" spc="23" dirty="0">
                <a:ea typeface="ＭＳ Ｐゴシック" pitchFamily="34" charset="-128"/>
              </a:rPr>
              <a:t> </a:t>
            </a:r>
            <a:r>
              <a:rPr lang="en-AU" altLang="en-US" sz="1400" spc="23" dirty="0">
                <a:ea typeface="ＭＳ Ｐゴシック" pitchFamily="34" charset="-128"/>
              </a:rPr>
              <a:t>the more modern and broader concept of fraud. The majority saw fraud as bound up in not only actual fraud, but also </a:t>
            </a:r>
            <a:r>
              <a:rPr lang="en-AU" altLang="en-US" sz="1400" i="1" spc="23" dirty="0">
                <a:ea typeface="ＭＳ Ｐゴシック" pitchFamily="34" charset="-128"/>
              </a:rPr>
              <a:t>dishonest conduct and moral turpitude. </a:t>
            </a:r>
            <a:r>
              <a:rPr lang="en-AU" altLang="en-US" sz="1400" spc="23" dirty="0">
                <a:ea typeface="ＭＳ Ｐゴシック" pitchFamily="34" charset="-128"/>
              </a:rPr>
              <a:t>Three judges thought fraud did not apply here, but two did. But all judges were prepared to impose a constructive trust to protect the prior interest.</a:t>
            </a:r>
            <a:endParaRPr lang="en-AU" altLang="en-US" sz="1200" spc="23" dirty="0">
              <a:ea typeface="ＭＳ Ｐゴシック" pitchFamily="34" charset="-128"/>
            </a:endParaRPr>
          </a:p>
        </p:txBody>
      </p:sp>
      <p:sp>
        <p:nvSpPr>
          <p:cNvPr id="3" name="Title 2">
            <a:extLst>
              <a:ext uri="{FF2B5EF4-FFF2-40B4-BE49-F238E27FC236}">
                <a16:creationId xmlns:a16="http://schemas.microsoft.com/office/drawing/2014/main" id="{DBFB7CA8-1812-4B8F-B8E2-5E9FC526C77D}"/>
              </a:ext>
            </a:extLst>
          </p:cNvPr>
          <p:cNvSpPr>
            <a:spLocks noGrp="1"/>
          </p:cNvSpPr>
          <p:nvPr>
            <p:ph type="title"/>
          </p:nvPr>
        </p:nvSpPr>
        <p:spPr/>
        <p:txBody>
          <a:bodyPr>
            <a:noAutofit/>
          </a:bodyPr>
          <a:lstStyle/>
          <a:p>
            <a:pPr marL="535781" indent="-535781" algn="just">
              <a:spcBef>
                <a:spcPts val="900"/>
              </a:spcBef>
              <a:buNone/>
              <a:defRPr/>
            </a:pPr>
            <a:r>
              <a:rPr lang="en-AU" altLang="en-US" sz="1800" b="0" i="1" spc="23" dirty="0">
                <a:solidFill>
                  <a:schemeClr val="bg1"/>
                </a:solidFill>
                <a:ea typeface="ＭＳ Ｐゴシック" pitchFamily="34" charset="-128"/>
              </a:rPr>
              <a:t>Bahr v Nicolay</a:t>
            </a:r>
            <a:r>
              <a:rPr lang="en-AU" altLang="en-US" sz="1800" b="0" spc="23" dirty="0">
                <a:solidFill>
                  <a:schemeClr val="bg1"/>
                </a:solidFill>
                <a:ea typeface="ＭＳ Ｐゴシック" pitchFamily="34" charset="-128"/>
              </a:rPr>
              <a:t> </a:t>
            </a:r>
            <a:r>
              <a:rPr lang="en-AU" altLang="en-US" sz="1800" b="0" i="1" spc="23" dirty="0">
                <a:solidFill>
                  <a:schemeClr val="bg1"/>
                </a:solidFill>
                <a:ea typeface="ＭＳ Ｐゴシック" pitchFamily="34" charset="-128"/>
              </a:rPr>
              <a:t>(No 2)</a:t>
            </a:r>
            <a:r>
              <a:rPr lang="en-AU" altLang="en-US" sz="1800" b="0" spc="23" dirty="0">
                <a:solidFill>
                  <a:schemeClr val="bg1"/>
                </a:solidFill>
                <a:ea typeface="ＭＳ Ｐゴシック" pitchFamily="34" charset="-128"/>
              </a:rPr>
              <a:t> (1988) 164 CLR 604 </a:t>
            </a:r>
          </a:p>
        </p:txBody>
      </p:sp>
    </p:spTree>
    <p:extLst>
      <p:ext uri="{BB962C8B-B14F-4D97-AF65-F5344CB8AC3E}">
        <p14:creationId xmlns:p14="http://schemas.microsoft.com/office/powerpoint/2010/main" val="12984603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0CAE4D-E945-4A30-8F23-B01045B0CFFC}"/>
              </a:ext>
            </a:extLst>
          </p:cNvPr>
          <p:cNvSpPr>
            <a:spLocks noGrp="1"/>
          </p:cNvSpPr>
          <p:nvPr>
            <p:ph sz="half" idx="1"/>
          </p:nvPr>
        </p:nvSpPr>
        <p:spPr>
          <a:xfrm>
            <a:off x="259350" y="700342"/>
            <a:ext cx="6141451" cy="4081383"/>
          </a:xfrm>
        </p:spPr>
        <p:txBody>
          <a:bodyPr>
            <a:normAutofit fontScale="85000" lnSpcReduction="20000"/>
          </a:bodyPr>
          <a:lstStyle/>
          <a:p>
            <a:pPr algn="just">
              <a:defRPr/>
            </a:pPr>
            <a:r>
              <a:rPr lang="en-AU" altLang="en-US" sz="1500" dirty="0">
                <a:ea typeface="ＭＳ Ｐゴシック" pitchFamily="34" charset="-128"/>
              </a:rPr>
              <a:t>When it comes to an allegation of fraud against an unregistered holder, there is a direct confrontation between the old doctrine of notice and s 134 of the </a:t>
            </a:r>
            <a:r>
              <a:rPr lang="en-AU" altLang="en-US" sz="1500" i="1" dirty="0">
                <a:ea typeface="ＭＳ Ｐゴシック" pitchFamily="34" charset="-128"/>
              </a:rPr>
              <a:t>TLA </a:t>
            </a:r>
          </a:p>
          <a:p>
            <a:pPr algn="just">
              <a:buNone/>
              <a:defRPr/>
            </a:pPr>
            <a:r>
              <a:rPr lang="en-AU" altLang="en-US" sz="1500" b="1" i="1" dirty="0">
                <a:ea typeface="ＭＳ Ｐゴシック" pitchFamily="34" charset="-128"/>
              </a:rPr>
              <a:t>134 Purchaser from registered proprietor not required to inquire into title and not affected by notice of unregistered interest etc.</a:t>
            </a:r>
          </a:p>
          <a:p>
            <a:pPr algn="just">
              <a:buNone/>
              <a:defRPr/>
            </a:pPr>
            <a:r>
              <a:rPr lang="en-AU" altLang="en-US" sz="1500" i="1" dirty="0">
                <a:ea typeface="ＭＳ Ｐゴシック" pitchFamily="34" charset="-128"/>
              </a:rPr>
              <a:t>Except in the case of:</a:t>
            </a:r>
          </a:p>
          <a:p>
            <a:pPr algn="just">
              <a:buNone/>
              <a:defRPr/>
            </a:pPr>
            <a:r>
              <a:rPr lang="en-AU" altLang="en-US" sz="1500" i="1" dirty="0">
                <a:ea typeface="ＭＳ Ｐゴシック" pitchFamily="34" charset="-128"/>
              </a:rPr>
              <a:t> (a) fraud; or</a:t>
            </a:r>
          </a:p>
          <a:p>
            <a:pPr algn="just">
              <a:buNone/>
              <a:defRPr/>
            </a:pPr>
            <a:r>
              <a:rPr lang="en-AU" altLang="en-US" sz="1500" i="1" dirty="0">
                <a:ea typeface="ＭＳ Ｐゴシック" pitchFamily="34" charset="-128"/>
              </a:rPr>
              <a:t> (b) Crown land the subject of a qualified certificate of Crown land title,</a:t>
            </a:r>
            <a:endParaRPr lang="en-AU" altLang="en-US" sz="1500" i="1" spc="23" dirty="0">
              <a:ea typeface="ＭＳ Ｐゴシック" pitchFamily="34" charset="-128"/>
            </a:endParaRPr>
          </a:p>
          <a:p>
            <a:pPr algn="just">
              <a:defRPr/>
            </a:pPr>
            <a:r>
              <a:rPr lang="en-AU" altLang="en-US" sz="1500" b="1" i="1" dirty="0">
                <a:ea typeface="ＭＳ Ｐゴシック" pitchFamily="34" charset="-128"/>
              </a:rPr>
              <a:t>no person </a:t>
            </a:r>
            <a:r>
              <a:rPr lang="en-AU" altLang="en-US" sz="1500" i="1" dirty="0">
                <a:ea typeface="ＭＳ Ｐゴシック" pitchFamily="34" charset="-128"/>
              </a:rPr>
              <a:t>contracting or dealing with or taking or proposing to take a transfer or other instrument from a person who is or becomes the proprietor of any registered land lease mortgage or charge </a:t>
            </a:r>
            <a:r>
              <a:rPr lang="en-AU" altLang="en-US" sz="1500" b="1" i="1" dirty="0">
                <a:ea typeface="ＭＳ Ｐゴシック" pitchFamily="34" charset="-128"/>
              </a:rPr>
              <a:t>shall be required</a:t>
            </a:r>
            <a:r>
              <a:rPr lang="en-AU" altLang="en-US" sz="1500" i="1" dirty="0">
                <a:ea typeface="ＭＳ Ｐゴシック" pitchFamily="34" charset="-128"/>
              </a:rPr>
              <a:t> or in any manner concerned </a:t>
            </a:r>
            <a:r>
              <a:rPr lang="en-AU" altLang="en-US" sz="1500" b="1" i="1" dirty="0">
                <a:ea typeface="ＭＳ Ｐゴシック" pitchFamily="34" charset="-128"/>
              </a:rPr>
              <a:t>to enquire or </a:t>
            </a:r>
            <a:r>
              <a:rPr lang="en-AU" altLang="en-US" sz="1500" b="1" i="1" spc="38" dirty="0">
                <a:ea typeface="ＭＳ Ｐゴシック" pitchFamily="34" charset="-128"/>
              </a:rPr>
              <a:t>ascertain the circumstances under or the consideration</a:t>
            </a:r>
            <a:r>
              <a:rPr lang="en-AU" altLang="en-US" sz="1500" b="1" i="1" dirty="0">
                <a:ea typeface="ＭＳ Ｐゴシック" pitchFamily="34" charset="-128"/>
              </a:rPr>
              <a:t> or which such proprietor or any previous proprietor thereof was or becomes registered </a:t>
            </a:r>
            <a:r>
              <a:rPr lang="en-AU" altLang="en-US" sz="1500" i="1" dirty="0">
                <a:ea typeface="ＭＳ Ｐゴシック" pitchFamily="34" charset="-128"/>
              </a:rPr>
              <a:t>or required or in any  manner concerned to enquire or ascertain the circumstances under or the consideration for which any mortgage or other encumbrance was or is discharged or removed from the Register at any time prior to or simultaneously with the registration of such transfer or other instrument or to see to the application of any purchase or consideration money </a:t>
            </a:r>
            <a:r>
              <a:rPr lang="en-AU" altLang="en-US" sz="1500" b="1" i="1" dirty="0">
                <a:ea typeface="ＭＳ Ｐゴシック" pitchFamily="34" charset="-128"/>
              </a:rPr>
              <a:t>or shall be affected by notice actual or constructive of any trust or unregistered interest any rule of law or equity to the contrary notwithstanding; and the knowledge that any such trust or unregistered interest is in existence shall not of itself be imputed as fraud. </a:t>
            </a:r>
          </a:p>
          <a:p>
            <a:pPr marL="1477566" indent="-398860" algn="just">
              <a:buNone/>
              <a:defRPr/>
            </a:pPr>
            <a:endParaRPr lang="en-AU" altLang="en-US" sz="900" spc="23" dirty="0">
              <a:ea typeface="ＭＳ Ｐゴシック" pitchFamily="34" charset="-128"/>
            </a:endParaRPr>
          </a:p>
          <a:p>
            <a:pPr marL="535781" indent="-535781" algn="just">
              <a:spcBef>
                <a:spcPts val="900"/>
              </a:spcBef>
              <a:buNone/>
              <a:defRPr/>
            </a:pPr>
            <a:endParaRPr lang="en-AU" altLang="en-US" sz="900" spc="23" dirty="0">
              <a:ea typeface="ＭＳ Ｐゴシック" pitchFamily="34" charset="-128"/>
            </a:endParaRPr>
          </a:p>
        </p:txBody>
      </p:sp>
      <p:sp>
        <p:nvSpPr>
          <p:cNvPr id="3" name="Title 2">
            <a:extLst>
              <a:ext uri="{FF2B5EF4-FFF2-40B4-BE49-F238E27FC236}">
                <a16:creationId xmlns:a16="http://schemas.microsoft.com/office/drawing/2014/main" id="{DBFB7CA8-1812-4B8F-B8E2-5E9FC526C77D}"/>
              </a:ext>
            </a:extLst>
          </p:cNvPr>
          <p:cNvSpPr>
            <a:spLocks noGrp="1"/>
          </p:cNvSpPr>
          <p:nvPr>
            <p:ph type="title"/>
          </p:nvPr>
        </p:nvSpPr>
        <p:spPr/>
        <p:txBody>
          <a:bodyPr>
            <a:normAutofit/>
          </a:bodyPr>
          <a:lstStyle/>
          <a:p>
            <a:pPr marL="535781" indent="-535781" algn="just">
              <a:spcBef>
                <a:spcPts val="900"/>
              </a:spcBef>
              <a:buNone/>
              <a:defRPr/>
            </a:pPr>
            <a:r>
              <a:rPr lang="en-AU" altLang="en-US" sz="1800" b="0" spc="23" dirty="0">
                <a:solidFill>
                  <a:schemeClr val="bg1"/>
                </a:solidFill>
                <a:ea typeface="ＭＳ Ｐゴシック" pitchFamily="34" charset="-128"/>
              </a:rPr>
              <a:t>Fraud and Notice and s134 TLA</a:t>
            </a:r>
          </a:p>
        </p:txBody>
      </p:sp>
    </p:spTree>
    <p:extLst>
      <p:ext uri="{BB962C8B-B14F-4D97-AF65-F5344CB8AC3E}">
        <p14:creationId xmlns:p14="http://schemas.microsoft.com/office/powerpoint/2010/main" val="94482234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0CAE4D-E945-4A30-8F23-B01045B0CFFC}"/>
              </a:ext>
            </a:extLst>
          </p:cNvPr>
          <p:cNvSpPr>
            <a:spLocks noGrp="1"/>
          </p:cNvSpPr>
          <p:nvPr>
            <p:ph sz="half" idx="1"/>
          </p:nvPr>
        </p:nvSpPr>
        <p:spPr>
          <a:xfrm>
            <a:off x="259349" y="700341"/>
            <a:ext cx="6334398" cy="4215607"/>
          </a:xfrm>
        </p:spPr>
        <p:txBody>
          <a:bodyPr>
            <a:normAutofit fontScale="85000" lnSpcReduction="10000"/>
          </a:bodyPr>
          <a:lstStyle/>
          <a:p>
            <a:pPr algn="just">
              <a:spcBef>
                <a:spcPts val="900"/>
              </a:spcBef>
              <a:buNone/>
            </a:pPr>
            <a:r>
              <a:rPr lang="en-US" altLang="en-US" sz="1900" dirty="0">
                <a:solidFill>
                  <a:srgbClr val="000000"/>
                </a:solidFill>
                <a:ea typeface="ＭＳ Ｐゴシック" panose="020B0600070205080204" pitchFamily="34" charset="-128"/>
              </a:rPr>
              <a:t>So mere knowledge of a prior unregistered interest does not automatically mean there will be fraud if registration then occurs which defeats this unregistered interest. In </a:t>
            </a:r>
            <a:r>
              <a:rPr lang="en-US" altLang="en-US" sz="1900" i="1" dirty="0">
                <a:solidFill>
                  <a:srgbClr val="000000"/>
                </a:solidFill>
                <a:ea typeface="ＭＳ Ｐゴシック" panose="020B0600070205080204" pitchFamily="34" charset="-128"/>
              </a:rPr>
              <a:t>Waimiha Sawmilling Co v Wai One Timber Co </a:t>
            </a:r>
            <a:r>
              <a:rPr lang="en-US" altLang="en-US" sz="1900" dirty="0">
                <a:solidFill>
                  <a:srgbClr val="000000"/>
                </a:solidFill>
                <a:ea typeface="ＭＳ Ｐゴシック" panose="020B0600070205080204" pitchFamily="34" charset="-128"/>
              </a:rPr>
              <a:t>[1926] AC 101, the court held that knowledge of a right and a legal challenge to enforce that right is not enough to be fraud. However, the court also said in that case:</a:t>
            </a:r>
          </a:p>
          <a:p>
            <a:pPr marL="176213" algn="just">
              <a:spcBef>
                <a:spcPts val="900"/>
              </a:spcBef>
              <a:buNone/>
            </a:pPr>
            <a:r>
              <a:rPr lang="en-US" altLang="en-US" sz="1900" dirty="0">
                <a:solidFill>
                  <a:srgbClr val="000000"/>
                </a:solidFill>
                <a:ea typeface="ＭＳ Ｐゴシック" panose="020B0600070205080204" pitchFamily="34" charset="-128"/>
              </a:rPr>
              <a:t>If the designated object of a transfer be to cheat a man of a known existing right, that is fraudulent, and so also … [is] a deliberate and dishonest trick causing an interest not to be registered and thus fraudulently keeping the register clear.</a:t>
            </a:r>
          </a:p>
          <a:p>
            <a:pPr algn="just">
              <a:spcBef>
                <a:spcPts val="900"/>
              </a:spcBef>
              <a:buNone/>
            </a:pPr>
            <a:r>
              <a:rPr lang="en-US" altLang="en-US" sz="1900" dirty="0">
                <a:solidFill>
                  <a:srgbClr val="000000"/>
                </a:solidFill>
                <a:ea typeface="ＭＳ Ｐゴシック" panose="020B0600070205080204" pitchFamily="34" charset="-128"/>
              </a:rPr>
              <a:t>What about knowledge of fraud? The courts will focus on the intent of the purchaser, rather than their actual knowledge: see </a:t>
            </a:r>
            <a:r>
              <a:rPr lang="en-US" altLang="en-US" sz="1900" dirty="0" err="1">
                <a:solidFill>
                  <a:srgbClr val="000000"/>
                </a:solidFill>
                <a:ea typeface="ＭＳ Ｐゴシック" panose="020B0600070205080204" pitchFamily="34" charset="-128"/>
              </a:rPr>
              <a:t>eg</a:t>
            </a:r>
            <a:r>
              <a:rPr lang="en-US" altLang="en-US" sz="1900" dirty="0">
                <a:solidFill>
                  <a:srgbClr val="000000"/>
                </a:solidFill>
                <a:ea typeface="ＭＳ Ｐゴシック" panose="020B0600070205080204" pitchFamily="34" charset="-128"/>
              </a:rPr>
              <a:t> </a:t>
            </a:r>
            <a:r>
              <a:rPr lang="en-US" altLang="en-US" sz="1900" i="1" dirty="0">
                <a:solidFill>
                  <a:srgbClr val="000000"/>
                </a:solidFill>
                <a:ea typeface="ＭＳ Ｐゴシック" panose="020B0600070205080204" pitchFamily="34" charset="-128"/>
              </a:rPr>
              <a:t>Munro v Stuart</a:t>
            </a:r>
            <a:r>
              <a:rPr lang="en-US" altLang="en-US" sz="1900" dirty="0">
                <a:solidFill>
                  <a:srgbClr val="000000"/>
                </a:solidFill>
                <a:ea typeface="ＭＳ Ｐゴシック" panose="020B0600070205080204" pitchFamily="34" charset="-128"/>
              </a:rPr>
              <a:t> (1924) 41 SR (NSW) 203. It boils down to whether it amounts to dishonesty to act on such knowledge. </a:t>
            </a:r>
          </a:p>
          <a:p>
            <a:pPr algn="just">
              <a:spcBef>
                <a:spcPts val="900"/>
              </a:spcBef>
              <a:buNone/>
            </a:pPr>
            <a:r>
              <a:rPr lang="en-US" altLang="en-US" sz="1900" dirty="0">
                <a:solidFill>
                  <a:srgbClr val="000000"/>
                </a:solidFill>
                <a:ea typeface="ＭＳ Ｐゴシック" panose="020B0600070205080204" pitchFamily="34" charset="-128"/>
              </a:rPr>
              <a:t>Note also that s 134 says ‘except in the case of fraud’ so knowledge of an out and out fraud might not invoke the protection of s 134.</a:t>
            </a:r>
          </a:p>
          <a:p>
            <a:pPr marL="535781" indent="-535781" algn="just">
              <a:spcBef>
                <a:spcPts val="900"/>
              </a:spcBef>
              <a:buNone/>
              <a:defRPr/>
            </a:pPr>
            <a:endParaRPr lang="en-AU" altLang="en-US" sz="900" spc="23" dirty="0">
              <a:ea typeface="ＭＳ Ｐゴシック" pitchFamily="34" charset="-128"/>
            </a:endParaRPr>
          </a:p>
        </p:txBody>
      </p:sp>
      <p:sp>
        <p:nvSpPr>
          <p:cNvPr id="3" name="Title 2">
            <a:extLst>
              <a:ext uri="{FF2B5EF4-FFF2-40B4-BE49-F238E27FC236}">
                <a16:creationId xmlns:a16="http://schemas.microsoft.com/office/drawing/2014/main" id="{DBFB7CA8-1812-4B8F-B8E2-5E9FC526C77D}"/>
              </a:ext>
            </a:extLst>
          </p:cNvPr>
          <p:cNvSpPr>
            <a:spLocks noGrp="1"/>
          </p:cNvSpPr>
          <p:nvPr>
            <p:ph type="title"/>
          </p:nvPr>
        </p:nvSpPr>
        <p:spPr/>
        <p:txBody>
          <a:bodyPr>
            <a:normAutofit/>
          </a:bodyPr>
          <a:lstStyle/>
          <a:p>
            <a:pPr marL="535781" indent="-535781" algn="just">
              <a:spcBef>
                <a:spcPts val="900"/>
              </a:spcBef>
              <a:buNone/>
              <a:defRPr/>
            </a:pPr>
            <a:r>
              <a:rPr lang="en-AU" altLang="en-US" sz="1800" b="0" spc="23" dirty="0">
                <a:solidFill>
                  <a:schemeClr val="bg1"/>
                </a:solidFill>
                <a:ea typeface="ＭＳ Ｐゴシック" pitchFamily="34" charset="-128"/>
              </a:rPr>
              <a:t>Fraud and Notice and s 134 TLA</a:t>
            </a:r>
          </a:p>
        </p:txBody>
      </p:sp>
    </p:spTree>
    <p:extLst>
      <p:ext uri="{BB962C8B-B14F-4D97-AF65-F5344CB8AC3E}">
        <p14:creationId xmlns:p14="http://schemas.microsoft.com/office/powerpoint/2010/main" val="425979445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0CAE4D-E945-4A30-8F23-B01045B0CFFC}"/>
              </a:ext>
            </a:extLst>
          </p:cNvPr>
          <p:cNvSpPr>
            <a:spLocks noGrp="1"/>
          </p:cNvSpPr>
          <p:nvPr>
            <p:ph sz="half" idx="1"/>
          </p:nvPr>
        </p:nvSpPr>
        <p:spPr>
          <a:xfrm>
            <a:off x="259349" y="604868"/>
            <a:ext cx="4144871" cy="4336248"/>
          </a:xfrm>
        </p:spPr>
        <p:txBody>
          <a:bodyPr>
            <a:normAutofit/>
          </a:bodyPr>
          <a:lstStyle/>
          <a:p>
            <a:pPr marL="92075" indent="-92075" algn="just">
              <a:spcBef>
                <a:spcPts val="900"/>
              </a:spcBef>
              <a:buNone/>
              <a:tabLst>
                <a:tab pos="535781" algn="l"/>
                <a:tab pos="872729" algn="l"/>
              </a:tabLst>
            </a:pPr>
            <a:r>
              <a:rPr lang="en-US" altLang="en-US" sz="900" dirty="0">
                <a:solidFill>
                  <a:srgbClr val="000000"/>
                </a:solidFill>
                <a:ea typeface="ＭＳ Ｐゴシック" panose="020B0600070205080204" pitchFamily="34" charset="-128"/>
              </a:rPr>
              <a:t>	</a:t>
            </a:r>
            <a:r>
              <a:rPr lang="en-US" altLang="en-US" sz="1400" dirty="0">
                <a:ea typeface="ＭＳ Ｐゴシック" panose="020B0600070205080204" pitchFamily="34" charset="-128"/>
              </a:rPr>
              <a:t>For a WA case, see </a:t>
            </a:r>
            <a:r>
              <a:rPr lang="en-US" altLang="en-US" sz="1400" dirty="0" err="1">
                <a:ea typeface="ＭＳ Ｐゴシック" panose="020B0600070205080204" pitchFamily="34" charset="-128"/>
              </a:rPr>
              <a:t>eg</a:t>
            </a:r>
            <a:r>
              <a:rPr lang="en-US" altLang="en-US" sz="1400" dirty="0">
                <a:ea typeface="ＭＳ Ｐゴシック" panose="020B0600070205080204" pitchFamily="34" charset="-128"/>
              </a:rPr>
              <a:t> </a:t>
            </a:r>
            <a:r>
              <a:rPr lang="en-US" altLang="en-US" sz="1400" i="1" dirty="0">
                <a:ea typeface="ＭＳ Ｐゴシック" panose="020B0600070205080204" pitchFamily="34" charset="-128"/>
              </a:rPr>
              <a:t>LHK Nominees Pty Ltd v Kenworthy </a:t>
            </a:r>
            <a:r>
              <a:rPr lang="en-US" altLang="en-US" sz="1400" dirty="0">
                <a:ea typeface="ＭＳ Ｐゴシック" panose="020B0600070205080204" pitchFamily="34" charset="-128"/>
              </a:rPr>
              <a:t>(2002) 26 WAR 517 – indefeasible title is not defeasible merely because a party became registered with knowledge that a transfer was drawn in breach of trust.</a:t>
            </a:r>
          </a:p>
          <a:p>
            <a:pPr marL="92075" indent="-92075" algn="just">
              <a:spcBef>
                <a:spcPts val="900"/>
              </a:spcBef>
              <a:buNone/>
              <a:tabLst>
                <a:tab pos="535781" algn="l"/>
                <a:tab pos="872729" algn="l"/>
              </a:tabLst>
            </a:pPr>
            <a:r>
              <a:rPr lang="en-US" altLang="en-US" sz="1400" dirty="0">
                <a:ea typeface="ＭＳ Ｐゴシック" panose="020B0600070205080204" pitchFamily="34" charset="-128"/>
              </a:rPr>
              <a:t>	On fraud by an agent, see </a:t>
            </a:r>
            <a:r>
              <a:rPr lang="en-US" altLang="en-US" sz="1400" i="1" dirty="0">
                <a:ea typeface="ＭＳ Ｐゴシック" panose="020B0600070205080204" pitchFamily="34" charset="-128"/>
              </a:rPr>
              <a:t>Schultz v </a:t>
            </a:r>
            <a:r>
              <a:rPr lang="en-US" altLang="en-US" sz="1400" i="1" dirty="0" err="1">
                <a:ea typeface="ＭＳ Ｐゴシック" panose="020B0600070205080204" pitchFamily="34" charset="-128"/>
              </a:rPr>
              <a:t>Corwill</a:t>
            </a:r>
            <a:r>
              <a:rPr lang="en-US" altLang="en-US" sz="1400" i="1" dirty="0">
                <a:ea typeface="ＭＳ Ｐゴシック" panose="020B0600070205080204" pitchFamily="34" charset="-128"/>
              </a:rPr>
              <a:t> Properties Pty Ltd </a:t>
            </a:r>
            <a:r>
              <a:rPr lang="en-US" altLang="en-US" sz="1400" dirty="0">
                <a:ea typeface="ＭＳ Ｐゴシック" panose="020B0600070205080204" pitchFamily="34" charset="-128"/>
              </a:rPr>
              <a:t>(1969) 90 WN (NSW) 529. Where fraud is committed by the agent acting within the scope of actual or apparent authority, then the fraud is imputed to the principal. </a:t>
            </a:r>
          </a:p>
          <a:p>
            <a:pPr marL="92075" indent="-92075" algn="just">
              <a:spcBef>
                <a:spcPts val="900"/>
              </a:spcBef>
              <a:buNone/>
              <a:tabLst>
                <a:tab pos="182563" algn="l"/>
                <a:tab pos="871538" algn="l"/>
              </a:tabLst>
            </a:pPr>
            <a:r>
              <a:rPr lang="en-US" altLang="en-US" sz="1400" dirty="0">
                <a:ea typeface="ＭＳ Ｐゴシック" panose="020B0600070205080204" pitchFamily="34" charset="-128"/>
              </a:rPr>
              <a:t>	Fraud is only operative when induces detrimental action on the part of an innocent party: see </a:t>
            </a:r>
            <a:r>
              <a:rPr lang="en-US" altLang="en-US" sz="1400" i="1" dirty="0">
                <a:ea typeface="ＭＳ Ｐゴシック" panose="020B0600070205080204" pitchFamily="34" charset="-128"/>
              </a:rPr>
              <a:t>Bank of SA v Ferguson </a:t>
            </a:r>
            <a:r>
              <a:rPr lang="en-US" altLang="en-US" sz="1400" dirty="0">
                <a:ea typeface="ＭＳ Ｐゴシック" panose="020B0600070205080204" pitchFamily="34" charset="-128"/>
              </a:rPr>
              <a:t>(1998) 151 ALR 729. If the defrauded party was motivated by other factors (that is, they would have still done the deal despite the fraud) then the fraud not operative.</a:t>
            </a:r>
          </a:p>
          <a:p>
            <a:pPr marL="535781" indent="-535781" algn="just">
              <a:spcBef>
                <a:spcPts val="900"/>
              </a:spcBef>
              <a:buNone/>
              <a:defRPr/>
            </a:pPr>
            <a:endParaRPr lang="en-AU" altLang="en-US" sz="900" spc="23" dirty="0">
              <a:ea typeface="ＭＳ Ｐゴシック" pitchFamily="34" charset="-128"/>
            </a:endParaRPr>
          </a:p>
        </p:txBody>
      </p:sp>
      <p:sp>
        <p:nvSpPr>
          <p:cNvPr id="3" name="Title 2">
            <a:extLst>
              <a:ext uri="{FF2B5EF4-FFF2-40B4-BE49-F238E27FC236}">
                <a16:creationId xmlns:a16="http://schemas.microsoft.com/office/drawing/2014/main" id="{DBFB7CA8-1812-4B8F-B8E2-5E9FC526C77D}"/>
              </a:ext>
            </a:extLst>
          </p:cNvPr>
          <p:cNvSpPr>
            <a:spLocks noGrp="1"/>
          </p:cNvSpPr>
          <p:nvPr>
            <p:ph type="title"/>
          </p:nvPr>
        </p:nvSpPr>
        <p:spPr/>
        <p:txBody>
          <a:bodyPr>
            <a:normAutofit/>
          </a:bodyPr>
          <a:lstStyle/>
          <a:p>
            <a:pPr marL="535781" indent="-535781" algn="just">
              <a:spcBef>
                <a:spcPts val="900"/>
              </a:spcBef>
              <a:buNone/>
              <a:defRPr/>
            </a:pPr>
            <a:r>
              <a:rPr lang="en-AU" altLang="en-US" sz="1800" b="0" spc="23" dirty="0">
                <a:solidFill>
                  <a:schemeClr val="bg1"/>
                </a:solidFill>
                <a:ea typeface="ＭＳ Ｐゴシック" pitchFamily="34" charset="-128"/>
              </a:rPr>
              <a:t>Fraud and Notice and s134 TLA</a:t>
            </a:r>
          </a:p>
        </p:txBody>
      </p:sp>
      <p:pic>
        <p:nvPicPr>
          <p:cNvPr id="5" name="Picture 4" descr="A person in a suit&#10;&#10;Description automatically generated">
            <a:extLst>
              <a:ext uri="{FF2B5EF4-FFF2-40B4-BE49-F238E27FC236}">
                <a16:creationId xmlns:a16="http://schemas.microsoft.com/office/drawing/2014/main" id="{38AF38E8-0791-53D2-6263-DC66BD2513B7}"/>
              </a:ext>
            </a:extLst>
          </p:cNvPr>
          <p:cNvPicPr>
            <a:picLocks noChangeAspect="1"/>
          </p:cNvPicPr>
          <p:nvPr/>
        </p:nvPicPr>
        <p:blipFill>
          <a:blip r:embed="rId2"/>
          <a:stretch>
            <a:fillRect/>
          </a:stretch>
        </p:blipFill>
        <p:spPr>
          <a:xfrm>
            <a:off x="4572183" y="944881"/>
            <a:ext cx="2026468" cy="3174114"/>
          </a:xfrm>
          <a:prstGeom prst="rect">
            <a:avLst/>
          </a:prstGeom>
        </p:spPr>
      </p:pic>
    </p:spTree>
    <p:extLst>
      <p:ext uri="{BB962C8B-B14F-4D97-AF65-F5344CB8AC3E}">
        <p14:creationId xmlns:p14="http://schemas.microsoft.com/office/powerpoint/2010/main" val="22376808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0CAE4D-E945-4A30-8F23-B01045B0CFFC}"/>
              </a:ext>
            </a:extLst>
          </p:cNvPr>
          <p:cNvSpPr>
            <a:spLocks noGrp="1"/>
          </p:cNvSpPr>
          <p:nvPr>
            <p:ph sz="half" idx="1"/>
          </p:nvPr>
        </p:nvSpPr>
        <p:spPr>
          <a:xfrm>
            <a:off x="259349" y="640080"/>
            <a:ext cx="3489691" cy="4503420"/>
          </a:xfrm>
        </p:spPr>
        <p:txBody>
          <a:bodyPr>
            <a:normAutofit fontScale="92500" lnSpcReduction="20000"/>
          </a:bodyPr>
          <a:lstStyle/>
          <a:p>
            <a:pPr>
              <a:spcBef>
                <a:spcPts val="900"/>
              </a:spcBef>
              <a:buNone/>
              <a:defRPr/>
            </a:pPr>
            <a:r>
              <a:rPr lang="en-US" altLang="en-US" sz="1700" spc="23" dirty="0">
                <a:ea typeface="ＭＳ Ｐゴシック" pitchFamily="34" charset="-128"/>
              </a:rPr>
              <a:t>Sometimes hard for courts to determine if there was fraud.</a:t>
            </a:r>
          </a:p>
          <a:p>
            <a:pPr>
              <a:spcBef>
                <a:spcPts val="900"/>
              </a:spcBef>
              <a:buNone/>
              <a:defRPr/>
            </a:pPr>
            <a:r>
              <a:rPr lang="en-US" altLang="en-US" sz="1700" spc="23" dirty="0">
                <a:ea typeface="ＭＳ Ｐゴシック" pitchFamily="34" charset="-128"/>
              </a:rPr>
              <a:t>Fine distinction between purchaser who takes an interest knowing there’s an unregistered interest (equitable interest) affecting the land vs purchasers who have </a:t>
            </a:r>
            <a:r>
              <a:rPr lang="en-US" altLang="en-US" sz="1700" b="1" spc="23" dirty="0">
                <a:ea typeface="ＭＳ Ｐゴシック" pitchFamily="34" charset="-128"/>
              </a:rPr>
              <a:t>undertaken to be bound</a:t>
            </a:r>
            <a:r>
              <a:rPr lang="en-US" altLang="en-US" sz="1700" spc="23" dirty="0">
                <a:ea typeface="ＭＳ Ｐゴシック" pitchFamily="34" charset="-128"/>
              </a:rPr>
              <a:t> by this unregistered interest (as Thompson did in </a:t>
            </a:r>
            <a:r>
              <a:rPr lang="en-US" altLang="en-US" sz="1700" i="1" spc="23" dirty="0">
                <a:ea typeface="ＭＳ Ｐゴシック" pitchFamily="34" charset="-128"/>
              </a:rPr>
              <a:t>Bahr v Nicolay</a:t>
            </a:r>
            <a:r>
              <a:rPr lang="en-US" altLang="en-US" sz="1700" spc="23" dirty="0">
                <a:ea typeface="ＭＳ Ｐゴシック" pitchFamily="34" charset="-128"/>
              </a:rPr>
              <a:t>)</a:t>
            </a:r>
          </a:p>
          <a:p>
            <a:pPr>
              <a:spcBef>
                <a:spcPts val="900"/>
              </a:spcBef>
              <a:buNone/>
              <a:defRPr/>
            </a:pPr>
            <a:r>
              <a:rPr lang="en-US" altLang="en-US" sz="1700" spc="23" dirty="0">
                <a:ea typeface="ＭＳ Ｐゴシック" pitchFamily="34" charset="-128"/>
              </a:rPr>
              <a:t>What about silence? </a:t>
            </a:r>
          </a:p>
          <a:p>
            <a:pPr>
              <a:spcBef>
                <a:spcPts val="900"/>
              </a:spcBef>
              <a:buNone/>
              <a:defRPr/>
            </a:pPr>
            <a:r>
              <a:rPr lang="en-US" altLang="en-US" sz="1700" spc="23" dirty="0">
                <a:ea typeface="ＭＳ Ｐゴシック" pitchFamily="34" charset="-128"/>
              </a:rPr>
              <a:t>Keeping silent may show assent to a condition so that condition is enforceable against new owner. Depends whether silence amounts to wrongful conduct. </a:t>
            </a:r>
          </a:p>
          <a:p>
            <a:pPr>
              <a:spcBef>
                <a:spcPts val="900"/>
              </a:spcBef>
              <a:buNone/>
              <a:defRPr/>
            </a:pPr>
            <a:r>
              <a:rPr lang="en-US" altLang="en-US" sz="1200" spc="23" dirty="0">
                <a:ea typeface="ＭＳ Ｐゴシック" pitchFamily="34" charset="-128"/>
              </a:rPr>
              <a:t>	</a:t>
            </a:r>
          </a:p>
          <a:p>
            <a:pPr>
              <a:spcBef>
                <a:spcPts val="900"/>
              </a:spcBef>
              <a:buNone/>
              <a:defRPr/>
            </a:pPr>
            <a:endParaRPr lang="en-AU" sz="800" i="1" dirty="0"/>
          </a:p>
          <a:p>
            <a:pPr>
              <a:spcBef>
                <a:spcPts val="900"/>
              </a:spcBef>
              <a:buNone/>
              <a:defRPr/>
            </a:pPr>
            <a:endParaRPr lang="en-AU" sz="800" i="1" dirty="0"/>
          </a:p>
          <a:p>
            <a:pPr>
              <a:spcBef>
                <a:spcPts val="900"/>
              </a:spcBef>
              <a:buNone/>
              <a:defRPr/>
            </a:pPr>
            <a:br>
              <a:rPr lang="en-US" altLang="en-US" sz="800" i="1" spc="23" dirty="0">
                <a:ea typeface="ＭＳ Ｐゴシック" pitchFamily="34" charset="-128"/>
              </a:rPr>
            </a:br>
            <a:endParaRPr lang="en-AU" altLang="en-US" sz="800" spc="23" dirty="0">
              <a:ea typeface="ＭＳ Ｐゴシック" pitchFamily="34" charset="-128"/>
            </a:endParaRPr>
          </a:p>
        </p:txBody>
      </p:sp>
      <p:sp>
        <p:nvSpPr>
          <p:cNvPr id="3" name="Title 2">
            <a:extLst>
              <a:ext uri="{FF2B5EF4-FFF2-40B4-BE49-F238E27FC236}">
                <a16:creationId xmlns:a16="http://schemas.microsoft.com/office/drawing/2014/main" id="{DBFB7CA8-1812-4B8F-B8E2-5E9FC526C77D}"/>
              </a:ext>
            </a:extLst>
          </p:cNvPr>
          <p:cNvSpPr>
            <a:spLocks noGrp="1"/>
          </p:cNvSpPr>
          <p:nvPr>
            <p:ph type="title"/>
          </p:nvPr>
        </p:nvSpPr>
        <p:spPr/>
        <p:txBody>
          <a:bodyPr>
            <a:normAutofit/>
          </a:bodyPr>
          <a:lstStyle/>
          <a:p>
            <a:pPr marL="535781" indent="-535781" algn="just">
              <a:spcBef>
                <a:spcPts val="900"/>
              </a:spcBef>
              <a:buNone/>
              <a:defRPr/>
            </a:pPr>
            <a:r>
              <a:rPr lang="en-AU" altLang="en-US" sz="1800" b="0" spc="23" dirty="0">
                <a:solidFill>
                  <a:schemeClr val="bg1"/>
                </a:solidFill>
                <a:ea typeface="ＭＳ Ｐゴシック" pitchFamily="34" charset="-128"/>
              </a:rPr>
              <a:t>Fraud and Notice</a:t>
            </a:r>
          </a:p>
        </p:txBody>
      </p:sp>
      <p:pic>
        <p:nvPicPr>
          <p:cNvPr id="7" name="Picture 6">
            <a:extLst>
              <a:ext uri="{FF2B5EF4-FFF2-40B4-BE49-F238E27FC236}">
                <a16:creationId xmlns:a16="http://schemas.microsoft.com/office/drawing/2014/main" id="{D5CE900D-98E4-4466-95F1-86F60854C36F}"/>
              </a:ext>
            </a:extLst>
          </p:cNvPr>
          <p:cNvPicPr>
            <a:picLocks noChangeAspect="1"/>
          </p:cNvPicPr>
          <p:nvPr/>
        </p:nvPicPr>
        <p:blipFill>
          <a:blip r:embed="rId2"/>
          <a:stretch>
            <a:fillRect/>
          </a:stretch>
        </p:blipFill>
        <p:spPr>
          <a:xfrm>
            <a:off x="3749040" y="701040"/>
            <a:ext cx="2244285" cy="2193162"/>
          </a:xfrm>
          <a:prstGeom prst="rect">
            <a:avLst/>
          </a:prstGeom>
        </p:spPr>
      </p:pic>
      <p:sp>
        <p:nvSpPr>
          <p:cNvPr id="4" name="TextBox 3">
            <a:extLst>
              <a:ext uri="{FF2B5EF4-FFF2-40B4-BE49-F238E27FC236}">
                <a16:creationId xmlns:a16="http://schemas.microsoft.com/office/drawing/2014/main" id="{A5C6F434-366B-BBDA-8E78-928F05F472CD}"/>
              </a:ext>
            </a:extLst>
          </p:cNvPr>
          <p:cNvSpPr txBox="1"/>
          <p:nvPr/>
        </p:nvSpPr>
        <p:spPr>
          <a:xfrm>
            <a:off x="3749040" y="3112316"/>
            <a:ext cx="2177628" cy="938719"/>
          </a:xfrm>
          <a:prstGeom prst="rect">
            <a:avLst/>
          </a:prstGeom>
          <a:noFill/>
        </p:spPr>
        <p:txBody>
          <a:bodyPr wrap="square" rtlCol="0">
            <a:spAutoFit/>
          </a:bodyPr>
          <a:lstStyle/>
          <a:p>
            <a:pPr>
              <a:spcBef>
                <a:spcPts val="900"/>
              </a:spcBef>
              <a:buNone/>
              <a:defRPr/>
            </a:pPr>
            <a:r>
              <a:rPr lang="en-AU" sz="1000" i="1" dirty="0"/>
              <a:t>I won't stay quiet, I won't stay quiet</a:t>
            </a:r>
            <a:endParaRPr lang="en-US" altLang="en-US" sz="1000" i="1" spc="23" dirty="0">
              <a:ea typeface="ＭＳ Ｐゴシック" pitchFamily="34" charset="-128"/>
            </a:endParaRPr>
          </a:p>
          <a:p>
            <a:pPr>
              <a:spcBef>
                <a:spcPts val="900"/>
              </a:spcBef>
              <a:buNone/>
              <a:defRPr/>
            </a:pPr>
            <a:r>
              <a:rPr lang="en-AU" sz="1000" i="1" dirty="0" err="1"/>
              <a:t>'Cause</a:t>
            </a:r>
            <a:r>
              <a:rPr lang="en-AU" sz="1000" i="1" dirty="0"/>
              <a:t> </a:t>
            </a:r>
            <a:r>
              <a:rPr lang="en-AU" sz="1000" i="1" dirty="0" err="1"/>
              <a:t>stayin</a:t>
            </a:r>
            <a:r>
              <a:rPr lang="en-AU" sz="1000" i="1" dirty="0"/>
              <a:t>' silent's the same as </a:t>
            </a:r>
            <a:r>
              <a:rPr lang="en-AU" sz="1000" i="1" dirty="0" err="1"/>
              <a:t>dyin</a:t>
            </a:r>
            <a:r>
              <a:rPr lang="en-AU" sz="1000" i="1" dirty="0"/>
              <a:t>’</a:t>
            </a:r>
          </a:p>
          <a:p>
            <a:pPr>
              <a:spcBef>
                <a:spcPts val="900"/>
              </a:spcBef>
              <a:buNone/>
              <a:defRPr/>
            </a:pPr>
            <a:r>
              <a:rPr lang="en-AU" altLang="en-US" sz="1000" spc="23" dirty="0">
                <a:ea typeface="ＭＳ Ｐゴシック" pitchFamily="34" charset="-128"/>
              </a:rPr>
              <a:t>(Thus </a:t>
            </a:r>
            <a:r>
              <a:rPr lang="en-AU" altLang="en-US" sz="1000" spc="23" dirty="0" err="1">
                <a:ea typeface="ＭＳ Ｐゴシック" pitchFamily="34" charset="-128"/>
              </a:rPr>
              <a:t>spake</a:t>
            </a:r>
            <a:r>
              <a:rPr lang="en-AU" altLang="en-US" sz="1000" spc="23" dirty="0">
                <a:ea typeface="ＭＳ Ｐゴシック" pitchFamily="34" charset="-128"/>
              </a:rPr>
              <a:t> Dua Lipa).</a:t>
            </a:r>
            <a:endParaRPr lang="en-AU" sz="1000" dirty="0"/>
          </a:p>
        </p:txBody>
      </p:sp>
    </p:spTree>
    <p:extLst>
      <p:ext uri="{BB962C8B-B14F-4D97-AF65-F5344CB8AC3E}">
        <p14:creationId xmlns:p14="http://schemas.microsoft.com/office/powerpoint/2010/main" val="346982091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0CAE4D-E945-4A30-8F23-B01045B0CFFC}"/>
              </a:ext>
            </a:extLst>
          </p:cNvPr>
          <p:cNvSpPr>
            <a:spLocks noGrp="1"/>
          </p:cNvSpPr>
          <p:nvPr>
            <p:ph sz="half" idx="1"/>
          </p:nvPr>
        </p:nvSpPr>
        <p:spPr>
          <a:xfrm>
            <a:off x="259349" y="646627"/>
            <a:ext cx="4186816" cy="4353212"/>
          </a:xfrm>
        </p:spPr>
        <p:txBody>
          <a:bodyPr>
            <a:normAutofit fontScale="92500" lnSpcReduction="10000"/>
          </a:bodyPr>
          <a:lstStyle/>
          <a:p>
            <a:pPr marL="0" indent="0" algn="just">
              <a:spcBef>
                <a:spcPts val="900"/>
              </a:spcBef>
              <a:buNone/>
              <a:defRPr/>
            </a:pPr>
            <a:r>
              <a:rPr lang="en-AU" altLang="en-US" sz="1400" dirty="0">
                <a:ea typeface="ＭＳ Ｐゴシック" pitchFamily="34" charset="-128"/>
              </a:rPr>
              <a:t>Arise out of common law, not statute.</a:t>
            </a:r>
          </a:p>
          <a:p>
            <a:pPr algn="just">
              <a:spcBef>
                <a:spcPts val="900"/>
              </a:spcBef>
              <a:buNone/>
              <a:defRPr/>
            </a:pPr>
            <a:r>
              <a:rPr lang="en-AU" altLang="en-US" sz="1400" dirty="0">
                <a:ea typeface="ＭＳ Ｐゴシック" pitchFamily="34" charset="-128"/>
              </a:rPr>
              <a:t>The in </a:t>
            </a:r>
            <a:r>
              <a:rPr lang="en-AU" altLang="en-US" sz="1400" dirty="0" err="1">
                <a:ea typeface="ＭＳ Ｐゴシック" pitchFamily="34" charset="-128"/>
              </a:rPr>
              <a:t>personam</a:t>
            </a:r>
            <a:r>
              <a:rPr lang="en-AU" altLang="en-US" sz="1400" dirty="0">
                <a:ea typeface="ＭＳ Ｐゴシック" pitchFamily="34" charset="-128"/>
              </a:rPr>
              <a:t> exception – indefeasibility does not affect the personal obligations of a registered proprietor. You might not have a right against the property they sold (a right in rem), but at least you have a right against </a:t>
            </a:r>
            <a:r>
              <a:rPr lang="en-AU" altLang="en-US" sz="1400" i="1" dirty="0">
                <a:ea typeface="ＭＳ Ｐゴシック" pitchFamily="34" charset="-128"/>
              </a:rPr>
              <a:t>them</a:t>
            </a:r>
            <a:r>
              <a:rPr lang="en-AU" altLang="en-US" sz="1400" dirty="0">
                <a:ea typeface="ＭＳ Ｐゴシック" pitchFamily="34" charset="-128"/>
              </a:rPr>
              <a:t>! (a right in </a:t>
            </a:r>
            <a:r>
              <a:rPr lang="en-AU" altLang="en-US" sz="1400" dirty="0" err="1">
                <a:ea typeface="ＭＳ Ｐゴシック" pitchFamily="34" charset="-128"/>
              </a:rPr>
              <a:t>personam</a:t>
            </a:r>
            <a:r>
              <a:rPr lang="en-AU" altLang="en-US" sz="1400" dirty="0">
                <a:ea typeface="ＭＳ Ｐゴシック" pitchFamily="34" charset="-128"/>
              </a:rPr>
              <a:t>).</a:t>
            </a:r>
          </a:p>
          <a:p>
            <a:pPr algn="just">
              <a:spcBef>
                <a:spcPts val="900"/>
              </a:spcBef>
              <a:buNone/>
              <a:defRPr/>
            </a:pPr>
            <a:r>
              <a:rPr lang="en-AU" altLang="en-US" sz="1400" dirty="0">
                <a:ea typeface="ＭＳ Ｐゴシック" pitchFamily="34" charset="-128"/>
              </a:rPr>
              <a:t>The principle of indefeasibility ‘in no way denies the right of a plaintiff to bring against a registered proprietor a claim in personam, founded in law or in equity, for such relief as a court acting in personam may grant’: </a:t>
            </a:r>
            <a:r>
              <a:rPr lang="en-AU" altLang="en-US" sz="1400" i="1" dirty="0">
                <a:ea typeface="ＭＳ Ｐゴシック" pitchFamily="34" charset="-128"/>
              </a:rPr>
              <a:t>Frazer v Walker</a:t>
            </a:r>
            <a:r>
              <a:rPr lang="en-AU" altLang="en-US" sz="1400" dirty="0">
                <a:ea typeface="ＭＳ Ｐゴシック" pitchFamily="34" charset="-128"/>
              </a:rPr>
              <a:t> (1967) 1 AC 569.</a:t>
            </a:r>
          </a:p>
          <a:p>
            <a:pPr algn="just">
              <a:spcBef>
                <a:spcPts val="900"/>
              </a:spcBef>
              <a:buNone/>
            </a:pPr>
            <a:r>
              <a:rPr lang="en-US" altLang="en-US" sz="1400" dirty="0">
                <a:ea typeface="ＭＳ Ｐゴシック" panose="020B0600070205080204" pitchFamily="34" charset="-128"/>
              </a:rPr>
              <a:t>A right </a:t>
            </a:r>
            <a:r>
              <a:rPr lang="en-US" altLang="en-US" sz="1400" i="1" dirty="0">
                <a:ea typeface="ＭＳ Ｐゴシック" panose="020B0600070205080204" pitchFamily="34" charset="-128"/>
              </a:rPr>
              <a:t>in </a:t>
            </a:r>
            <a:r>
              <a:rPr lang="en-US" altLang="en-US" sz="1400" i="1" dirty="0" err="1">
                <a:ea typeface="ＭＳ Ｐゴシック" panose="020B0600070205080204" pitchFamily="34" charset="-128"/>
              </a:rPr>
              <a:t>personam</a:t>
            </a:r>
            <a:r>
              <a:rPr lang="en-US" altLang="en-US" sz="1400" i="1" dirty="0">
                <a:ea typeface="ＭＳ Ｐゴシック" panose="020B0600070205080204" pitchFamily="34" charset="-128"/>
              </a:rPr>
              <a:t> </a:t>
            </a:r>
            <a:r>
              <a:rPr lang="en-US" altLang="en-US" sz="1400" dirty="0">
                <a:ea typeface="ＭＳ Ｐゴシック" panose="020B0600070205080204" pitchFamily="34" charset="-128"/>
              </a:rPr>
              <a:t>must arise from the acts of the registered proprietor or of someone for whom he is legally responsible. </a:t>
            </a:r>
          </a:p>
          <a:p>
            <a:pPr algn="just">
              <a:spcBef>
                <a:spcPts val="900"/>
              </a:spcBef>
              <a:buNone/>
            </a:pPr>
            <a:r>
              <a:rPr lang="en-US" altLang="en-US" sz="1400" dirty="0">
                <a:ea typeface="ＭＳ Ｐゴシック" panose="020B0600070205080204" pitchFamily="34" charset="-128"/>
              </a:rPr>
              <a:t>The leading case is </a:t>
            </a:r>
            <a:r>
              <a:rPr lang="en-US" altLang="en-US" sz="1400" i="1" dirty="0">
                <a:ea typeface="ＭＳ Ｐゴシック" panose="020B0600070205080204" pitchFamily="34" charset="-128"/>
              </a:rPr>
              <a:t>Bahr v Nicolay (No 2)</a:t>
            </a:r>
            <a:r>
              <a:rPr lang="en-US" altLang="en-US" sz="1400" dirty="0">
                <a:ea typeface="ＭＳ Ｐゴシック" panose="020B0600070205080204" pitchFamily="34" charset="-128"/>
              </a:rPr>
              <a:t> – this case illustrates that unlike the fraud exception which is only in respect of conduct prior to registration (where you are trying to impugn title), the in personam exception can arise from the conduct of the registered proprietor </a:t>
            </a:r>
            <a:r>
              <a:rPr lang="en-US" altLang="en-US" sz="1400" i="1" u="sng" dirty="0">
                <a:solidFill>
                  <a:srgbClr val="FF0000"/>
                </a:solidFill>
                <a:ea typeface="ＭＳ Ｐゴシック" panose="020B0600070205080204" pitchFamily="34" charset="-128"/>
              </a:rPr>
              <a:t>either </a:t>
            </a:r>
            <a:r>
              <a:rPr lang="en-US" altLang="en-US" sz="1400" u="sng" dirty="0">
                <a:solidFill>
                  <a:srgbClr val="FF0000"/>
                </a:solidFill>
                <a:ea typeface="ＭＳ Ｐゴシック" panose="020B0600070205080204" pitchFamily="34" charset="-128"/>
              </a:rPr>
              <a:t>before </a:t>
            </a:r>
            <a:r>
              <a:rPr lang="en-US" altLang="en-US" sz="1400" i="1" u="sng" dirty="0">
                <a:solidFill>
                  <a:srgbClr val="FF0000"/>
                </a:solidFill>
                <a:ea typeface="ＭＳ Ｐゴシック" panose="020B0600070205080204" pitchFamily="34" charset="-128"/>
              </a:rPr>
              <a:t>or </a:t>
            </a:r>
            <a:r>
              <a:rPr lang="en-US" altLang="en-US" sz="1400" u="sng" dirty="0">
                <a:solidFill>
                  <a:srgbClr val="FF0000"/>
                </a:solidFill>
                <a:ea typeface="ＭＳ Ｐゴシック" panose="020B0600070205080204" pitchFamily="34" charset="-128"/>
              </a:rPr>
              <a:t>after registration </a:t>
            </a:r>
            <a:r>
              <a:rPr lang="en-US" altLang="en-US" sz="1400" u="sng" dirty="0">
                <a:ea typeface="ＭＳ Ｐゴシック" panose="020B0600070205080204" pitchFamily="34" charset="-128"/>
              </a:rPr>
              <a:t>(as the goal is not to impugn title, just to get damages).</a:t>
            </a:r>
            <a:endParaRPr lang="en-US" altLang="en-US" sz="1400" dirty="0">
              <a:ea typeface="ＭＳ Ｐゴシック" panose="020B0600070205080204" pitchFamily="34" charset="-128"/>
            </a:endParaRPr>
          </a:p>
          <a:p>
            <a:pPr algn="just">
              <a:spcBef>
                <a:spcPts val="900"/>
              </a:spcBef>
              <a:buNone/>
            </a:pPr>
            <a:endParaRPr lang="en-US" altLang="en-US" sz="1400" dirty="0">
              <a:ea typeface="ＭＳ Ｐゴシック" panose="020B0600070205080204" pitchFamily="34" charset="-128"/>
            </a:endParaRPr>
          </a:p>
          <a:p>
            <a:pPr algn="just">
              <a:spcBef>
                <a:spcPts val="900"/>
              </a:spcBef>
              <a:buNone/>
              <a:defRPr/>
            </a:pPr>
            <a:endParaRPr lang="en-AU" altLang="en-US" sz="900" dirty="0">
              <a:ea typeface="ＭＳ Ｐゴシック" pitchFamily="34" charset="-128"/>
            </a:endParaRPr>
          </a:p>
          <a:p>
            <a:pPr algn="just">
              <a:spcBef>
                <a:spcPts val="900"/>
              </a:spcBef>
              <a:buNone/>
              <a:defRPr/>
            </a:pPr>
            <a:endParaRPr lang="en-AU" altLang="en-US" sz="900" spc="23" dirty="0">
              <a:ea typeface="ＭＳ Ｐゴシック" pitchFamily="34" charset="-128"/>
            </a:endParaRPr>
          </a:p>
        </p:txBody>
      </p:sp>
      <p:sp>
        <p:nvSpPr>
          <p:cNvPr id="3" name="Title 2">
            <a:extLst>
              <a:ext uri="{FF2B5EF4-FFF2-40B4-BE49-F238E27FC236}">
                <a16:creationId xmlns:a16="http://schemas.microsoft.com/office/drawing/2014/main" id="{DBFB7CA8-1812-4B8F-B8E2-5E9FC526C77D}"/>
              </a:ext>
            </a:extLst>
          </p:cNvPr>
          <p:cNvSpPr>
            <a:spLocks noGrp="1"/>
          </p:cNvSpPr>
          <p:nvPr>
            <p:ph type="title"/>
          </p:nvPr>
        </p:nvSpPr>
        <p:spPr/>
        <p:txBody>
          <a:bodyPr>
            <a:normAutofit/>
          </a:bodyPr>
          <a:lstStyle/>
          <a:p>
            <a:pPr marL="535781" indent="-535781" algn="just">
              <a:spcBef>
                <a:spcPts val="900"/>
              </a:spcBef>
              <a:buNone/>
              <a:defRPr/>
            </a:pPr>
            <a:r>
              <a:rPr lang="en-AU" altLang="en-US" sz="1800" b="0" spc="23" dirty="0">
                <a:solidFill>
                  <a:schemeClr val="bg1"/>
                </a:solidFill>
                <a:ea typeface="ＭＳ Ｐゴシック" pitchFamily="34" charset="-128"/>
              </a:rPr>
              <a:t>Thank Goodness for … In </a:t>
            </a:r>
            <a:r>
              <a:rPr lang="en-AU" altLang="en-US" sz="1800" b="0" spc="23" dirty="0" err="1">
                <a:solidFill>
                  <a:schemeClr val="bg1"/>
                </a:solidFill>
                <a:ea typeface="ＭＳ Ｐゴシック" pitchFamily="34" charset="-128"/>
              </a:rPr>
              <a:t>Personam</a:t>
            </a:r>
            <a:r>
              <a:rPr lang="en-AU" altLang="en-US" sz="1800" b="0" spc="23" dirty="0">
                <a:solidFill>
                  <a:schemeClr val="bg1"/>
                </a:solidFill>
                <a:ea typeface="ＭＳ Ｐゴシック" pitchFamily="34" charset="-128"/>
              </a:rPr>
              <a:t> Rights</a:t>
            </a:r>
          </a:p>
        </p:txBody>
      </p:sp>
      <p:pic>
        <p:nvPicPr>
          <p:cNvPr id="7" name="Picture 6" descr="A person with his eyes closed&#10;&#10;Description automatically generated">
            <a:extLst>
              <a:ext uri="{FF2B5EF4-FFF2-40B4-BE49-F238E27FC236}">
                <a16:creationId xmlns:a16="http://schemas.microsoft.com/office/drawing/2014/main" id="{56FA9201-36D2-59A6-EE6B-4EBE0922F2FA}"/>
              </a:ext>
            </a:extLst>
          </p:cNvPr>
          <p:cNvPicPr>
            <a:picLocks noChangeAspect="1"/>
          </p:cNvPicPr>
          <p:nvPr/>
        </p:nvPicPr>
        <p:blipFill>
          <a:blip r:embed="rId2"/>
          <a:stretch>
            <a:fillRect/>
          </a:stretch>
        </p:blipFill>
        <p:spPr>
          <a:xfrm>
            <a:off x="4546833" y="957020"/>
            <a:ext cx="1963531" cy="2549578"/>
          </a:xfrm>
          <a:prstGeom prst="rect">
            <a:avLst/>
          </a:prstGeom>
        </p:spPr>
      </p:pic>
    </p:spTree>
    <p:extLst>
      <p:ext uri="{BB962C8B-B14F-4D97-AF65-F5344CB8AC3E}">
        <p14:creationId xmlns:p14="http://schemas.microsoft.com/office/powerpoint/2010/main" val="4246151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0CAE4D-E945-4A30-8F23-B01045B0CFFC}"/>
              </a:ext>
            </a:extLst>
          </p:cNvPr>
          <p:cNvSpPr>
            <a:spLocks noGrp="1"/>
          </p:cNvSpPr>
          <p:nvPr>
            <p:ph sz="half" idx="1"/>
          </p:nvPr>
        </p:nvSpPr>
        <p:spPr>
          <a:xfrm>
            <a:off x="144780" y="775608"/>
            <a:ext cx="4192327" cy="4124052"/>
          </a:xfrm>
        </p:spPr>
        <p:txBody>
          <a:bodyPr>
            <a:normAutofit fontScale="62500" lnSpcReduction="20000"/>
          </a:bodyPr>
          <a:lstStyle/>
          <a:p>
            <a:pPr marL="342900" indent="-342900" algn="just">
              <a:spcBef>
                <a:spcPts val="225"/>
              </a:spcBef>
              <a:buFont typeface="Arial" panose="020B0604020202020204" pitchFamily="34" charset="0"/>
              <a:buChar char="•"/>
            </a:pPr>
            <a:r>
              <a:rPr lang="en-AU" altLang="en-US" sz="2500" dirty="0">
                <a:ea typeface="ＭＳ Ｐゴシック" panose="020B0600070205080204" pitchFamily="34" charset="-128"/>
              </a:rPr>
              <a:t>Not defined in the TLA.</a:t>
            </a:r>
          </a:p>
          <a:p>
            <a:pPr marL="342900" indent="-342900" algn="just">
              <a:spcBef>
                <a:spcPts val="225"/>
              </a:spcBef>
              <a:buFont typeface="Arial" panose="020B0604020202020204" pitchFamily="34" charset="0"/>
              <a:buChar char="•"/>
            </a:pPr>
            <a:r>
              <a:rPr lang="en-AU" altLang="en-US" sz="2500" dirty="0">
                <a:ea typeface="ＭＳ Ｐゴシック" panose="020B0600070205080204" pitchFamily="34" charset="-128"/>
              </a:rPr>
              <a:t>A </a:t>
            </a:r>
            <a:r>
              <a:rPr lang="en-AU" altLang="en-US" sz="2500" b="1" dirty="0">
                <a:ea typeface="ＭＳ Ｐゴシック" panose="020B0600070205080204" pitchFamily="34" charset="-128"/>
              </a:rPr>
              <a:t>notice</a:t>
            </a:r>
            <a:r>
              <a:rPr lang="en-AU" altLang="en-US" sz="2500" dirty="0">
                <a:ea typeface="ＭＳ Ｐゴシック" panose="020B0600070205080204" pitchFamily="34" charset="-128"/>
              </a:rPr>
              <a:t> or </a:t>
            </a:r>
            <a:r>
              <a:rPr lang="en-AU" altLang="en-US" sz="2500" b="1" dirty="0">
                <a:ea typeface="ＭＳ Ｐゴシック" panose="020B0600070205080204" pitchFamily="34" charset="-128"/>
              </a:rPr>
              <a:t>caution</a:t>
            </a:r>
            <a:r>
              <a:rPr lang="en-AU" altLang="en-US" sz="2500" dirty="0">
                <a:ea typeface="ＭＳ Ｐゴシック" panose="020B0600070205080204" pitchFamily="34" charset="-128"/>
              </a:rPr>
              <a:t> recorded to protect an unregistered interest. </a:t>
            </a:r>
          </a:p>
          <a:p>
            <a:pPr marL="342900" indent="-342900" algn="just">
              <a:spcBef>
                <a:spcPts val="225"/>
              </a:spcBef>
              <a:buFont typeface="Arial" panose="020B0604020202020204" pitchFamily="34" charset="0"/>
              <a:buChar char="•"/>
            </a:pPr>
            <a:r>
              <a:rPr lang="en-AU" altLang="en-US" sz="2500" dirty="0">
                <a:ea typeface="ＭＳ Ｐゴシック" panose="020B0600070205080204" pitchFamily="34" charset="-128"/>
              </a:rPr>
              <a:t>Its main function is protective. </a:t>
            </a:r>
          </a:p>
          <a:p>
            <a:pPr algn="just">
              <a:spcBef>
                <a:spcPts val="225"/>
              </a:spcBef>
              <a:buNone/>
            </a:pPr>
            <a:r>
              <a:rPr lang="en-AU" altLang="en-US" sz="2500" dirty="0">
                <a:ea typeface="ＭＳ Ｐゴシック" panose="020B0600070205080204" pitchFamily="34" charset="-128"/>
              </a:rPr>
              <a:t>It operates as a claim by someone that he/she shall receive notice before any dealing with the land is carried through, and it will either:</a:t>
            </a:r>
          </a:p>
          <a:p>
            <a:pPr marL="171450" indent="-171450" algn="just">
              <a:spcBef>
                <a:spcPts val="225"/>
              </a:spcBef>
              <a:buFont typeface="Arial" panose="020B0604020202020204" pitchFamily="34" charset="0"/>
              <a:buChar char="•"/>
            </a:pPr>
            <a:r>
              <a:rPr lang="en-AU" altLang="en-US" sz="2500" b="1" dirty="0">
                <a:ea typeface="ＭＳ Ｐゴシック" panose="020B0600070205080204" pitchFamily="34" charset="-128"/>
              </a:rPr>
              <a:t>forbid registration of any further interests </a:t>
            </a:r>
            <a:r>
              <a:rPr lang="en-AU" altLang="en-US" sz="2500" dirty="0">
                <a:ea typeface="ＭＳ Ｐゴシック" panose="020B0600070205080204" pitchFamily="34" charset="-128"/>
              </a:rPr>
              <a:t>that may affect the interest recorded in the caveat without the caveator’s consent </a:t>
            </a:r>
            <a:r>
              <a:rPr lang="en-AU" altLang="en-US" sz="2500" b="1" dirty="0">
                <a:ea typeface="ＭＳ Ｐゴシック" panose="020B0600070205080204" pitchFamily="34" charset="-128"/>
              </a:rPr>
              <a:t>(absolute caveat</a:t>
            </a:r>
            <a:r>
              <a:rPr lang="en-AU" altLang="en-US" sz="2500" dirty="0">
                <a:ea typeface="ＭＳ Ｐゴシック" panose="020B0600070205080204" pitchFamily="34" charset="-128"/>
              </a:rPr>
              <a:t>); or</a:t>
            </a:r>
          </a:p>
          <a:p>
            <a:pPr marL="171450" indent="-171450" algn="just">
              <a:spcBef>
                <a:spcPts val="225"/>
              </a:spcBef>
              <a:buFont typeface="Arial" panose="020B0604020202020204" pitchFamily="34" charset="0"/>
              <a:buChar char="•"/>
            </a:pPr>
            <a:r>
              <a:rPr lang="en-AU" altLang="en-US" sz="2500" b="1" dirty="0">
                <a:ea typeface="ＭＳ Ｐゴシック" panose="020B0600070205080204" pitchFamily="34" charset="-128"/>
              </a:rPr>
              <a:t>dealing is permitted to go ahead subject to the caveator’s claim </a:t>
            </a:r>
            <a:r>
              <a:rPr lang="en-AU" altLang="en-US" sz="2500" dirty="0">
                <a:ea typeface="ＭＳ Ｐゴシック" panose="020B0600070205080204" pitchFamily="34" charset="-128"/>
              </a:rPr>
              <a:t>(</a:t>
            </a:r>
            <a:r>
              <a:rPr lang="en-AU" altLang="en-US" sz="2500" b="1" dirty="0">
                <a:ea typeface="ＭＳ Ｐゴシック" panose="020B0600070205080204" pitchFamily="34" charset="-128"/>
              </a:rPr>
              <a:t>subject to claim caveat).</a:t>
            </a:r>
            <a:endParaRPr lang="en-AU" altLang="en-US" sz="2500" dirty="0">
              <a:ea typeface="ＭＳ Ｐゴシック" panose="020B0600070205080204" pitchFamily="34" charset="-128"/>
            </a:endParaRPr>
          </a:p>
          <a:p>
            <a:pPr algn="just">
              <a:spcBef>
                <a:spcPts val="225"/>
              </a:spcBef>
              <a:buNone/>
            </a:pPr>
            <a:r>
              <a:rPr lang="en-AU" altLang="en-US" sz="2500" dirty="0">
                <a:ea typeface="ＭＳ Ｐゴシック" panose="020B0600070205080204" pitchFamily="34" charset="-128"/>
              </a:rPr>
              <a:t>A caveat is a notice or warning and although it must support an interest in land (a </a:t>
            </a:r>
            <a:r>
              <a:rPr lang="en-AU" altLang="en-US" sz="2500" dirty="0" err="1">
                <a:ea typeface="ＭＳ Ｐゴシック" panose="020B0600070205080204" pitchFamily="34" charset="-128"/>
              </a:rPr>
              <a:t>caveatable</a:t>
            </a:r>
            <a:r>
              <a:rPr lang="en-AU" altLang="en-US" sz="2500" dirty="0">
                <a:ea typeface="ＭＳ Ｐゴシック" panose="020B0600070205080204" pitchFamily="34" charset="-128"/>
              </a:rPr>
              <a:t> interest) </a:t>
            </a:r>
            <a:r>
              <a:rPr lang="en-AU" altLang="en-US" sz="2500" b="1" dirty="0">
                <a:ea typeface="ＭＳ Ｐゴシック" panose="020B0600070205080204" pitchFamily="34" charset="-128"/>
              </a:rPr>
              <a:t>it does not in itself create an interest</a:t>
            </a:r>
            <a:r>
              <a:rPr lang="en-AU" altLang="en-US" sz="2500" dirty="0">
                <a:ea typeface="ＭＳ Ｐゴシック" panose="020B0600070205080204" pitchFamily="34" charset="-128"/>
              </a:rPr>
              <a:t>.</a:t>
            </a:r>
          </a:p>
          <a:p>
            <a:pPr algn="just">
              <a:spcBef>
                <a:spcPts val="225"/>
              </a:spcBef>
              <a:buNone/>
            </a:pPr>
            <a:endParaRPr lang="en-AU" altLang="en-US" sz="2200" i="1" dirty="0">
              <a:ea typeface="ＭＳ Ｐゴシック" panose="020B0600070205080204" pitchFamily="34" charset="-128"/>
            </a:endParaRPr>
          </a:p>
          <a:p>
            <a:pPr algn="just">
              <a:spcBef>
                <a:spcPts val="225"/>
              </a:spcBef>
              <a:buNone/>
            </a:pPr>
            <a:endParaRPr lang="en-AU" altLang="en-US" sz="2200" i="1" dirty="0">
              <a:ea typeface="ＭＳ Ｐゴシック" panose="020B0600070205080204" pitchFamily="34" charset="-128"/>
            </a:endParaRPr>
          </a:p>
          <a:p>
            <a:pPr algn="just">
              <a:spcBef>
                <a:spcPts val="225"/>
              </a:spcBef>
              <a:buNone/>
            </a:pPr>
            <a:endParaRPr lang="en-AU" altLang="en-US" sz="2200" i="1" dirty="0">
              <a:ea typeface="ＭＳ Ｐゴシック" panose="020B0600070205080204" pitchFamily="34" charset="-128"/>
            </a:endParaRPr>
          </a:p>
          <a:p>
            <a:pPr algn="just">
              <a:spcBef>
                <a:spcPts val="225"/>
              </a:spcBef>
              <a:buNone/>
            </a:pPr>
            <a:endParaRPr lang="en-AU" altLang="en-US" sz="2200" i="1" dirty="0">
              <a:ea typeface="ＭＳ Ｐゴシック" panose="020B0600070205080204" pitchFamily="34" charset="-128"/>
            </a:endParaRPr>
          </a:p>
          <a:p>
            <a:pPr algn="just">
              <a:spcBef>
                <a:spcPts val="900"/>
              </a:spcBef>
              <a:buNone/>
            </a:pPr>
            <a:endParaRPr lang="en-US" altLang="en-US" sz="900" dirty="0">
              <a:ea typeface="ＭＳ Ｐゴシック" panose="020B0600070205080204" pitchFamily="34" charset="-128"/>
            </a:endParaRPr>
          </a:p>
        </p:txBody>
      </p:sp>
      <p:sp>
        <p:nvSpPr>
          <p:cNvPr id="3" name="Title 2">
            <a:extLst>
              <a:ext uri="{FF2B5EF4-FFF2-40B4-BE49-F238E27FC236}">
                <a16:creationId xmlns:a16="http://schemas.microsoft.com/office/drawing/2014/main" id="{DBFB7CA8-1812-4B8F-B8E2-5E9FC526C77D}"/>
              </a:ext>
            </a:extLst>
          </p:cNvPr>
          <p:cNvSpPr>
            <a:spLocks noGrp="1"/>
          </p:cNvSpPr>
          <p:nvPr>
            <p:ph type="title"/>
          </p:nvPr>
        </p:nvSpPr>
        <p:spPr/>
        <p:txBody>
          <a:bodyPr>
            <a:normAutofit/>
          </a:bodyPr>
          <a:lstStyle/>
          <a:p>
            <a:pPr marL="535781" indent="-535781" algn="just">
              <a:spcBef>
                <a:spcPts val="900"/>
              </a:spcBef>
              <a:buNone/>
              <a:defRPr/>
            </a:pPr>
            <a:r>
              <a:rPr lang="en-AU" altLang="en-US" sz="1800" b="0" spc="23" dirty="0">
                <a:solidFill>
                  <a:schemeClr val="bg1"/>
                </a:solidFill>
                <a:ea typeface="ＭＳ Ｐゴシック" pitchFamily="34" charset="-128"/>
              </a:rPr>
              <a:t>Caveats R Us!</a:t>
            </a:r>
          </a:p>
        </p:txBody>
      </p:sp>
      <p:pic>
        <p:nvPicPr>
          <p:cNvPr id="2052" name="Picture 4" descr="Best Danger Will Robinson GIFs | Gfycat">
            <a:extLst>
              <a:ext uri="{FF2B5EF4-FFF2-40B4-BE49-F238E27FC236}">
                <a16:creationId xmlns:a16="http://schemas.microsoft.com/office/drawing/2014/main" id="{78748152-F1A7-4F05-B826-B7776E6D523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4726" y="775608"/>
            <a:ext cx="2011680" cy="341049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6C7631B-AA0E-A1CC-46C2-8F835F726B52}"/>
              </a:ext>
            </a:extLst>
          </p:cNvPr>
          <p:cNvSpPr txBox="1"/>
          <p:nvPr/>
        </p:nvSpPr>
        <p:spPr>
          <a:xfrm>
            <a:off x="4574726" y="4211273"/>
            <a:ext cx="2011680" cy="941283"/>
          </a:xfrm>
          <a:prstGeom prst="rect">
            <a:avLst/>
          </a:prstGeom>
          <a:noFill/>
        </p:spPr>
        <p:txBody>
          <a:bodyPr wrap="square" rtlCol="0">
            <a:spAutoFit/>
          </a:bodyPr>
          <a:lstStyle/>
          <a:p>
            <a:pPr algn="just">
              <a:spcBef>
                <a:spcPts val="225"/>
              </a:spcBef>
              <a:buNone/>
            </a:pPr>
            <a:r>
              <a:rPr lang="en-AU" altLang="en-US" sz="1000" i="1" dirty="0">
                <a:ea typeface="ＭＳ Ｐゴシック" panose="020B0600070205080204" pitchFamily="34" charset="-128"/>
              </a:rPr>
              <a:t>Warning, warning – danger, Will Robinson!</a:t>
            </a:r>
          </a:p>
          <a:p>
            <a:pPr algn="just">
              <a:spcBef>
                <a:spcPts val="225"/>
              </a:spcBef>
              <a:buNone/>
            </a:pPr>
            <a:r>
              <a:rPr lang="en-AU" altLang="en-US" sz="1000" dirty="0">
                <a:ea typeface="ＭＳ Ｐゴシック" panose="020B0600070205080204" pitchFamily="34" charset="-128"/>
              </a:rPr>
              <a:t>Sounds better than ‘Caveat, Caveat – danger Will Robinson!’</a:t>
            </a:r>
          </a:p>
          <a:p>
            <a:endParaRPr lang="en-AU" dirty="0"/>
          </a:p>
        </p:txBody>
      </p:sp>
    </p:spTree>
    <p:extLst>
      <p:ext uri="{BB962C8B-B14F-4D97-AF65-F5344CB8AC3E}">
        <p14:creationId xmlns:p14="http://schemas.microsoft.com/office/powerpoint/2010/main" val="8835185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0CAE4D-E945-4A30-8F23-B01045B0CFFC}"/>
              </a:ext>
            </a:extLst>
          </p:cNvPr>
          <p:cNvSpPr>
            <a:spLocks noGrp="1"/>
          </p:cNvSpPr>
          <p:nvPr>
            <p:ph sz="half" idx="1"/>
          </p:nvPr>
        </p:nvSpPr>
        <p:spPr>
          <a:xfrm>
            <a:off x="99061" y="624840"/>
            <a:ext cx="4008120" cy="4427220"/>
          </a:xfrm>
        </p:spPr>
        <p:txBody>
          <a:bodyPr>
            <a:normAutofit fontScale="92500"/>
          </a:bodyPr>
          <a:lstStyle/>
          <a:p>
            <a:pPr marL="360363" indent="-360363" algn="just">
              <a:spcBef>
                <a:spcPts val="225"/>
              </a:spcBef>
              <a:buNone/>
            </a:pPr>
            <a:r>
              <a:rPr lang="en-US" altLang="en-US" sz="1400" dirty="0">
                <a:ea typeface="ＭＳ Ｐゴシック" panose="020B0600070205080204" pitchFamily="34" charset="-128"/>
              </a:rPr>
              <a:t>136K Term used: section 138A caveat; application of this Part</a:t>
            </a:r>
          </a:p>
          <a:p>
            <a:pPr marL="360363" indent="-360363" algn="just">
              <a:spcBef>
                <a:spcPts val="225"/>
              </a:spcBef>
              <a:buNone/>
            </a:pPr>
            <a:r>
              <a:rPr lang="en-US" altLang="en-US" sz="1400" dirty="0">
                <a:ea typeface="ＭＳ Ｐゴシック" panose="020B0600070205080204" pitchFamily="34" charset="-128"/>
              </a:rPr>
              <a:t>137 Lodging caveats for land already under this Act</a:t>
            </a:r>
          </a:p>
          <a:p>
            <a:pPr marL="360363" indent="-360363" algn="just">
              <a:spcBef>
                <a:spcPts val="225"/>
              </a:spcBef>
              <a:buNone/>
            </a:pPr>
            <a:r>
              <a:rPr lang="en-AU" altLang="en-US" sz="1400" dirty="0">
                <a:ea typeface="ＭＳ Ｐゴシック" panose="020B0600070205080204" pitchFamily="34" charset="-128"/>
              </a:rPr>
              <a:t>138 Consequences of lodging caveat</a:t>
            </a:r>
          </a:p>
          <a:p>
            <a:pPr marL="360363" indent="-360363" algn="just">
              <a:spcBef>
                <a:spcPts val="225"/>
              </a:spcBef>
              <a:buNone/>
            </a:pPr>
            <a:r>
              <a:rPr lang="en-US" altLang="en-US" sz="1400" dirty="0">
                <a:ea typeface="ＭＳ Ｐゴシック" panose="020B0600070205080204" pitchFamily="34" charset="-128"/>
              </a:rPr>
              <a:t>138A. Caveats to which s. 138B to 138D apply</a:t>
            </a:r>
          </a:p>
          <a:p>
            <a:pPr marL="360363" indent="-360363" algn="just">
              <a:spcBef>
                <a:spcPts val="225"/>
              </a:spcBef>
              <a:buNone/>
            </a:pPr>
            <a:r>
              <a:rPr lang="en-US" altLang="en-US" sz="1400" b="1" dirty="0">
                <a:ea typeface="ＭＳ Ｐゴシック" panose="020B0600070205080204" pitchFamily="34" charset="-128"/>
              </a:rPr>
              <a:t>138B. Requiring caveator to seek court order extending s. 138A caveat</a:t>
            </a:r>
          </a:p>
          <a:p>
            <a:pPr marL="360363" indent="-360363" algn="just">
              <a:spcBef>
                <a:spcPts val="225"/>
              </a:spcBef>
              <a:buNone/>
            </a:pPr>
            <a:r>
              <a:rPr lang="en-US" altLang="en-US" sz="1400" dirty="0">
                <a:ea typeface="ＭＳ Ｐゴシック" panose="020B0600070205080204" pitchFamily="34" charset="-128"/>
              </a:rPr>
              <a:t>138C. Supreme Court’s powers on application by caveator</a:t>
            </a:r>
          </a:p>
          <a:p>
            <a:pPr marL="360363" indent="-360363" algn="just">
              <a:spcBef>
                <a:spcPts val="225"/>
              </a:spcBef>
              <a:buNone/>
            </a:pPr>
            <a:r>
              <a:rPr lang="en-US" altLang="en-US" sz="1400" dirty="0">
                <a:ea typeface="ＭＳ Ｐゴシック" panose="020B0600070205080204" pitchFamily="34" charset="-128"/>
              </a:rPr>
              <a:t>138D. Restrictions on caveators lodging further s. 138A caveats</a:t>
            </a:r>
          </a:p>
          <a:p>
            <a:pPr marL="360363" indent="-360363" algn="just">
              <a:spcBef>
                <a:spcPts val="225"/>
              </a:spcBef>
              <a:buNone/>
            </a:pPr>
            <a:r>
              <a:rPr lang="en-AU" altLang="en-US" sz="1400" dirty="0">
                <a:ea typeface="ＭＳ Ｐゴシック" panose="020B0600070205080204" pitchFamily="34" charset="-128"/>
              </a:rPr>
              <a:t>139. Effect of caveats</a:t>
            </a:r>
          </a:p>
          <a:p>
            <a:pPr marL="360363" indent="-360363" algn="just">
              <a:spcBef>
                <a:spcPts val="225"/>
              </a:spcBef>
              <a:buNone/>
            </a:pPr>
            <a:r>
              <a:rPr lang="en-US" altLang="en-US" sz="1400" b="1" dirty="0">
                <a:ea typeface="ＭＳ Ｐゴシック" panose="020B0600070205080204" pitchFamily="34" charset="-128"/>
              </a:rPr>
              <a:t>140. Compensation for caveat lodged without reasonable cause</a:t>
            </a:r>
          </a:p>
          <a:p>
            <a:pPr marL="360363" indent="-360363" algn="just">
              <a:spcBef>
                <a:spcPts val="225"/>
              </a:spcBef>
              <a:buNone/>
            </a:pPr>
            <a:r>
              <a:rPr lang="en-US" altLang="en-US" sz="1400" dirty="0">
                <a:ea typeface="ＭＳ Ｐゴシック" panose="020B0600070205080204" pitchFamily="34" charset="-128"/>
              </a:rPr>
              <a:t>141. Registrar’s duties when caveat lodged or lapse</a:t>
            </a:r>
          </a:p>
          <a:p>
            <a:pPr marL="360363" indent="-360363" algn="just">
              <a:spcBef>
                <a:spcPts val="225"/>
              </a:spcBef>
              <a:buNone/>
            </a:pPr>
            <a:r>
              <a:rPr lang="en-US" altLang="en-US" sz="1400" dirty="0">
                <a:ea typeface="ＭＳ Ｐゴシック" panose="020B0600070205080204" pitchFamily="34" charset="-128"/>
              </a:rPr>
              <a:t>141A. Requiring caveators to withdraw caveats or substantiate their claims</a:t>
            </a:r>
          </a:p>
          <a:p>
            <a:pPr marL="360363" indent="-360363" algn="just">
              <a:spcBef>
                <a:spcPts val="225"/>
              </a:spcBef>
              <a:buNone/>
            </a:pPr>
            <a:r>
              <a:rPr lang="en-US" altLang="en-US" sz="1400" dirty="0">
                <a:ea typeface="ＭＳ Ｐゴシック" panose="020B0600070205080204" pitchFamily="34" charset="-128"/>
              </a:rPr>
              <a:t>142. Caveat on behalf of beneficiary under will or settlement does not bar registration in certain cases</a:t>
            </a:r>
            <a:endParaRPr lang="en-AU" altLang="en-US" sz="1400" dirty="0">
              <a:ea typeface="ＭＳ Ｐゴシック" panose="020B0600070205080204" pitchFamily="34" charset="-128"/>
            </a:endParaRPr>
          </a:p>
          <a:p>
            <a:pPr algn="just">
              <a:spcBef>
                <a:spcPts val="900"/>
              </a:spcBef>
              <a:buNone/>
            </a:pPr>
            <a:endParaRPr lang="en-US" altLang="en-US" dirty="0">
              <a:ea typeface="ＭＳ Ｐゴシック" panose="020B0600070205080204" pitchFamily="34" charset="-128"/>
            </a:endParaRPr>
          </a:p>
          <a:p>
            <a:pPr algn="just">
              <a:spcBef>
                <a:spcPts val="900"/>
              </a:spcBef>
              <a:buNone/>
            </a:pPr>
            <a:endParaRPr lang="en-US" altLang="en-US" dirty="0">
              <a:ea typeface="ＭＳ Ｐゴシック" panose="020B0600070205080204" pitchFamily="34" charset="-128"/>
            </a:endParaRPr>
          </a:p>
          <a:p>
            <a:pPr algn="just">
              <a:spcBef>
                <a:spcPts val="900"/>
              </a:spcBef>
              <a:buNone/>
            </a:pPr>
            <a:endParaRPr lang="en-US" altLang="en-US" sz="900" dirty="0">
              <a:ea typeface="ＭＳ Ｐゴシック" panose="020B0600070205080204" pitchFamily="34" charset="-128"/>
            </a:endParaRPr>
          </a:p>
          <a:p>
            <a:pPr algn="just">
              <a:spcBef>
                <a:spcPts val="900"/>
              </a:spcBef>
              <a:buNone/>
            </a:pPr>
            <a:endParaRPr lang="en-US" altLang="en-US" dirty="0">
              <a:ea typeface="ＭＳ Ｐゴシック" panose="020B0600070205080204" pitchFamily="34" charset="-128"/>
            </a:endParaRPr>
          </a:p>
          <a:p>
            <a:pPr algn="just">
              <a:spcBef>
                <a:spcPts val="900"/>
              </a:spcBef>
              <a:buNone/>
            </a:pPr>
            <a:endParaRPr lang="en-US" altLang="en-US" sz="900" dirty="0">
              <a:ea typeface="ＭＳ Ｐゴシック" panose="020B0600070205080204" pitchFamily="34" charset="-128"/>
            </a:endParaRPr>
          </a:p>
          <a:p>
            <a:pPr algn="just">
              <a:spcBef>
                <a:spcPts val="900"/>
              </a:spcBef>
              <a:buNone/>
              <a:defRPr/>
            </a:pPr>
            <a:endParaRPr lang="en-AU" altLang="en-US" sz="900" dirty="0">
              <a:ea typeface="ＭＳ Ｐゴシック" pitchFamily="34" charset="-128"/>
            </a:endParaRPr>
          </a:p>
          <a:p>
            <a:pPr algn="just">
              <a:spcBef>
                <a:spcPts val="900"/>
              </a:spcBef>
              <a:buNone/>
              <a:defRPr/>
            </a:pPr>
            <a:endParaRPr lang="en-AU" altLang="en-US" sz="900" spc="23" dirty="0">
              <a:ea typeface="ＭＳ Ｐゴシック" pitchFamily="34" charset="-128"/>
            </a:endParaRPr>
          </a:p>
        </p:txBody>
      </p:sp>
      <p:sp>
        <p:nvSpPr>
          <p:cNvPr id="3" name="Title 2">
            <a:extLst>
              <a:ext uri="{FF2B5EF4-FFF2-40B4-BE49-F238E27FC236}">
                <a16:creationId xmlns:a16="http://schemas.microsoft.com/office/drawing/2014/main" id="{DBFB7CA8-1812-4B8F-B8E2-5E9FC526C77D}"/>
              </a:ext>
            </a:extLst>
          </p:cNvPr>
          <p:cNvSpPr>
            <a:spLocks noGrp="1"/>
          </p:cNvSpPr>
          <p:nvPr>
            <p:ph type="title"/>
          </p:nvPr>
        </p:nvSpPr>
        <p:spPr/>
        <p:txBody>
          <a:bodyPr>
            <a:normAutofit/>
          </a:bodyPr>
          <a:lstStyle/>
          <a:p>
            <a:pPr marL="535781" indent="-535781" algn="just">
              <a:spcBef>
                <a:spcPts val="900"/>
              </a:spcBef>
              <a:buNone/>
              <a:defRPr/>
            </a:pPr>
            <a:r>
              <a:rPr lang="en-AU" altLang="en-US" sz="1800" b="0" spc="23" dirty="0">
                <a:solidFill>
                  <a:schemeClr val="bg1"/>
                </a:solidFill>
                <a:ea typeface="ＭＳ Ｐゴシック" pitchFamily="34" charset="-128"/>
              </a:rPr>
              <a:t>Caveats – TLA Provision Part V</a:t>
            </a:r>
          </a:p>
        </p:txBody>
      </p:sp>
      <p:pic>
        <p:nvPicPr>
          <p:cNvPr id="5" name="Picture 4" descr="A person sitting at a table with a glass of beer&#10;&#10;Description automatically generated">
            <a:extLst>
              <a:ext uri="{FF2B5EF4-FFF2-40B4-BE49-F238E27FC236}">
                <a16:creationId xmlns:a16="http://schemas.microsoft.com/office/drawing/2014/main" id="{DC3C371E-D700-CEC9-A1B1-735673BC0446}"/>
              </a:ext>
            </a:extLst>
          </p:cNvPr>
          <p:cNvPicPr>
            <a:picLocks noChangeAspect="1"/>
          </p:cNvPicPr>
          <p:nvPr/>
        </p:nvPicPr>
        <p:blipFill>
          <a:blip r:embed="rId2"/>
          <a:stretch>
            <a:fillRect/>
          </a:stretch>
        </p:blipFill>
        <p:spPr>
          <a:xfrm>
            <a:off x="4598181" y="624840"/>
            <a:ext cx="1768792" cy="1616393"/>
          </a:xfrm>
          <a:prstGeom prst="rect">
            <a:avLst/>
          </a:prstGeom>
        </p:spPr>
      </p:pic>
      <p:pic>
        <p:nvPicPr>
          <p:cNvPr id="7" name="Picture 6" descr="A person holding an object&#10;&#10;Description automatically generated">
            <a:extLst>
              <a:ext uri="{FF2B5EF4-FFF2-40B4-BE49-F238E27FC236}">
                <a16:creationId xmlns:a16="http://schemas.microsoft.com/office/drawing/2014/main" id="{8CB42292-C00B-C778-82C5-9AFF50128F5A}"/>
              </a:ext>
            </a:extLst>
          </p:cNvPr>
          <p:cNvPicPr>
            <a:picLocks noChangeAspect="1"/>
          </p:cNvPicPr>
          <p:nvPr/>
        </p:nvPicPr>
        <p:blipFill>
          <a:blip r:embed="rId3"/>
          <a:stretch>
            <a:fillRect/>
          </a:stretch>
        </p:blipFill>
        <p:spPr>
          <a:xfrm>
            <a:off x="4598182" y="2303704"/>
            <a:ext cx="1768791" cy="1878330"/>
          </a:xfrm>
          <a:prstGeom prst="rect">
            <a:avLst/>
          </a:prstGeom>
        </p:spPr>
      </p:pic>
      <p:sp>
        <p:nvSpPr>
          <p:cNvPr id="4" name="TextBox 3">
            <a:extLst>
              <a:ext uri="{FF2B5EF4-FFF2-40B4-BE49-F238E27FC236}">
                <a16:creationId xmlns:a16="http://schemas.microsoft.com/office/drawing/2014/main" id="{4662C97C-1137-FFBE-EAE9-3497524117BB}"/>
              </a:ext>
            </a:extLst>
          </p:cNvPr>
          <p:cNvSpPr txBox="1"/>
          <p:nvPr/>
        </p:nvSpPr>
        <p:spPr>
          <a:xfrm>
            <a:off x="4598181" y="4227727"/>
            <a:ext cx="1768792" cy="1069524"/>
          </a:xfrm>
          <a:prstGeom prst="rect">
            <a:avLst/>
          </a:prstGeom>
          <a:noFill/>
        </p:spPr>
        <p:txBody>
          <a:bodyPr wrap="square" rtlCol="0">
            <a:spAutoFit/>
          </a:bodyPr>
          <a:lstStyle/>
          <a:p>
            <a:r>
              <a:rPr lang="en-US" altLang="en-US" sz="1000" dirty="0">
                <a:ea typeface="ＭＳ Ｐゴシック" panose="020B0600070205080204" pitchFamily="34" charset="-128"/>
              </a:rPr>
              <a:t>The caveat (‘Just lodge a caveat, mate’). A </a:t>
            </a:r>
            <a:r>
              <a:rPr lang="en-US" altLang="en-US" sz="1000" dirty="0" err="1">
                <a:ea typeface="ＭＳ Ｐゴシック" panose="020B0600070205080204" pitchFamily="34" charset="-128"/>
              </a:rPr>
              <a:t>favourite</a:t>
            </a:r>
            <a:r>
              <a:rPr lang="en-US" altLang="en-US" sz="1000" dirty="0">
                <a:ea typeface="ＭＳ Ｐゴシック" panose="020B0600070205080204" pitchFamily="34" charset="-128"/>
              </a:rPr>
              <a:t> of bar stool punters, but, as John Wick will tell you, there are consequences!</a:t>
            </a:r>
          </a:p>
          <a:p>
            <a:endParaRPr lang="en-AU" dirty="0"/>
          </a:p>
        </p:txBody>
      </p:sp>
    </p:spTree>
    <p:extLst>
      <p:ext uri="{BB962C8B-B14F-4D97-AF65-F5344CB8AC3E}">
        <p14:creationId xmlns:p14="http://schemas.microsoft.com/office/powerpoint/2010/main" val="59336543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0CAE4D-E945-4A30-8F23-B01045B0CFFC}"/>
              </a:ext>
            </a:extLst>
          </p:cNvPr>
          <p:cNvSpPr>
            <a:spLocks noGrp="1"/>
          </p:cNvSpPr>
          <p:nvPr>
            <p:ph sz="half" idx="1"/>
          </p:nvPr>
        </p:nvSpPr>
        <p:spPr>
          <a:xfrm>
            <a:off x="259348" y="700342"/>
            <a:ext cx="6024005" cy="3742815"/>
          </a:xfrm>
        </p:spPr>
        <p:txBody>
          <a:bodyPr>
            <a:normAutofit lnSpcReduction="10000"/>
          </a:bodyPr>
          <a:lstStyle/>
          <a:p>
            <a:pPr algn="just">
              <a:spcBef>
                <a:spcPts val="450"/>
              </a:spcBef>
              <a:buNone/>
            </a:pPr>
            <a:r>
              <a:rPr lang="en-AU" altLang="en-US" sz="1800" dirty="0">
                <a:ea typeface="ＭＳ Ｐゴシック" panose="020B0600070205080204" pitchFamily="34" charset="-128"/>
              </a:rPr>
              <a:t>Sometimes failure to register a caveat is relevant, sometimes it is  irrelevant. </a:t>
            </a:r>
          </a:p>
          <a:p>
            <a:pPr algn="just">
              <a:spcBef>
                <a:spcPts val="450"/>
              </a:spcBef>
              <a:buNone/>
            </a:pPr>
            <a:r>
              <a:rPr lang="en-AU" altLang="en-US" sz="1800" dirty="0">
                <a:ea typeface="ＭＳ Ｐゴシック" panose="020B0600070205080204" pitchFamily="34" charset="-128"/>
              </a:rPr>
              <a:t>For example: Will a failure to lodge a caveat be seen as conduct that postpones your equitable interest to a later equitable interest?</a:t>
            </a:r>
          </a:p>
          <a:p>
            <a:pPr algn="just">
              <a:spcBef>
                <a:spcPts val="450"/>
              </a:spcBef>
              <a:buNone/>
            </a:pPr>
            <a:r>
              <a:rPr lang="en-AU" altLang="en-US" sz="1800" dirty="0">
                <a:ea typeface="ＭＳ Ｐゴシック" panose="020B0600070205080204" pitchFamily="34" charset="-128"/>
              </a:rPr>
              <a:t>A number of factors will be considered to decide, in fairness and justice, whether the failure means that an unregistered equitable interest cannot take priority over a subsequent registered (legal) interest; </a:t>
            </a:r>
            <a:r>
              <a:rPr lang="en-AU" altLang="en-US" sz="1800" i="1" dirty="0">
                <a:ea typeface="ＭＳ Ｐゴシック" panose="020B0600070205080204" pitchFamily="34" charset="-128"/>
              </a:rPr>
              <a:t>Jacobs v Platt Nominees</a:t>
            </a:r>
            <a:r>
              <a:rPr lang="en-AU" altLang="en-US" sz="1800" dirty="0">
                <a:ea typeface="ＭＳ Ｐゴシック" panose="020B0600070205080204" pitchFamily="34" charset="-128"/>
              </a:rPr>
              <a:t> case.</a:t>
            </a:r>
          </a:p>
          <a:p>
            <a:pPr algn="just">
              <a:spcBef>
                <a:spcPts val="450"/>
              </a:spcBef>
              <a:buNone/>
            </a:pPr>
            <a:r>
              <a:rPr lang="en-AU" altLang="en-US" sz="1800" dirty="0">
                <a:ea typeface="ＭＳ Ｐゴシック" panose="020B0600070205080204" pitchFamily="34" charset="-128"/>
              </a:rPr>
              <a:t>High Court’s latest approach - </a:t>
            </a:r>
            <a:r>
              <a:rPr lang="en-AU" altLang="en-US" sz="1800" i="1" dirty="0">
                <a:ea typeface="ＭＳ Ｐゴシック" panose="020B0600070205080204" pitchFamily="34" charset="-128"/>
              </a:rPr>
              <a:t>Black v Garnock </a:t>
            </a:r>
            <a:r>
              <a:rPr lang="en-AU" altLang="en-US" sz="1800" dirty="0">
                <a:ea typeface="ＭＳ Ｐゴシック" panose="020B0600070205080204" pitchFamily="34" charset="-128"/>
              </a:rPr>
              <a:t>(2007) 230 CLR 438, which shows the importance of registering a caveat.</a:t>
            </a:r>
          </a:p>
          <a:p>
            <a:pPr algn="just">
              <a:spcBef>
                <a:spcPts val="225"/>
              </a:spcBef>
              <a:buNone/>
            </a:pPr>
            <a:endParaRPr lang="en-US" altLang="en-US" sz="900" dirty="0">
              <a:ea typeface="ＭＳ Ｐゴシック" panose="020B0600070205080204" pitchFamily="34" charset="-128"/>
            </a:endParaRPr>
          </a:p>
          <a:p>
            <a:pPr algn="just">
              <a:spcBef>
                <a:spcPts val="900"/>
              </a:spcBef>
              <a:buNone/>
            </a:pPr>
            <a:endParaRPr lang="en-US" altLang="en-US" sz="900" dirty="0">
              <a:ea typeface="ＭＳ Ｐゴシック" panose="020B0600070205080204" pitchFamily="34" charset="-128"/>
            </a:endParaRPr>
          </a:p>
          <a:p>
            <a:pPr algn="just">
              <a:spcBef>
                <a:spcPts val="900"/>
              </a:spcBef>
              <a:buNone/>
              <a:defRPr/>
            </a:pPr>
            <a:endParaRPr lang="en-AU" altLang="en-US" sz="900" dirty="0">
              <a:ea typeface="ＭＳ Ｐゴシック" pitchFamily="34" charset="-128"/>
            </a:endParaRPr>
          </a:p>
          <a:p>
            <a:pPr algn="just">
              <a:spcBef>
                <a:spcPts val="900"/>
              </a:spcBef>
              <a:buNone/>
              <a:defRPr/>
            </a:pPr>
            <a:endParaRPr lang="en-AU" altLang="en-US" sz="900" spc="23" dirty="0">
              <a:ea typeface="ＭＳ Ｐゴシック" pitchFamily="34" charset="-128"/>
            </a:endParaRPr>
          </a:p>
        </p:txBody>
      </p:sp>
      <p:sp>
        <p:nvSpPr>
          <p:cNvPr id="3" name="Title 2">
            <a:extLst>
              <a:ext uri="{FF2B5EF4-FFF2-40B4-BE49-F238E27FC236}">
                <a16:creationId xmlns:a16="http://schemas.microsoft.com/office/drawing/2014/main" id="{DBFB7CA8-1812-4B8F-B8E2-5E9FC526C77D}"/>
              </a:ext>
            </a:extLst>
          </p:cNvPr>
          <p:cNvSpPr>
            <a:spLocks noGrp="1"/>
          </p:cNvSpPr>
          <p:nvPr>
            <p:ph type="title"/>
          </p:nvPr>
        </p:nvSpPr>
        <p:spPr/>
        <p:txBody>
          <a:bodyPr>
            <a:noAutofit/>
          </a:bodyPr>
          <a:lstStyle/>
          <a:p>
            <a:pPr marL="535781" indent="-535781" algn="just">
              <a:spcBef>
                <a:spcPts val="900"/>
              </a:spcBef>
              <a:buNone/>
              <a:defRPr/>
            </a:pPr>
            <a:r>
              <a:rPr lang="en-AU" altLang="en-US" sz="1800" b="0" spc="23" dirty="0">
                <a:solidFill>
                  <a:schemeClr val="bg1"/>
                </a:solidFill>
                <a:ea typeface="ＭＳ Ｐゴシック" pitchFamily="34" charset="-128"/>
              </a:rPr>
              <a:t>Caveats – Consequences of </a:t>
            </a:r>
            <a:r>
              <a:rPr lang="en-AU" altLang="en-US" sz="1800" b="0" i="1" spc="23" dirty="0">
                <a:solidFill>
                  <a:schemeClr val="bg1"/>
                </a:solidFill>
                <a:ea typeface="ＭＳ Ｐゴシック" pitchFamily="34" charset="-128"/>
              </a:rPr>
              <a:t>Not</a:t>
            </a:r>
            <a:r>
              <a:rPr lang="en-AU" altLang="en-US" sz="1800" b="0" spc="23" dirty="0">
                <a:solidFill>
                  <a:schemeClr val="bg1"/>
                </a:solidFill>
                <a:ea typeface="ＭＳ Ｐゴシック" pitchFamily="34" charset="-128"/>
              </a:rPr>
              <a:t> Lodging</a:t>
            </a:r>
          </a:p>
        </p:txBody>
      </p:sp>
    </p:spTree>
    <p:extLst>
      <p:ext uri="{BB962C8B-B14F-4D97-AF65-F5344CB8AC3E}">
        <p14:creationId xmlns:p14="http://schemas.microsoft.com/office/powerpoint/2010/main" val="40794278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0CAE4D-E945-4A30-8F23-B01045B0CFFC}"/>
              </a:ext>
            </a:extLst>
          </p:cNvPr>
          <p:cNvSpPr>
            <a:spLocks noGrp="1"/>
          </p:cNvSpPr>
          <p:nvPr>
            <p:ph sz="half" idx="1"/>
          </p:nvPr>
        </p:nvSpPr>
        <p:spPr>
          <a:xfrm>
            <a:off x="259349" y="671794"/>
            <a:ext cx="5504524" cy="4200252"/>
          </a:xfrm>
        </p:spPr>
        <p:txBody>
          <a:bodyPr>
            <a:normAutofit/>
          </a:bodyPr>
          <a:lstStyle/>
          <a:p>
            <a:pPr marL="0" indent="0">
              <a:spcBef>
                <a:spcPts val="450"/>
              </a:spcBef>
              <a:buNone/>
              <a:defRPr/>
            </a:pPr>
            <a:r>
              <a:rPr lang="en-AU" altLang="en-US" sz="1400" dirty="0">
                <a:ea typeface="ＭＳ Ｐゴシック" panose="020B0600070205080204" pitchFamily="34" charset="-128"/>
              </a:rPr>
              <a:t>Facts: </a:t>
            </a:r>
          </a:p>
          <a:p>
            <a:pPr marL="0" indent="0">
              <a:spcBef>
                <a:spcPts val="450"/>
              </a:spcBef>
              <a:buNone/>
              <a:defRPr/>
            </a:pPr>
            <a:r>
              <a:rPr lang="en-AU" altLang="en-US" sz="1400" dirty="0">
                <a:ea typeface="ＭＳ Ｐゴシック" panose="020B0600070205080204" pitchFamily="34" charset="-128"/>
              </a:rPr>
              <a:t>Parties entered contract for sale of rural land in NSW. The purchaser made a deposit and signed the contract. On the day of settlement, the purchaser was informed that the vendor owed a third party some monies. The purchaser obtained a final search of the title in the morning but didn’t look again in the afternoon when a writ of execution under civil procedure legislation (not caveat) was lodged. The settlement was stopped.</a:t>
            </a:r>
          </a:p>
          <a:p>
            <a:pPr marL="0" indent="0">
              <a:spcBef>
                <a:spcPts val="450"/>
              </a:spcBef>
              <a:buNone/>
              <a:defRPr/>
            </a:pPr>
            <a:r>
              <a:rPr lang="en-AU" altLang="en-US" sz="1400" dirty="0">
                <a:ea typeface="ＭＳ Ｐゴシック" panose="020B0600070205080204" pitchFamily="34" charset="-128"/>
              </a:rPr>
              <a:t>HELD: </a:t>
            </a:r>
          </a:p>
          <a:p>
            <a:pPr marL="0" indent="0">
              <a:spcBef>
                <a:spcPts val="450"/>
              </a:spcBef>
              <a:buNone/>
              <a:defRPr/>
            </a:pPr>
            <a:r>
              <a:rPr lang="en-AU" altLang="en-US" sz="1400" dirty="0">
                <a:ea typeface="ＭＳ Ｐゴシック" panose="020B0600070205080204" pitchFamily="34" charset="-128"/>
              </a:rPr>
              <a:t>The writ of execution defeated interests of the purchaser (</a:t>
            </a:r>
            <a:r>
              <a:rPr lang="en-AU" altLang="en-US" sz="1400" dirty="0" err="1">
                <a:ea typeface="ＭＳ Ｐゴシック" panose="020B0600070205080204" pitchFamily="34" charset="-128"/>
              </a:rPr>
              <a:t>ie</a:t>
            </a:r>
            <a:r>
              <a:rPr lang="en-AU" altLang="en-US" sz="1400" dirty="0">
                <a:ea typeface="ＭＳ Ｐゴシック" panose="020B0600070205080204" pitchFamily="34" charset="-128"/>
              </a:rPr>
              <a:t> equitable interest created by attachment of property due to judgment - a writ of execution, although registered, only creates an equitable interest in the property - versus an earlier equitable interest in property due to contract of sale). The purchaser should have lodged a caveat to protect their </a:t>
            </a:r>
            <a:r>
              <a:rPr lang="en-AU" altLang="en-US" sz="1400" dirty="0" err="1">
                <a:ea typeface="ＭＳ Ｐゴシック" panose="020B0600070205080204" pitchFamily="34" charset="-128"/>
              </a:rPr>
              <a:t>interest.Further</a:t>
            </a:r>
            <a:r>
              <a:rPr lang="en-AU" altLang="en-US" sz="1400" dirty="0">
                <a:ea typeface="ＭＳ Ｐゴシック" panose="020B0600070205080204" pitchFamily="34" charset="-128"/>
              </a:rPr>
              <a:t>, the settlement agent should have checked just before settlement as they knew money was owed to a third party.</a:t>
            </a:r>
          </a:p>
          <a:p>
            <a:pPr algn="just">
              <a:spcBef>
                <a:spcPts val="225"/>
              </a:spcBef>
              <a:buNone/>
            </a:pPr>
            <a:endParaRPr lang="en-US" altLang="en-US" sz="1400" dirty="0">
              <a:ea typeface="ＭＳ Ｐゴシック" panose="020B0600070205080204" pitchFamily="34" charset="-128"/>
            </a:endParaRPr>
          </a:p>
          <a:p>
            <a:pPr algn="just">
              <a:spcBef>
                <a:spcPts val="900"/>
              </a:spcBef>
              <a:buNone/>
            </a:pPr>
            <a:endParaRPr lang="en-US" altLang="en-US" sz="900" dirty="0">
              <a:ea typeface="ＭＳ Ｐゴシック" panose="020B0600070205080204" pitchFamily="34" charset="-128"/>
            </a:endParaRPr>
          </a:p>
          <a:p>
            <a:pPr algn="just">
              <a:spcBef>
                <a:spcPts val="900"/>
              </a:spcBef>
              <a:buNone/>
              <a:defRPr/>
            </a:pPr>
            <a:endParaRPr lang="en-AU" altLang="en-US" sz="900" dirty="0">
              <a:ea typeface="ＭＳ Ｐゴシック" pitchFamily="34" charset="-128"/>
            </a:endParaRPr>
          </a:p>
          <a:p>
            <a:pPr algn="just">
              <a:spcBef>
                <a:spcPts val="900"/>
              </a:spcBef>
              <a:buNone/>
              <a:defRPr/>
            </a:pPr>
            <a:endParaRPr lang="en-AU" altLang="en-US" sz="900" spc="23" dirty="0">
              <a:ea typeface="ＭＳ Ｐゴシック" pitchFamily="34" charset="-128"/>
            </a:endParaRPr>
          </a:p>
        </p:txBody>
      </p:sp>
      <p:sp>
        <p:nvSpPr>
          <p:cNvPr id="3" name="Title 2">
            <a:extLst>
              <a:ext uri="{FF2B5EF4-FFF2-40B4-BE49-F238E27FC236}">
                <a16:creationId xmlns:a16="http://schemas.microsoft.com/office/drawing/2014/main" id="{DBFB7CA8-1812-4B8F-B8E2-5E9FC526C77D}"/>
              </a:ext>
            </a:extLst>
          </p:cNvPr>
          <p:cNvSpPr>
            <a:spLocks noGrp="1"/>
          </p:cNvSpPr>
          <p:nvPr>
            <p:ph type="title"/>
          </p:nvPr>
        </p:nvSpPr>
        <p:spPr/>
        <p:txBody>
          <a:bodyPr>
            <a:normAutofit/>
          </a:bodyPr>
          <a:lstStyle/>
          <a:p>
            <a:pPr algn="just">
              <a:spcBef>
                <a:spcPts val="450"/>
              </a:spcBef>
              <a:buNone/>
              <a:defRPr/>
            </a:pPr>
            <a:r>
              <a:rPr lang="en-AU" altLang="en-US" sz="1800" b="0" i="1" dirty="0">
                <a:solidFill>
                  <a:schemeClr val="bg1"/>
                </a:solidFill>
                <a:ea typeface="ＭＳ Ｐゴシック" panose="020B0600070205080204" pitchFamily="34" charset="-128"/>
              </a:rPr>
              <a:t>Black v </a:t>
            </a:r>
            <a:r>
              <a:rPr lang="en-AU" altLang="en-US" sz="1800" b="0" i="1" dirty="0" err="1">
                <a:solidFill>
                  <a:schemeClr val="bg1"/>
                </a:solidFill>
                <a:ea typeface="ＭＳ Ｐゴシック" panose="020B0600070205080204" pitchFamily="34" charset="-128"/>
              </a:rPr>
              <a:t>Garnock</a:t>
            </a:r>
            <a:r>
              <a:rPr lang="en-AU" altLang="en-US" sz="1800" b="0" i="1" dirty="0">
                <a:solidFill>
                  <a:schemeClr val="bg1"/>
                </a:solidFill>
                <a:ea typeface="ＭＳ Ｐゴシック" panose="020B0600070205080204" pitchFamily="34" charset="-128"/>
              </a:rPr>
              <a:t> </a:t>
            </a:r>
            <a:r>
              <a:rPr lang="en-AU" altLang="en-US" sz="1800" b="0" dirty="0">
                <a:solidFill>
                  <a:schemeClr val="bg1"/>
                </a:solidFill>
                <a:ea typeface="ＭＳ Ｐゴシック" panose="020B0600070205080204" pitchFamily="34" charset="-128"/>
              </a:rPr>
              <a:t>(2007) 230 CLR 438</a:t>
            </a:r>
          </a:p>
        </p:txBody>
      </p:sp>
    </p:spTree>
    <p:extLst>
      <p:ext uri="{BB962C8B-B14F-4D97-AF65-F5344CB8AC3E}">
        <p14:creationId xmlns:p14="http://schemas.microsoft.com/office/powerpoint/2010/main" val="20148350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490CAE4D-E945-4A30-8F23-B01045B0CFFC}"/>
              </a:ext>
            </a:extLst>
          </p:cNvPr>
          <p:cNvSpPr>
            <a:spLocks noGrp="1"/>
          </p:cNvSpPr>
          <p:nvPr>
            <p:ph sz="half" idx="1"/>
          </p:nvPr>
        </p:nvSpPr>
        <p:spPr>
          <a:xfrm>
            <a:off x="259348" y="700342"/>
            <a:ext cx="6124673" cy="4064605"/>
          </a:xfrm>
        </p:spPr>
        <p:txBody>
          <a:bodyPr>
            <a:normAutofit lnSpcReduction="10000"/>
          </a:bodyPr>
          <a:lstStyle/>
          <a:p>
            <a:pPr algn="just">
              <a:spcBef>
                <a:spcPts val="900"/>
              </a:spcBef>
              <a:buNone/>
              <a:defRPr/>
            </a:pPr>
            <a:r>
              <a:rPr lang="en-AU" sz="1600" dirty="0"/>
              <a:t>L1 v L2 – priority depends on the date of registration. Subject to exceptions, a registered interest is subject to any earlier registered interest.</a:t>
            </a:r>
          </a:p>
          <a:p>
            <a:pPr algn="just">
              <a:spcBef>
                <a:spcPts val="900"/>
              </a:spcBef>
              <a:buNone/>
              <a:defRPr/>
            </a:pPr>
            <a:r>
              <a:rPr lang="en-AU" sz="1600" dirty="0"/>
              <a:t>E1 v L2 – the doctrine of notice is abolished and indefeasibility applies, subject only to the recognised exceptions </a:t>
            </a:r>
          </a:p>
          <a:p>
            <a:pPr algn="just">
              <a:spcBef>
                <a:spcPts val="900"/>
              </a:spcBef>
              <a:defRPr/>
            </a:pPr>
            <a:r>
              <a:rPr lang="en-AU" sz="1600" dirty="0"/>
              <a:t>L1 v E2 – L1 prevails unless L1 can be impugned by the fraud exception to indefeasibility (fraud broadly defined).</a:t>
            </a:r>
          </a:p>
          <a:p>
            <a:pPr algn="just">
              <a:spcBef>
                <a:spcPts val="900"/>
              </a:spcBef>
              <a:buNone/>
              <a:defRPr/>
            </a:pPr>
            <a:r>
              <a:rPr lang="en-AU" sz="1600" dirty="0"/>
              <a:t>E1 v E2 – equitable interests are more vulnerable under the TLA because of the abolition of the doctrine of notice – s 134 TLA. However, s 134 TLA cannot be relied on if there is actual or constructive notice of fraud, and this notice sheets home to the purchaser some form of wrongdoing. Priority depends upon the general priority rules and who has the better equity (see </a:t>
            </a:r>
            <a:r>
              <a:rPr lang="en-AU" sz="1600" dirty="0" err="1"/>
              <a:t>eg</a:t>
            </a:r>
            <a:r>
              <a:rPr lang="en-AU" sz="1600" dirty="0"/>
              <a:t> </a:t>
            </a:r>
            <a:r>
              <a:rPr lang="en-AU" sz="1600" i="1" dirty="0"/>
              <a:t>Rice v Rice</a:t>
            </a:r>
            <a:r>
              <a:rPr lang="en-AU" sz="1600" dirty="0"/>
              <a:t>), but there is an additional matter to consider under the TLA – has there been a failure to lodge a caveat and, if so, is it postponing conduct?</a:t>
            </a:r>
          </a:p>
          <a:p>
            <a:pPr algn="just">
              <a:spcBef>
                <a:spcPts val="225"/>
              </a:spcBef>
              <a:buNone/>
            </a:pPr>
            <a:endParaRPr lang="en-US" altLang="en-US" sz="1400" dirty="0">
              <a:ea typeface="ＭＳ Ｐゴシック" panose="020B0600070205080204" pitchFamily="34" charset="-128"/>
            </a:endParaRPr>
          </a:p>
          <a:p>
            <a:pPr algn="just">
              <a:spcBef>
                <a:spcPts val="900"/>
              </a:spcBef>
              <a:buNone/>
            </a:pPr>
            <a:endParaRPr lang="en-US" altLang="en-US" sz="900" dirty="0">
              <a:ea typeface="ＭＳ Ｐゴシック" panose="020B0600070205080204" pitchFamily="34" charset="-128"/>
            </a:endParaRPr>
          </a:p>
          <a:p>
            <a:pPr algn="just">
              <a:spcBef>
                <a:spcPts val="900"/>
              </a:spcBef>
              <a:buNone/>
              <a:defRPr/>
            </a:pPr>
            <a:endParaRPr lang="en-AU" altLang="en-US" sz="900" dirty="0">
              <a:ea typeface="ＭＳ Ｐゴシック" pitchFamily="34" charset="-128"/>
            </a:endParaRPr>
          </a:p>
          <a:p>
            <a:pPr algn="just">
              <a:spcBef>
                <a:spcPts val="900"/>
              </a:spcBef>
              <a:buNone/>
              <a:defRPr/>
            </a:pPr>
            <a:endParaRPr lang="en-AU" altLang="en-US" sz="900" spc="23" dirty="0">
              <a:ea typeface="ＭＳ Ｐゴシック" pitchFamily="34" charset="-128"/>
            </a:endParaRPr>
          </a:p>
        </p:txBody>
      </p:sp>
      <p:sp>
        <p:nvSpPr>
          <p:cNvPr id="3" name="Title 2">
            <a:extLst>
              <a:ext uri="{FF2B5EF4-FFF2-40B4-BE49-F238E27FC236}">
                <a16:creationId xmlns:a16="http://schemas.microsoft.com/office/drawing/2014/main" id="{DBFB7CA8-1812-4B8F-B8E2-5E9FC526C77D}"/>
              </a:ext>
            </a:extLst>
          </p:cNvPr>
          <p:cNvSpPr>
            <a:spLocks noGrp="1"/>
          </p:cNvSpPr>
          <p:nvPr>
            <p:ph type="title"/>
          </p:nvPr>
        </p:nvSpPr>
        <p:spPr/>
        <p:txBody>
          <a:bodyPr>
            <a:noAutofit/>
          </a:bodyPr>
          <a:lstStyle/>
          <a:p>
            <a:pPr algn="just">
              <a:spcBef>
                <a:spcPts val="450"/>
              </a:spcBef>
              <a:buNone/>
              <a:defRPr/>
            </a:pPr>
            <a:r>
              <a:rPr lang="en-AU" altLang="en-US" sz="1800" b="0" dirty="0">
                <a:solidFill>
                  <a:schemeClr val="bg1"/>
                </a:solidFill>
                <a:ea typeface="ＭＳ Ｐゴシック" panose="020B0600070205080204" pitchFamily="34" charset="-128"/>
              </a:rPr>
              <a:t>Priorities under Torrens System and Exceptions to Indefeasibility of Title</a:t>
            </a:r>
          </a:p>
        </p:txBody>
      </p:sp>
    </p:spTree>
    <p:extLst>
      <p:ext uri="{BB962C8B-B14F-4D97-AF65-F5344CB8AC3E}">
        <p14:creationId xmlns:p14="http://schemas.microsoft.com/office/powerpoint/2010/main" val="677643691"/>
      </p:ext>
    </p:extLst>
  </p:cSld>
  <p:clrMapOvr>
    <a:masterClrMapping/>
  </p:clrMapOvr>
</p:sld>
</file>

<file path=ppt/theme/theme1.xml><?xml version="1.0" encoding="utf-8"?>
<a:theme xmlns:a="http://schemas.openxmlformats.org/drawingml/2006/main" name="Office Theme">
  <a:themeElements>
    <a:clrScheme name="World Ready B&amp;L">
      <a:dk1>
        <a:srgbClr val="101920"/>
      </a:dk1>
      <a:lt1>
        <a:srgbClr val="FFFFFF"/>
      </a:lt1>
      <a:dk2>
        <a:srgbClr val="404140"/>
      </a:dk2>
      <a:lt2>
        <a:srgbClr val="FFFFFF"/>
      </a:lt2>
      <a:accent1>
        <a:srgbClr val="004B85"/>
      </a:accent1>
      <a:accent2>
        <a:srgbClr val="BE2F36"/>
      </a:accent2>
      <a:accent3>
        <a:srgbClr val="FFC658"/>
      </a:accent3>
      <a:accent4>
        <a:srgbClr val="7E71B3"/>
      </a:accent4>
      <a:accent5>
        <a:srgbClr val="F26122"/>
      </a:accent5>
      <a:accent6>
        <a:srgbClr val="EFECE5"/>
      </a:accent6>
      <a:hlink>
        <a:srgbClr val="004B85"/>
      </a:hlink>
      <a:folHlink>
        <a:srgbClr val="F26122"/>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operty law 1 Lecture 1 2022" id="{E7BE7D35-74D4-45FB-AD1E-42753974E9E7}" vid="{DB914E17-A141-4B07-AD21-1298645D119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Property law 1 Lecture 1 2022</Template>
  <TotalTime>2476</TotalTime>
  <Words>3684</Words>
  <Application>Microsoft Office PowerPoint</Application>
  <PresentationFormat>Custom</PresentationFormat>
  <Paragraphs>165</Paragraphs>
  <Slides>23</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29" baseType="lpstr">
      <vt:lpstr>Arial</vt:lpstr>
      <vt:lpstr>ＭＳ Ｐゴシック</vt:lpstr>
      <vt:lpstr>Wingdings</vt:lpstr>
      <vt:lpstr>Calibri</vt:lpstr>
      <vt:lpstr>Office Theme</vt:lpstr>
      <vt:lpstr>Packager Shell Object</vt:lpstr>
      <vt:lpstr>LAW2102 PROPERTY LAW 1 </vt:lpstr>
      <vt:lpstr>Today’s Agenda/Learning Goals</vt:lpstr>
      <vt:lpstr>RECAP from Lecture 9</vt:lpstr>
      <vt:lpstr>RECAP from Lecture 9</vt:lpstr>
      <vt:lpstr>RECAP from Lecture 9</vt:lpstr>
      <vt:lpstr>RECAP from Lecture 9 – ‘Oops’ exceptions</vt:lpstr>
      <vt:lpstr>RECAP from Lecture 9 – Recognised Exception Categories</vt:lpstr>
      <vt:lpstr>RECAP from Lecture 9</vt:lpstr>
      <vt:lpstr>Exception of Fraud</vt:lpstr>
      <vt:lpstr> Fraud as an exception to indefeasibility of title </vt:lpstr>
      <vt:lpstr> Fraud as an exception to indefeasibility of title </vt:lpstr>
      <vt:lpstr>Bahr v Nicolay (No 2) (1988) 164 CLR 604 </vt:lpstr>
      <vt:lpstr>Bahr v Nicolay (No 2) (1988) 164 CLR 604 </vt:lpstr>
      <vt:lpstr>Fraud and Notice and s134 TLA</vt:lpstr>
      <vt:lpstr>Fraud and Notice and s 134 TLA</vt:lpstr>
      <vt:lpstr>Fraud and Notice and s134 TLA</vt:lpstr>
      <vt:lpstr>Fraud and Notice</vt:lpstr>
      <vt:lpstr>Thank Goodness for … In Personam Rights</vt:lpstr>
      <vt:lpstr>Caveats R Us!</vt:lpstr>
      <vt:lpstr>Caveats – TLA Provision Part V</vt:lpstr>
      <vt:lpstr>Caveats – Consequences of Not Lodging</vt:lpstr>
      <vt:lpstr>Black v Garnock (2007) 230 CLR 438</vt:lpstr>
      <vt:lpstr>Priorities under Torrens System and Exceptions to Indefeasibility of Title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LAW2102 PROPERTY 1</dc:title>
  <dc:creator>Haydn RIGBY</dc:creator>
  <cp:lastModifiedBy>Joshua Forrester</cp:lastModifiedBy>
  <cp:revision>60</cp:revision>
  <dcterms:created xsi:type="dcterms:W3CDTF">2022-02-06T13:04:31Z</dcterms:created>
  <dcterms:modified xsi:type="dcterms:W3CDTF">2026-04-17T11:40:58Z</dcterms:modified>
</cp:coreProperties>
</file>