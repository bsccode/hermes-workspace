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7" r:id="rId1"/>
  </p:sldMasterIdLst>
  <p:notesMasterIdLst>
    <p:notesMasterId r:id="rId39"/>
  </p:notesMasterIdLst>
  <p:handoutMasterIdLst>
    <p:handoutMasterId r:id="rId40"/>
  </p:handoutMasterIdLst>
  <p:sldIdLst>
    <p:sldId id="258" r:id="rId2"/>
    <p:sldId id="417" r:id="rId3"/>
    <p:sldId id="418" r:id="rId4"/>
    <p:sldId id="470" r:id="rId5"/>
    <p:sldId id="464" r:id="rId6"/>
    <p:sldId id="465" r:id="rId7"/>
    <p:sldId id="466" r:id="rId8"/>
    <p:sldId id="460" r:id="rId9"/>
    <p:sldId id="461" r:id="rId10"/>
    <p:sldId id="443" r:id="rId11"/>
    <p:sldId id="458" r:id="rId12"/>
    <p:sldId id="446" r:id="rId13"/>
    <p:sldId id="448" r:id="rId14"/>
    <p:sldId id="449" r:id="rId15"/>
    <p:sldId id="450" r:id="rId16"/>
    <p:sldId id="452" r:id="rId17"/>
    <p:sldId id="467" r:id="rId18"/>
    <p:sldId id="468" r:id="rId19"/>
    <p:sldId id="425" r:id="rId20"/>
    <p:sldId id="445" r:id="rId21"/>
    <p:sldId id="453" r:id="rId22"/>
    <p:sldId id="454" r:id="rId23"/>
    <p:sldId id="469" r:id="rId24"/>
    <p:sldId id="426" r:id="rId25"/>
    <p:sldId id="427" r:id="rId26"/>
    <p:sldId id="428" r:id="rId27"/>
    <p:sldId id="430" r:id="rId28"/>
    <p:sldId id="431" r:id="rId29"/>
    <p:sldId id="432" r:id="rId30"/>
    <p:sldId id="434" r:id="rId31"/>
    <p:sldId id="435" r:id="rId32"/>
    <p:sldId id="437" r:id="rId33"/>
    <p:sldId id="441" r:id="rId34"/>
    <p:sldId id="438" r:id="rId35"/>
    <p:sldId id="439" r:id="rId36"/>
    <p:sldId id="442" r:id="rId37"/>
    <p:sldId id="459" r:id="rId38"/>
  </p:sldIdLst>
  <p:sldSz cx="6858000" cy="5143500"/>
  <p:notesSz cx="6858000" cy="9144000"/>
  <p:embeddedFontLst>
    <p:embeddedFont>
      <p:font typeface="ＭＳ Ｐゴシック" panose="020B0600070205080204" pitchFamily="34" charset="-128"/>
      <p:regular r:id="rId41"/>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7" autoAdjust="0"/>
    <p:restoredTop sz="78840" autoAdjust="0"/>
  </p:normalViewPr>
  <p:slideViewPr>
    <p:cSldViewPr snapToGrid="0" snapToObjects="1">
      <p:cViewPr varScale="1">
        <p:scale>
          <a:sx n="79" d="100"/>
          <a:sy n="79" d="100"/>
        </p:scale>
        <p:origin x="1400" y="64"/>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26" d="100"/>
          <a:sy n="126" d="100"/>
        </p:scale>
        <p:origin x="251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FORRESTER" userId="0a9d0996-539f-4eb8-b015-02115b2d7070" providerId="ADAL" clId="{06C89E91-6C4D-464C-9229-D5A94D6D3775}"/>
    <pc:docChg chg="undo custSel modSld">
      <pc:chgData name="Joshua FORRESTER" userId="0a9d0996-539f-4eb8-b015-02115b2d7070" providerId="ADAL" clId="{06C89E91-6C4D-464C-9229-D5A94D6D3775}" dt="2026-03-31T06:49:57.503" v="462" actId="20577"/>
      <pc:docMkLst>
        <pc:docMk/>
      </pc:docMkLst>
      <pc:sldChg chg="modSp mod">
        <pc:chgData name="Joshua FORRESTER" userId="0a9d0996-539f-4eb8-b015-02115b2d7070" providerId="ADAL" clId="{06C89E91-6C4D-464C-9229-D5A94D6D3775}" dt="2026-03-31T06:29:34.383" v="260" actId="20577"/>
        <pc:sldMkLst>
          <pc:docMk/>
          <pc:sldMk cId="3971148592" sldId="425"/>
        </pc:sldMkLst>
        <pc:spChg chg="mod">
          <ac:chgData name="Joshua FORRESTER" userId="0a9d0996-539f-4eb8-b015-02115b2d7070" providerId="ADAL" clId="{06C89E91-6C4D-464C-9229-D5A94D6D3775}" dt="2026-03-31T06:26:05.640" v="168" actId="20577"/>
          <ac:spMkLst>
            <pc:docMk/>
            <pc:sldMk cId="3971148592" sldId="425"/>
            <ac:spMk id="2" creationId="{DDC81A7F-1B2E-4564-B56E-22D365D2E9C6}"/>
          </ac:spMkLst>
        </pc:spChg>
        <pc:spChg chg="mod">
          <ac:chgData name="Joshua FORRESTER" userId="0a9d0996-539f-4eb8-b015-02115b2d7070" providerId="ADAL" clId="{06C89E91-6C4D-464C-9229-D5A94D6D3775}" dt="2026-03-31T06:29:34.383" v="260" actId="20577"/>
          <ac:spMkLst>
            <pc:docMk/>
            <pc:sldMk cId="3971148592" sldId="425"/>
            <ac:spMk id="3" creationId="{088DA532-786A-4486-BF09-16A6B1E45330}"/>
          </ac:spMkLst>
        </pc:spChg>
      </pc:sldChg>
      <pc:sldChg chg="modSp mod">
        <pc:chgData name="Joshua FORRESTER" userId="0a9d0996-539f-4eb8-b015-02115b2d7070" providerId="ADAL" clId="{06C89E91-6C4D-464C-9229-D5A94D6D3775}" dt="2026-03-31T06:39:23.568" v="332" actId="20577"/>
        <pc:sldMkLst>
          <pc:docMk/>
          <pc:sldMk cId="3882113957" sldId="427"/>
        </pc:sldMkLst>
        <pc:spChg chg="mod">
          <ac:chgData name="Joshua FORRESTER" userId="0a9d0996-539f-4eb8-b015-02115b2d7070" providerId="ADAL" clId="{06C89E91-6C4D-464C-9229-D5A94D6D3775}" dt="2026-03-31T06:38:40.705" v="328" actId="20577"/>
          <ac:spMkLst>
            <pc:docMk/>
            <pc:sldMk cId="3882113957" sldId="427"/>
            <ac:spMk id="2" creationId="{DDC81A7F-1B2E-4564-B56E-22D365D2E9C6}"/>
          </ac:spMkLst>
        </pc:spChg>
        <pc:spChg chg="mod">
          <ac:chgData name="Joshua FORRESTER" userId="0a9d0996-539f-4eb8-b015-02115b2d7070" providerId="ADAL" clId="{06C89E91-6C4D-464C-9229-D5A94D6D3775}" dt="2026-03-31T06:39:23.568" v="332" actId="20577"/>
          <ac:spMkLst>
            <pc:docMk/>
            <pc:sldMk cId="3882113957" sldId="427"/>
            <ac:spMk id="3" creationId="{088DA532-786A-4486-BF09-16A6B1E45330}"/>
          </ac:spMkLst>
        </pc:spChg>
      </pc:sldChg>
      <pc:sldChg chg="modSp mod">
        <pc:chgData name="Joshua FORRESTER" userId="0a9d0996-539f-4eb8-b015-02115b2d7070" providerId="ADAL" clId="{06C89E91-6C4D-464C-9229-D5A94D6D3775}" dt="2026-03-31T06:41:15.470" v="340" actId="20577"/>
        <pc:sldMkLst>
          <pc:docMk/>
          <pc:sldMk cId="1542632285" sldId="428"/>
        </pc:sldMkLst>
        <pc:spChg chg="mod">
          <ac:chgData name="Joshua FORRESTER" userId="0a9d0996-539f-4eb8-b015-02115b2d7070" providerId="ADAL" clId="{06C89E91-6C4D-464C-9229-D5A94D6D3775}" dt="2026-03-31T06:41:15.470" v="340" actId="20577"/>
          <ac:spMkLst>
            <pc:docMk/>
            <pc:sldMk cId="1542632285" sldId="428"/>
            <ac:spMk id="3" creationId="{088DA532-786A-4486-BF09-16A6B1E45330}"/>
          </ac:spMkLst>
        </pc:spChg>
      </pc:sldChg>
      <pc:sldChg chg="modSp mod">
        <pc:chgData name="Joshua FORRESTER" userId="0a9d0996-539f-4eb8-b015-02115b2d7070" providerId="ADAL" clId="{06C89E91-6C4D-464C-9229-D5A94D6D3775}" dt="2026-03-31T06:41:23.992" v="344" actId="20577"/>
        <pc:sldMkLst>
          <pc:docMk/>
          <pc:sldMk cId="3933834654" sldId="430"/>
        </pc:sldMkLst>
        <pc:spChg chg="mod">
          <ac:chgData name="Joshua FORRESTER" userId="0a9d0996-539f-4eb8-b015-02115b2d7070" providerId="ADAL" clId="{06C89E91-6C4D-464C-9229-D5A94D6D3775}" dt="2026-03-31T06:41:23.992" v="344" actId="20577"/>
          <ac:spMkLst>
            <pc:docMk/>
            <pc:sldMk cId="3933834654" sldId="430"/>
            <ac:spMk id="3" creationId="{088DA532-786A-4486-BF09-16A6B1E45330}"/>
          </ac:spMkLst>
        </pc:spChg>
      </pc:sldChg>
      <pc:sldChg chg="modSp mod">
        <pc:chgData name="Joshua FORRESTER" userId="0a9d0996-539f-4eb8-b015-02115b2d7070" providerId="ADAL" clId="{06C89E91-6C4D-464C-9229-D5A94D6D3775}" dt="2026-03-31T06:42:45.601" v="350" actId="20577"/>
        <pc:sldMkLst>
          <pc:docMk/>
          <pc:sldMk cId="3288153355" sldId="431"/>
        </pc:sldMkLst>
        <pc:spChg chg="mod">
          <ac:chgData name="Joshua FORRESTER" userId="0a9d0996-539f-4eb8-b015-02115b2d7070" providerId="ADAL" clId="{06C89E91-6C4D-464C-9229-D5A94D6D3775}" dt="2026-03-31T06:42:45.601" v="350" actId="20577"/>
          <ac:spMkLst>
            <pc:docMk/>
            <pc:sldMk cId="3288153355" sldId="431"/>
            <ac:spMk id="3" creationId="{088DA532-786A-4486-BF09-16A6B1E45330}"/>
          </ac:spMkLst>
        </pc:spChg>
      </pc:sldChg>
      <pc:sldChg chg="modSp mod">
        <pc:chgData name="Joshua FORRESTER" userId="0a9d0996-539f-4eb8-b015-02115b2d7070" providerId="ADAL" clId="{06C89E91-6C4D-464C-9229-D5A94D6D3775}" dt="2026-03-31T06:43:59.141" v="355" actId="20577"/>
        <pc:sldMkLst>
          <pc:docMk/>
          <pc:sldMk cId="1703806943" sldId="432"/>
        </pc:sldMkLst>
        <pc:spChg chg="mod">
          <ac:chgData name="Joshua FORRESTER" userId="0a9d0996-539f-4eb8-b015-02115b2d7070" providerId="ADAL" clId="{06C89E91-6C4D-464C-9229-D5A94D6D3775}" dt="2026-03-31T06:43:59.141" v="355" actId="20577"/>
          <ac:spMkLst>
            <pc:docMk/>
            <pc:sldMk cId="1703806943" sldId="432"/>
            <ac:spMk id="2" creationId="{DDC81A7F-1B2E-4564-B56E-22D365D2E9C6}"/>
          </ac:spMkLst>
        </pc:spChg>
        <pc:spChg chg="mod">
          <ac:chgData name="Joshua FORRESTER" userId="0a9d0996-539f-4eb8-b015-02115b2d7070" providerId="ADAL" clId="{06C89E91-6C4D-464C-9229-D5A94D6D3775}" dt="2026-03-31T06:43:22.055" v="354" actId="20577"/>
          <ac:spMkLst>
            <pc:docMk/>
            <pc:sldMk cId="1703806943" sldId="432"/>
            <ac:spMk id="3" creationId="{088DA532-786A-4486-BF09-16A6B1E45330}"/>
          </ac:spMkLst>
        </pc:spChg>
      </pc:sldChg>
      <pc:sldChg chg="modSp mod">
        <pc:chgData name="Joshua FORRESTER" userId="0a9d0996-539f-4eb8-b015-02115b2d7070" providerId="ADAL" clId="{06C89E91-6C4D-464C-9229-D5A94D6D3775}" dt="2026-03-31T06:44:38.368" v="363" actId="20577"/>
        <pc:sldMkLst>
          <pc:docMk/>
          <pc:sldMk cId="1158280679" sldId="434"/>
        </pc:sldMkLst>
        <pc:spChg chg="mod">
          <ac:chgData name="Joshua FORRESTER" userId="0a9d0996-539f-4eb8-b015-02115b2d7070" providerId="ADAL" clId="{06C89E91-6C4D-464C-9229-D5A94D6D3775}" dt="2026-03-31T06:44:38.368" v="363" actId="20577"/>
          <ac:spMkLst>
            <pc:docMk/>
            <pc:sldMk cId="1158280679" sldId="434"/>
            <ac:spMk id="2" creationId="{DDC81A7F-1B2E-4564-B56E-22D365D2E9C6}"/>
          </ac:spMkLst>
        </pc:spChg>
      </pc:sldChg>
      <pc:sldChg chg="modSp mod">
        <pc:chgData name="Joshua FORRESTER" userId="0a9d0996-539f-4eb8-b015-02115b2d7070" providerId="ADAL" clId="{06C89E91-6C4D-464C-9229-D5A94D6D3775}" dt="2026-03-31T06:46:06.133" v="370" actId="20577"/>
        <pc:sldMkLst>
          <pc:docMk/>
          <pc:sldMk cId="1537340381" sldId="437"/>
        </pc:sldMkLst>
        <pc:spChg chg="mod">
          <ac:chgData name="Joshua FORRESTER" userId="0a9d0996-539f-4eb8-b015-02115b2d7070" providerId="ADAL" clId="{06C89E91-6C4D-464C-9229-D5A94D6D3775}" dt="2026-03-31T06:46:06.133" v="370" actId="20577"/>
          <ac:spMkLst>
            <pc:docMk/>
            <pc:sldMk cId="1537340381" sldId="437"/>
            <ac:spMk id="2" creationId="{DDC81A7F-1B2E-4564-B56E-22D365D2E9C6}"/>
          </ac:spMkLst>
        </pc:spChg>
      </pc:sldChg>
      <pc:sldChg chg="modSp mod">
        <pc:chgData name="Joshua FORRESTER" userId="0a9d0996-539f-4eb8-b015-02115b2d7070" providerId="ADAL" clId="{06C89E91-6C4D-464C-9229-D5A94D6D3775}" dt="2026-03-31T06:47:36.204" v="418" actId="20577"/>
        <pc:sldMkLst>
          <pc:docMk/>
          <pc:sldMk cId="2122428194" sldId="438"/>
        </pc:sldMkLst>
        <pc:spChg chg="mod">
          <ac:chgData name="Joshua FORRESTER" userId="0a9d0996-539f-4eb8-b015-02115b2d7070" providerId="ADAL" clId="{06C89E91-6C4D-464C-9229-D5A94D6D3775}" dt="2026-03-31T06:47:36.204" v="418" actId="20577"/>
          <ac:spMkLst>
            <pc:docMk/>
            <pc:sldMk cId="2122428194" sldId="438"/>
            <ac:spMk id="2" creationId="{DDC81A7F-1B2E-4564-B56E-22D365D2E9C6}"/>
          </ac:spMkLst>
        </pc:spChg>
      </pc:sldChg>
      <pc:sldChg chg="modSp mod">
        <pc:chgData name="Joshua FORRESTER" userId="0a9d0996-539f-4eb8-b015-02115b2d7070" providerId="ADAL" clId="{06C89E91-6C4D-464C-9229-D5A94D6D3775}" dt="2026-03-31T06:46:15.196" v="371" actId="20577"/>
        <pc:sldMkLst>
          <pc:docMk/>
          <pc:sldMk cId="434746888" sldId="441"/>
        </pc:sldMkLst>
        <pc:spChg chg="mod">
          <ac:chgData name="Joshua FORRESTER" userId="0a9d0996-539f-4eb8-b015-02115b2d7070" providerId="ADAL" clId="{06C89E91-6C4D-464C-9229-D5A94D6D3775}" dt="2026-03-31T06:46:15.196" v="371" actId="20577"/>
          <ac:spMkLst>
            <pc:docMk/>
            <pc:sldMk cId="434746888" sldId="441"/>
            <ac:spMk id="2" creationId="{DDC81A7F-1B2E-4564-B56E-22D365D2E9C6}"/>
          </ac:spMkLst>
        </pc:spChg>
      </pc:sldChg>
      <pc:sldChg chg="modSp mod">
        <pc:chgData name="Joshua FORRESTER" userId="0a9d0996-539f-4eb8-b015-02115b2d7070" providerId="ADAL" clId="{06C89E91-6C4D-464C-9229-D5A94D6D3775}" dt="2026-03-31T06:15:48.735" v="106" actId="20577"/>
        <pc:sldMkLst>
          <pc:docMk/>
          <pc:sldMk cId="2435436966" sldId="443"/>
        </pc:sldMkLst>
        <pc:spChg chg="mod">
          <ac:chgData name="Joshua FORRESTER" userId="0a9d0996-539f-4eb8-b015-02115b2d7070" providerId="ADAL" clId="{06C89E91-6C4D-464C-9229-D5A94D6D3775}" dt="2026-03-31T06:15:42.048" v="96" actId="20577"/>
          <ac:spMkLst>
            <pc:docMk/>
            <pc:sldMk cId="2435436966" sldId="443"/>
            <ac:spMk id="2" creationId="{DDC81A7F-1B2E-4564-B56E-22D365D2E9C6}"/>
          </ac:spMkLst>
        </pc:spChg>
        <pc:spChg chg="mod">
          <ac:chgData name="Joshua FORRESTER" userId="0a9d0996-539f-4eb8-b015-02115b2d7070" providerId="ADAL" clId="{06C89E91-6C4D-464C-9229-D5A94D6D3775}" dt="2026-03-31T06:15:48.735" v="106" actId="20577"/>
          <ac:spMkLst>
            <pc:docMk/>
            <pc:sldMk cId="2435436966" sldId="443"/>
            <ac:spMk id="3" creationId="{088DA532-786A-4486-BF09-16A6B1E45330}"/>
          </ac:spMkLst>
        </pc:spChg>
      </pc:sldChg>
      <pc:sldChg chg="modSp mod">
        <pc:chgData name="Joshua FORRESTER" userId="0a9d0996-539f-4eb8-b015-02115b2d7070" providerId="ADAL" clId="{06C89E91-6C4D-464C-9229-D5A94D6D3775}" dt="2026-03-31T06:29:46.723" v="268" actId="20577"/>
        <pc:sldMkLst>
          <pc:docMk/>
          <pc:sldMk cId="956218929" sldId="445"/>
        </pc:sldMkLst>
        <pc:spChg chg="mod">
          <ac:chgData name="Joshua FORRESTER" userId="0a9d0996-539f-4eb8-b015-02115b2d7070" providerId="ADAL" clId="{06C89E91-6C4D-464C-9229-D5A94D6D3775}" dt="2026-03-31T06:29:46.723" v="268" actId="20577"/>
          <ac:spMkLst>
            <pc:docMk/>
            <pc:sldMk cId="956218929" sldId="445"/>
            <ac:spMk id="3" creationId="{088DA532-786A-4486-BF09-16A6B1E45330}"/>
          </ac:spMkLst>
        </pc:spChg>
      </pc:sldChg>
      <pc:sldChg chg="modSp mod">
        <pc:chgData name="Joshua FORRESTER" userId="0a9d0996-539f-4eb8-b015-02115b2d7070" providerId="ADAL" clId="{06C89E91-6C4D-464C-9229-D5A94D6D3775}" dt="2026-03-31T06:28:06.554" v="242" actId="20577"/>
        <pc:sldMkLst>
          <pc:docMk/>
          <pc:sldMk cId="2439575620" sldId="446"/>
        </pc:sldMkLst>
        <pc:spChg chg="mod">
          <ac:chgData name="Joshua FORRESTER" userId="0a9d0996-539f-4eb8-b015-02115b2d7070" providerId="ADAL" clId="{06C89E91-6C4D-464C-9229-D5A94D6D3775}" dt="2026-03-31T06:17:52.830" v="123" actId="179"/>
          <ac:spMkLst>
            <pc:docMk/>
            <pc:sldMk cId="2439575620" sldId="446"/>
            <ac:spMk id="2" creationId="{DDC81A7F-1B2E-4564-B56E-22D365D2E9C6}"/>
          </ac:spMkLst>
        </pc:spChg>
        <pc:spChg chg="mod">
          <ac:chgData name="Joshua FORRESTER" userId="0a9d0996-539f-4eb8-b015-02115b2d7070" providerId="ADAL" clId="{06C89E91-6C4D-464C-9229-D5A94D6D3775}" dt="2026-03-31T06:28:06.554" v="242" actId="20577"/>
          <ac:spMkLst>
            <pc:docMk/>
            <pc:sldMk cId="2439575620" sldId="446"/>
            <ac:spMk id="3" creationId="{088DA532-786A-4486-BF09-16A6B1E45330}"/>
          </ac:spMkLst>
        </pc:spChg>
      </pc:sldChg>
      <pc:sldChg chg="modSp mod">
        <pc:chgData name="Joshua FORRESTER" userId="0a9d0996-539f-4eb8-b015-02115b2d7070" providerId="ADAL" clId="{06C89E91-6C4D-464C-9229-D5A94D6D3775}" dt="2026-03-31T06:28:15.777" v="244" actId="20577"/>
        <pc:sldMkLst>
          <pc:docMk/>
          <pc:sldMk cId="1362302796" sldId="448"/>
        </pc:sldMkLst>
        <pc:spChg chg="mod">
          <ac:chgData name="Joshua FORRESTER" userId="0a9d0996-539f-4eb8-b015-02115b2d7070" providerId="ADAL" clId="{06C89E91-6C4D-464C-9229-D5A94D6D3775}" dt="2026-03-31T06:18:13.081" v="124" actId="114"/>
          <ac:spMkLst>
            <pc:docMk/>
            <pc:sldMk cId="1362302796" sldId="448"/>
            <ac:spMk id="2" creationId="{DDC81A7F-1B2E-4564-B56E-22D365D2E9C6}"/>
          </ac:spMkLst>
        </pc:spChg>
        <pc:spChg chg="mod">
          <ac:chgData name="Joshua FORRESTER" userId="0a9d0996-539f-4eb8-b015-02115b2d7070" providerId="ADAL" clId="{06C89E91-6C4D-464C-9229-D5A94D6D3775}" dt="2026-03-31T06:28:15.777" v="244" actId="20577"/>
          <ac:spMkLst>
            <pc:docMk/>
            <pc:sldMk cId="1362302796" sldId="448"/>
            <ac:spMk id="3" creationId="{088DA532-786A-4486-BF09-16A6B1E45330}"/>
          </ac:spMkLst>
        </pc:spChg>
      </pc:sldChg>
      <pc:sldChg chg="modSp mod">
        <pc:chgData name="Joshua FORRESTER" userId="0a9d0996-539f-4eb8-b015-02115b2d7070" providerId="ADAL" clId="{06C89E91-6C4D-464C-9229-D5A94D6D3775}" dt="2026-03-31T06:28:24.116" v="247" actId="5793"/>
        <pc:sldMkLst>
          <pc:docMk/>
          <pc:sldMk cId="3653968135" sldId="449"/>
        </pc:sldMkLst>
        <pc:spChg chg="mod">
          <ac:chgData name="Joshua FORRESTER" userId="0a9d0996-539f-4eb8-b015-02115b2d7070" providerId="ADAL" clId="{06C89E91-6C4D-464C-9229-D5A94D6D3775}" dt="2026-03-31T06:19:42.431" v="126" actId="179"/>
          <ac:spMkLst>
            <pc:docMk/>
            <pc:sldMk cId="3653968135" sldId="449"/>
            <ac:spMk id="2" creationId="{DDC81A7F-1B2E-4564-B56E-22D365D2E9C6}"/>
          </ac:spMkLst>
        </pc:spChg>
        <pc:spChg chg="mod">
          <ac:chgData name="Joshua FORRESTER" userId="0a9d0996-539f-4eb8-b015-02115b2d7070" providerId="ADAL" clId="{06C89E91-6C4D-464C-9229-D5A94D6D3775}" dt="2026-03-31T06:28:24.116" v="247" actId="5793"/>
          <ac:spMkLst>
            <pc:docMk/>
            <pc:sldMk cId="3653968135" sldId="449"/>
            <ac:spMk id="3" creationId="{088DA532-786A-4486-BF09-16A6B1E45330}"/>
          </ac:spMkLst>
        </pc:spChg>
      </pc:sldChg>
      <pc:sldChg chg="modSp mod">
        <pc:chgData name="Joshua FORRESTER" userId="0a9d0996-539f-4eb8-b015-02115b2d7070" providerId="ADAL" clId="{06C89E91-6C4D-464C-9229-D5A94D6D3775}" dt="2026-03-31T06:28:32.448" v="253" actId="20577"/>
        <pc:sldMkLst>
          <pc:docMk/>
          <pc:sldMk cId="3115075331" sldId="450"/>
        </pc:sldMkLst>
        <pc:spChg chg="mod">
          <ac:chgData name="Joshua FORRESTER" userId="0a9d0996-539f-4eb8-b015-02115b2d7070" providerId="ADAL" clId="{06C89E91-6C4D-464C-9229-D5A94D6D3775}" dt="2026-03-31T06:22:08.599" v="135" actId="255"/>
          <ac:spMkLst>
            <pc:docMk/>
            <pc:sldMk cId="3115075331" sldId="450"/>
            <ac:spMk id="2" creationId="{DDC81A7F-1B2E-4564-B56E-22D365D2E9C6}"/>
          </ac:spMkLst>
        </pc:spChg>
        <pc:spChg chg="mod">
          <ac:chgData name="Joshua FORRESTER" userId="0a9d0996-539f-4eb8-b015-02115b2d7070" providerId="ADAL" clId="{06C89E91-6C4D-464C-9229-D5A94D6D3775}" dt="2026-03-31T06:28:32.448" v="253" actId="20577"/>
          <ac:spMkLst>
            <pc:docMk/>
            <pc:sldMk cId="3115075331" sldId="450"/>
            <ac:spMk id="3" creationId="{088DA532-786A-4486-BF09-16A6B1E45330}"/>
          </ac:spMkLst>
        </pc:spChg>
      </pc:sldChg>
      <pc:sldChg chg="modSp mod">
        <pc:chgData name="Joshua FORRESTER" userId="0a9d0996-539f-4eb8-b015-02115b2d7070" providerId="ADAL" clId="{06C89E91-6C4D-464C-9229-D5A94D6D3775}" dt="2026-03-31T06:28:39.404" v="256" actId="5793"/>
        <pc:sldMkLst>
          <pc:docMk/>
          <pc:sldMk cId="4152551690" sldId="452"/>
        </pc:sldMkLst>
        <pc:spChg chg="mod">
          <ac:chgData name="Joshua FORRESTER" userId="0a9d0996-539f-4eb8-b015-02115b2d7070" providerId="ADAL" clId="{06C89E91-6C4D-464C-9229-D5A94D6D3775}" dt="2026-03-31T06:21:49.652" v="132" actId="255"/>
          <ac:spMkLst>
            <pc:docMk/>
            <pc:sldMk cId="4152551690" sldId="452"/>
            <ac:spMk id="2" creationId="{DDC81A7F-1B2E-4564-B56E-22D365D2E9C6}"/>
          </ac:spMkLst>
        </pc:spChg>
        <pc:spChg chg="mod">
          <ac:chgData name="Joshua FORRESTER" userId="0a9d0996-539f-4eb8-b015-02115b2d7070" providerId="ADAL" clId="{06C89E91-6C4D-464C-9229-D5A94D6D3775}" dt="2026-03-31T06:28:39.404" v="256" actId="5793"/>
          <ac:spMkLst>
            <pc:docMk/>
            <pc:sldMk cId="4152551690" sldId="452"/>
            <ac:spMk id="3" creationId="{088DA532-786A-4486-BF09-16A6B1E45330}"/>
          </ac:spMkLst>
        </pc:spChg>
      </pc:sldChg>
      <pc:sldChg chg="modSp mod">
        <pc:chgData name="Joshua FORRESTER" userId="0a9d0996-539f-4eb8-b015-02115b2d7070" providerId="ADAL" clId="{06C89E91-6C4D-464C-9229-D5A94D6D3775}" dt="2026-03-31T06:30:07.234" v="273" actId="120"/>
        <pc:sldMkLst>
          <pc:docMk/>
          <pc:sldMk cId="3625061484" sldId="453"/>
        </pc:sldMkLst>
        <pc:spChg chg="mod">
          <ac:chgData name="Joshua FORRESTER" userId="0a9d0996-539f-4eb8-b015-02115b2d7070" providerId="ADAL" clId="{06C89E91-6C4D-464C-9229-D5A94D6D3775}" dt="2026-03-31T06:30:07.234" v="273" actId="120"/>
          <ac:spMkLst>
            <pc:docMk/>
            <pc:sldMk cId="3625061484" sldId="453"/>
            <ac:spMk id="2" creationId="{DDC81A7F-1B2E-4564-B56E-22D365D2E9C6}"/>
          </ac:spMkLst>
        </pc:spChg>
        <pc:spChg chg="mod">
          <ac:chgData name="Joshua FORRESTER" userId="0a9d0996-539f-4eb8-b015-02115b2d7070" providerId="ADAL" clId="{06C89E91-6C4D-464C-9229-D5A94D6D3775}" dt="2026-03-31T06:29:56.579" v="272" actId="20577"/>
          <ac:spMkLst>
            <pc:docMk/>
            <pc:sldMk cId="3625061484" sldId="453"/>
            <ac:spMk id="3" creationId="{088DA532-786A-4486-BF09-16A6B1E45330}"/>
          </ac:spMkLst>
        </pc:spChg>
      </pc:sldChg>
      <pc:sldChg chg="modSp mod">
        <pc:chgData name="Joshua FORRESTER" userId="0a9d0996-539f-4eb8-b015-02115b2d7070" providerId="ADAL" clId="{06C89E91-6C4D-464C-9229-D5A94D6D3775}" dt="2026-03-31T06:15:55.350" v="114" actId="20577"/>
        <pc:sldMkLst>
          <pc:docMk/>
          <pc:sldMk cId="3471846632" sldId="458"/>
        </pc:sldMkLst>
        <pc:spChg chg="mod">
          <ac:chgData name="Joshua FORRESTER" userId="0a9d0996-539f-4eb8-b015-02115b2d7070" providerId="ADAL" clId="{06C89E91-6C4D-464C-9229-D5A94D6D3775}" dt="2026-03-31T06:15:55.350" v="114" actId="20577"/>
          <ac:spMkLst>
            <pc:docMk/>
            <pc:sldMk cId="3471846632" sldId="458"/>
            <ac:spMk id="3" creationId="{088DA532-786A-4486-BF09-16A6B1E45330}"/>
          </ac:spMkLst>
        </pc:spChg>
      </pc:sldChg>
      <pc:sldChg chg="modSp mod">
        <pc:chgData name="Joshua FORRESTER" userId="0a9d0996-539f-4eb8-b015-02115b2d7070" providerId="ADAL" clId="{06C89E91-6C4D-464C-9229-D5A94D6D3775}" dt="2026-03-31T06:49:57.503" v="462" actId="20577"/>
        <pc:sldMkLst>
          <pc:docMk/>
          <pc:sldMk cId="877732478" sldId="459"/>
        </pc:sldMkLst>
        <pc:spChg chg="mod">
          <ac:chgData name="Joshua FORRESTER" userId="0a9d0996-539f-4eb8-b015-02115b2d7070" providerId="ADAL" clId="{06C89E91-6C4D-464C-9229-D5A94D6D3775}" dt="2026-03-31T06:49:57.503" v="462" actId="20577"/>
          <ac:spMkLst>
            <pc:docMk/>
            <pc:sldMk cId="877732478" sldId="459"/>
            <ac:spMk id="2" creationId="{698EDD08-3339-417E-B964-C530E73E0120}"/>
          </ac:spMkLst>
        </pc:spChg>
      </pc:sldChg>
      <pc:sldChg chg="modSp mod">
        <pc:chgData name="Joshua FORRESTER" userId="0a9d0996-539f-4eb8-b015-02115b2d7070" providerId="ADAL" clId="{06C89E91-6C4D-464C-9229-D5A94D6D3775}" dt="2026-03-31T06:13:30.018" v="85" actId="114"/>
        <pc:sldMkLst>
          <pc:docMk/>
          <pc:sldMk cId="1799337729" sldId="460"/>
        </pc:sldMkLst>
        <pc:spChg chg="mod">
          <ac:chgData name="Joshua FORRESTER" userId="0a9d0996-539f-4eb8-b015-02115b2d7070" providerId="ADAL" clId="{06C89E91-6C4D-464C-9229-D5A94D6D3775}" dt="2026-03-31T06:13:30.018" v="85" actId="114"/>
          <ac:spMkLst>
            <pc:docMk/>
            <pc:sldMk cId="1799337729" sldId="460"/>
            <ac:spMk id="2" creationId="{DDC81A7F-1B2E-4564-B56E-22D365D2E9C6}"/>
          </ac:spMkLst>
        </pc:spChg>
      </pc:sldChg>
      <pc:sldChg chg="modSp mod">
        <pc:chgData name="Joshua FORRESTER" userId="0a9d0996-539f-4eb8-b015-02115b2d7070" providerId="ADAL" clId="{06C89E91-6C4D-464C-9229-D5A94D6D3775}" dt="2026-03-31T06:11:45.848" v="45" actId="20577"/>
        <pc:sldMkLst>
          <pc:docMk/>
          <pc:sldMk cId="2803672555" sldId="465"/>
        </pc:sldMkLst>
        <pc:spChg chg="mod">
          <ac:chgData name="Joshua FORRESTER" userId="0a9d0996-539f-4eb8-b015-02115b2d7070" providerId="ADAL" clId="{06C89E91-6C4D-464C-9229-D5A94D6D3775}" dt="2026-03-31T06:11:45.848" v="45" actId="20577"/>
          <ac:spMkLst>
            <pc:docMk/>
            <pc:sldMk cId="2803672555" sldId="465"/>
            <ac:spMk id="2" creationId="{DDC81A7F-1B2E-4564-B56E-22D365D2E9C6}"/>
          </ac:spMkLst>
        </pc:spChg>
      </pc:sldChg>
      <pc:sldChg chg="modSp mod">
        <pc:chgData name="Joshua FORRESTER" userId="0a9d0996-539f-4eb8-b015-02115b2d7070" providerId="ADAL" clId="{06C89E91-6C4D-464C-9229-D5A94D6D3775}" dt="2026-03-31T06:12:54.534" v="80" actId="20577"/>
        <pc:sldMkLst>
          <pc:docMk/>
          <pc:sldMk cId="597944424" sldId="466"/>
        </pc:sldMkLst>
        <pc:spChg chg="mod">
          <ac:chgData name="Joshua FORRESTER" userId="0a9d0996-539f-4eb8-b015-02115b2d7070" providerId="ADAL" clId="{06C89E91-6C4D-464C-9229-D5A94D6D3775}" dt="2026-03-31T06:12:54.534" v="80" actId="20577"/>
          <ac:spMkLst>
            <pc:docMk/>
            <pc:sldMk cId="597944424" sldId="466"/>
            <ac:spMk id="2" creationId="{DDC81A7F-1B2E-4564-B56E-22D365D2E9C6}"/>
          </ac:spMkLst>
        </pc:spChg>
      </pc:sldChg>
      <pc:sldChg chg="modSp mod">
        <pc:chgData name="Joshua FORRESTER" userId="0a9d0996-539f-4eb8-b015-02115b2d7070" providerId="ADAL" clId="{06C89E91-6C4D-464C-9229-D5A94D6D3775}" dt="2026-03-31T06:35:35.487" v="286" actId="255"/>
        <pc:sldMkLst>
          <pc:docMk/>
          <pc:sldMk cId="3795525853" sldId="469"/>
        </pc:sldMkLst>
        <pc:spChg chg="mod">
          <ac:chgData name="Joshua FORRESTER" userId="0a9d0996-539f-4eb8-b015-02115b2d7070" providerId="ADAL" clId="{06C89E91-6C4D-464C-9229-D5A94D6D3775}" dt="2026-03-31T06:33:00.506" v="285" actId="20577"/>
          <ac:spMkLst>
            <pc:docMk/>
            <pc:sldMk cId="3795525853" sldId="469"/>
            <ac:spMk id="2" creationId="{DDC81A7F-1B2E-4564-B56E-22D365D2E9C6}"/>
          </ac:spMkLst>
        </pc:spChg>
        <pc:spChg chg="mod">
          <ac:chgData name="Joshua FORRESTER" userId="0a9d0996-539f-4eb8-b015-02115b2d7070" providerId="ADAL" clId="{06C89E91-6C4D-464C-9229-D5A94D6D3775}" dt="2026-03-31T06:35:35.487" v="286" actId="255"/>
          <ac:spMkLst>
            <pc:docMk/>
            <pc:sldMk cId="3795525853" sldId="469"/>
            <ac:spMk id="3" creationId="{088DA532-786A-4486-BF09-16A6B1E45330}"/>
          </ac:spMkLst>
        </pc:spChg>
        <pc:spChg chg="mod">
          <ac:chgData name="Joshua FORRESTER" userId="0a9d0996-539f-4eb8-b015-02115b2d7070" providerId="ADAL" clId="{06C89E91-6C4D-464C-9229-D5A94D6D3775}" dt="2026-03-31T06:32:55.478" v="283" actId="1076"/>
          <ac:spMkLst>
            <pc:docMk/>
            <pc:sldMk cId="3795525853" sldId="469"/>
            <ac:spMk id="4" creationId="{ED3AFBED-C6E9-CD49-C252-5DF9EA96375C}"/>
          </ac:spMkLst>
        </pc:spChg>
        <pc:picChg chg="mod">
          <ac:chgData name="Joshua FORRESTER" userId="0a9d0996-539f-4eb8-b015-02115b2d7070" providerId="ADAL" clId="{06C89E91-6C4D-464C-9229-D5A94D6D3775}" dt="2026-03-31T06:32:48.801" v="282" actId="14100"/>
          <ac:picMkLst>
            <pc:docMk/>
            <pc:sldMk cId="3795525853" sldId="469"/>
            <ac:picMk id="5" creationId="{2B771195-A186-E6FE-52AB-FE3A14F90DE8}"/>
          </ac:picMkLst>
        </pc:picChg>
      </pc:sldChg>
      <pc:sldChg chg="modSp mod">
        <pc:chgData name="Joshua FORRESTER" userId="0a9d0996-539f-4eb8-b015-02115b2d7070" providerId="ADAL" clId="{06C89E91-6C4D-464C-9229-D5A94D6D3775}" dt="2026-03-31T06:10:40.326" v="4" actId="114"/>
        <pc:sldMkLst>
          <pc:docMk/>
          <pc:sldMk cId="1647497240" sldId="470"/>
        </pc:sldMkLst>
        <pc:spChg chg="mod">
          <ac:chgData name="Joshua FORRESTER" userId="0a9d0996-539f-4eb8-b015-02115b2d7070" providerId="ADAL" clId="{06C89E91-6C4D-464C-9229-D5A94D6D3775}" dt="2026-03-31T06:10:40.326" v="4" actId="114"/>
          <ac:spMkLst>
            <pc:docMk/>
            <pc:sldMk cId="1647497240" sldId="470"/>
            <ac:spMk id="8" creationId="{F28F06F2-0909-563D-356E-5F6FA5F6A8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3/31/2026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3/31/2026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ver Option A">
    <p:spTree>
      <p:nvGrpSpPr>
        <p:cNvPr id="1" name=""/>
        <p:cNvGrpSpPr/>
        <p:nvPr/>
      </p:nvGrpSpPr>
      <p:grpSpPr>
        <a:xfrm>
          <a:off x="0" y="0"/>
          <a:ext cx="0" cy="0"/>
          <a:chOff x="0" y="0"/>
          <a:chExt cx="0" cy="0"/>
        </a:xfrm>
      </p:grpSpPr>
      <p:sp>
        <p:nvSpPr>
          <p:cNvPr id="9" name="Rectangle 8"/>
          <p:cNvSpPr/>
          <p:nvPr userDrawn="1"/>
        </p:nvSpPr>
        <p:spPr>
          <a:xfrm>
            <a:off x="0" y="0"/>
            <a:ext cx="6858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6" name="Title 1"/>
          <p:cNvSpPr>
            <a:spLocks noGrp="1"/>
          </p:cNvSpPr>
          <p:nvPr>
            <p:ph type="ctrTitle" hasCustomPrompt="1"/>
          </p:nvPr>
        </p:nvSpPr>
        <p:spPr>
          <a:xfrm>
            <a:off x="385277" y="3511275"/>
            <a:ext cx="3362928" cy="1348199"/>
          </a:xfrm>
        </p:spPr>
        <p:txBody>
          <a:bodyPr anchor="ctr">
            <a:normAutofit/>
          </a:bodyPr>
          <a:lstStyle>
            <a:lvl1pPr algn="l">
              <a:lnSpc>
                <a:spcPct val="100000"/>
              </a:lnSpc>
              <a:spcAft>
                <a:spcPts val="338"/>
              </a:spcAft>
              <a:defRPr sz="1575" b="1" baseline="0">
                <a:solidFill>
                  <a:schemeClr val="tx1"/>
                </a:solidFill>
                <a:latin typeface="Arial" charset="0"/>
                <a:ea typeface="Arial" charset="0"/>
                <a:cs typeface="Arial" charset="0"/>
              </a:defRPr>
            </a:lvl1pPr>
          </a:lstStyle>
          <a:p>
            <a:r>
              <a:rPr lang="en-US" dirty="0"/>
              <a:t>Cover Option A: Click to add heading</a:t>
            </a:r>
          </a:p>
        </p:txBody>
      </p:sp>
      <p:pic>
        <p:nvPicPr>
          <p:cNvPr id="7" name="Picture 6"/>
          <p:cNvPicPr>
            <a:picLocks noChangeAspect="1"/>
          </p:cNvPicPr>
          <p:nvPr userDrawn="1"/>
        </p:nvPicPr>
        <p:blipFill>
          <a:blip r:embed="rId2"/>
          <a:stretch>
            <a:fillRect/>
          </a:stretch>
        </p:blipFill>
        <p:spPr>
          <a:xfrm>
            <a:off x="4340577" y="77164"/>
            <a:ext cx="2427111" cy="557336"/>
          </a:xfrm>
          <a:prstGeom prst="rect">
            <a:avLst/>
          </a:prstGeom>
        </p:spPr>
      </p:pic>
    </p:spTree>
    <p:extLst>
      <p:ext uri="{BB962C8B-B14F-4D97-AF65-F5344CB8AC3E}">
        <p14:creationId xmlns:p14="http://schemas.microsoft.com/office/powerpoint/2010/main" val="204498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Main Cover Option C">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0" y="0"/>
            <a:ext cx="3800294" cy="5143500"/>
          </a:xfrm>
          <a:solidFill>
            <a:schemeClr val="tx2">
              <a:lumMod val="20000"/>
              <a:lumOff val="80000"/>
            </a:schemeClr>
          </a:solidFill>
        </p:spPr>
        <p:txBody>
          <a:bodyPr anchor="ctr">
            <a:normAutofit/>
          </a:bodyPr>
          <a:lstStyle>
            <a:lvl1pPr marL="0" indent="0" algn="ctr">
              <a:buNone/>
              <a:defRPr sz="900" b="0" baseline="0"/>
            </a:lvl1pPr>
          </a:lstStyle>
          <a:p>
            <a:r>
              <a:rPr lang="en-US" dirty="0"/>
              <a:t>Click this icon to insert image</a:t>
            </a:r>
          </a:p>
        </p:txBody>
      </p:sp>
      <p:sp>
        <p:nvSpPr>
          <p:cNvPr id="14" name="Title 1"/>
          <p:cNvSpPr>
            <a:spLocks noGrp="1"/>
          </p:cNvSpPr>
          <p:nvPr>
            <p:ph type="ctrTitle" hasCustomPrompt="1"/>
          </p:nvPr>
        </p:nvSpPr>
        <p:spPr>
          <a:xfrm>
            <a:off x="3964463" y="2254510"/>
            <a:ext cx="2706179" cy="928217"/>
          </a:xfrm>
        </p:spPr>
        <p:txBody>
          <a:bodyPr anchor="b">
            <a:normAutofit/>
          </a:bodyPr>
          <a:lstStyle>
            <a:lvl1pPr algn="l">
              <a:lnSpc>
                <a:spcPct val="100000"/>
              </a:lnSpc>
              <a:spcAft>
                <a:spcPts val="338"/>
              </a:spcAft>
              <a:defRPr sz="1600" b="1" baseline="0">
                <a:solidFill>
                  <a:schemeClr val="accent4"/>
                </a:solidFill>
                <a:latin typeface="Arial" charset="0"/>
                <a:ea typeface="Arial" charset="0"/>
                <a:cs typeface="Arial" charset="0"/>
              </a:defRPr>
            </a:lvl1pPr>
          </a:lstStyle>
          <a:p>
            <a:r>
              <a:rPr lang="en-US" dirty="0"/>
              <a:t>Cover Option C:</a:t>
            </a:r>
            <a:br>
              <a:rPr lang="en-US" dirty="0"/>
            </a:br>
            <a:r>
              <a:rPr lang="en-US" dirty="0"/>
              <a:t>Click to add heading</a:t>
            </a:r>
          </a:p>
        </p:txBody>
      </p:sp>
      <p:sp>
        <p:nvSpPr>
          <p:cNvPr id="5" name="Text Placeholder 4"/>
          <p:cNvSpPr>
            <a:spLocks noGrp="1"/>
          </p:cNvSpPr>
          <p:nvPr>
            <p:ph type="body" sz="quarter" idx="11" hasCustomPrompt="1"/>
          </p:nvPr>
        </p:nvSpPr>
        <p:spPr>
          <a:xfrm>
            <a:off x="3964843" y="3219451"/>
            <a:ext cx="2705873" cy="646113"/>
          </a:xfrm>
        </p:spPr>
        <p:txBody>
          <a:bodyPr>
            <a:normAutofit/>
          </a:bodyPr>
          <a:lstStyle>
            <a:lvl1pPr marL="0" indent="0">
              <a:lnSpc>
                <a:spcPct val="100000"/>
              </a:lnSpc>
              <a:buNone/>
              <a:defRPr sz="1400">
                <a:solidFill>
                  <a:schemeClr val="tx1"/>
                </a:solidFill>
              </a:defRPr>
            </a:lvl1pPr>
          </a:lstStyle>
          <a:p>
            <a:pPr lvl="0"/>
            <a:r>
              <a:rPr lang="en-US" dirty="0"/>
              <a:t>Click to add sub heading</a:t>
            </a:r>
          </a:p>
        </p:txBody>
      </p:sp>
      <p:pic>
        <p:nvPicPr>
          <p:cNvPr id="8" name="Picture 7"/>
          <p:cNvPicPr>
            <a:picLocks noChangeAspect="1"/>
          </p:cNvPicPr>
          <p:nvPr userDrawn="1"/>
        </p:nvPicPr>
        <p:blipFill>
          <a:blip r:embed="rId2"/>
          <a:stretch>
            <a:fillRect/>
          </a:stretch>
        </p:blipFill>
        <p:spPr>
          <a:xfrm>
            <a:off x="4340578" y="80586"/>
            <a:ext cx="2427111" cy="557336"/>
          </a:xfrm>
          <a:prstGeom prst="rect">
            <a:avLst/>
          </a:prstGeom>
        </p:spPr>
      </p:pic>
    </p:spTree>
    <p:extLst>
      <p:ext uri="{BB962C8B-B14F-4D97-AF65-F5344CB8AC3E}">
        <p14:creationId xmlns:p14="http://schemas.microsoft.com/office/powerpoint/2010/main" val="81935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 col text only">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9349" y="889908"/>
            <a:ext cx="4648755" cy="3742815"/>
          </a:xfrm>
        </p:spPr>
        <p:txBody>
          <a:bodyPr>
            <a:normAutofit/>
          </a:bodyPr>
          <a:lstStyle>
            <a:lvl1pPr marL="0" indent="0">
              <a:lnSpc>
                <a:spcPct val="100000"/>
              </a:lnSpc>
              <a:buNone/>
              <a:defRPr sz="900"/>
            </a:lvl1pPr>
            <a:lvl2pPr>
              <a:lnSpc>
                <a:spcPct val="100000"/>
              </a:lnSpc>
              <a:defRPr sz="900"/>
            </a:lvl2pPr>
            <a:lvl3pPr>
              <a:lnSpc>
                <a:spcPct val="100000"/>
              </a:lnSpc>
              <a:defRPr sz="900"/>
            </a:lvl3pPr>
          </a:lstStyle>
          <a:p>
            <a:pPr lvl="0"/>
            <a:r>
              <a:rPr lang="en-US"/>
              <a:t>Click to edit Master text styles</a:t>
            </a:r>
          </a:p>
          <a:p>
            <a:pPr lvl="1"/>
            <a:r>
              <a:rPr lang="en-US"/>
              <a:t>Second level</a:t>
            </a:r>
          </a:p>
          <a:p>
            <a:pPr lvl="2"/>
            <a:r>
              <a:rPr lang="en-US"/>
              <a:t>Third level</a:t>
            </a:r>
          </a:p>
        </p:txBody>
      </p:sp>
      <p:sp>
        <p:nvSpPr>
          <p:cNvPr id="9" name="Rectangle 8"/>
          <p:cNvSpPr>
            <a:spLocks noChangeArrowheads="1"/>
          </p:cNvSpPr>
          <p:nvPr userDrawn="1"/>
        </p:nvSpPr>
        <p:spPr bwMode="auto">
          <a:xfrm>
            <a:off x="0" y="0"/>
            <a:ext cx="6094304" cy="562369"/>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013">
              <a:solidFill>
                <a:schemeClr val="accent5"/>
              </a:solidFill>
            </a:endParaRPr>
          </a:p>
        </p:txBody>
      </p:sp>
      <p:sp>
        <p:nvSpPr>
          <p:cNvPr id="10" name="Title 1"/>
          <p:cNvSpPr>
            <a:spLocks noGrp="1"/>
          </p:cNvSpPr>
          <p:nvPr>
            <p:ph type="title" hasCustomPrompt="1"/>
          </p:nvPr>
        </p:nvSpPr>
        <p:spPr>
          <a:xfrm>
            <a:off x="259350" y="-2380"/>
            <a:ext cx="5667318" cy="564749"/>
          </a:xfrm>
        </p:spPr>
        <p:txBody>
          <a:bodyPr>
            <a:normAutofit/>
          </a:bodyPr>
          <a:lstStyle>
            <a:lvl1pPr>
              <a:defRPr sz="1350" b="1" baseline="0">
                <a:solidFill>
                  <a:schemeClr val="tx1"/>
                </a:solidFill>
              </a:defRPr>
            </a:lvl1pPr>
          </a:lstStyle>
          <a:p>
            <a:r>
              <a:rPr lang="en-US" dirty="0"/>
              <a:t>1 column text only slide. Click to add title. </a:t>
            </a:r>
          </a:p>
        </p:txBody>
      </p:sp>
      <p:pic>
        <p:nvPicPr>
          <p:cNvPr id="2" name="Picture 1"/>
          <p:cNvPicPr>
            <a:picLocks noChangeAspect="1"/>
          </p:cNvPicPr>
          <p:nvPr userDrawn="1"/>
        </p:nvPicPr>
        <p:blipFill>
          <a:blip r:embed="rId2"/>
          <a:stretch>
            <a:fillRect/>
          </a:stretch>
        </p:blipFill>
        <p:spPr>
          <a:xfrm>
            <a:off x="6094304" y="-2380"/>
            <a:ext cx="763695" cy="564749"/>
          </a:xfrm>
          <a:prstGeom prst="rect">
            <a:avLst/>
          </a:prstGeom>
        </p:spPr>
      </p:pic>
    </p:spTree>
    <p:extLst>
      <p:ext uri="{BB962C8B-B14F-4D97-AF65-F5344CB8AC3E}">
        <p14:creationId xmlns:p14="http://schemas.microsoft.com/office/powerpoint/2010/main" val="1283366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3/31/2026</a:t>
            </a:fld>
            <a:endParaRPr lang="en-US" dirty="0"/>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
        <p:nvSpPr>
          <p:cNvPr id="8" name="TextBox 7">
            <a:extLst>
              <a:ext uri="{FF2B5EF4-FFF2-40B4-BE49-F238E27FC236}">
                <a16:creationId xmlns:a16="http://schemas.microsoft.com/office/drawing/2014/main" id="{2DB0A570-3439-75FA-C9B2-E3CC221E0BA8}"/>
              </a:ext>
            </a:extLst>
          </p:cNvPr>
          <p:cNvSpPr txBox="1"/>
          <p:nvPr userDrawn="1">
            <p:extLst>
              <p:ext uri="{1162E1C5-73C7-4A58-AE30-91384D911F3F}">
                <p184:classification xmlns:p184="http://schemas.microsoft.com/office/powerpoint/2018/4/main" val="ftr"/>
              </p:ext>
            </p:extLst>
          </p:nvPr>
        </p:nvSpPr>
        <p:spPr>
          <a:xfrm>
            <a:off x="2655888" y="4897120"/>
            <a:ext cx="1581150" cy="182880"/>
          </a:xfrm>
          <a:prstGeom prst="rect">
            <a:avLst/>
          </a:prstGeom>
        </p:spPr>
        <p:txBody>
          <a:bodyPr horzOverflow="overflow" lIns="0" tIns="0" rIns="0" bIns="0">
            <a:spAutoFit/>
          </a:bodyPr>
          <a:lstStyle/>
          <a:p>
            <a:pPr algn="l"/>
            <a:r>
              <a:rPr lang="en-AU" sz="12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ECU Internal Information</a:t>
            </a:r>
          </a:p>
        </p:txBody>
      </p:sp>
    </p:spTree>
    <p:extLst>
      <p:ext uri="{BB962C8B-B14F-4D97-AF65-F5344CB8AC3E}">
        <p14:creationId xmlns:p14="http://schemas.microsoft.com/office/powerpoint/2010/main" val="1550542115"/>
      </p:ext>
    </p:extLst>
  </p:cSld>
  <p:clrMap bg1="lt1" tx1="dk1" bg2="lt2" tx2="dk2" accent1="accent1" accent2="accent2" accent3="accent3" accent4="accent4" accent5="accent5" accent6="accent6" hlink="hlink" folHlink="folHlink"/>
  <p:sldLayoutIdLst>
    <p:sldLayoutId id="2147483676" r:id="rId1"/>
    <p:sldLayoutId id="2147483691" r:id="rId2"/>
    <p:sldLayoutId id="2147483692" r:id="rId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classic.austlii.edu.au/au/legis/wa/consol_act/tola1893160/s247.html#right"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ctrTitle"/>
          </p:nvPr>
        </p:nvSpPr>
        <p:spPr>
          <a:xfrm>
            <a:off x="3800475" y="899160"/>
            <a:ext cx="2870167" cy="1524000"/>
          </a:xfrm>
        </p:spPr>
        <p:txBody>
          <a:bodyPr>
            <a:normAutofit/>
          </a:bodyPr>
          <a:lstStyle/>
          <a:p>
            <a:r>
              <a:rPr lang="en-US" altLang="en-US" sz="2400" b="1" dirty="0">
                <a:ea typeface="ＭＳ Ｐゴシック" panose="020B0600070205080204" pitchFamily="34" charset="-128"/>
              </a:rPr>
              <a:t>LAW2102</a:t>
            </a:r>
            <a:br>
              <a:rPr lang="en-US" altLang="en-US" sz="2400" b="1" dirty="0">
                <a:ea typeface="ＭＳ Ｐゴシック" panose="020B0600070205080204" pitchFamily="34" charset="-128"/>
              </a:rPr>
            </a:br>
            <a:r>
              <a:rPr lang="en-US" altLang="en-US" sz="2400" b="1" dirty="0">
                <a:ea typeface="ＭＳ Ｐゴシック" panose="020B0600070205080204" pitchFamily="34" charset="-128"/>
              </a:rPr>
              <a:t>PROPERTY LAW 1</a:t>
            </a:r>
            <a:br>
              <a:rPr lang="en-US" altLang="en-US" sz="2400" b="1" dirty="0">
                <a:ea typeface="ＭＳ Ｐゴシック" panose="020B0600070205080204" pitchFamily="34" charset="-128"/>
              </a:rPr>
            </a:br>
            <a:endParaRPr lang="en-US" dirty="0"/>
          </a:p>
        </p:txBody>
      </p:sp>
      <p:sp>
        <p:nvSpPr>
          <p:cNvPr id="19" name="Text Placeholder 18"/>
          <p:cNvSpPr>
            <a:spLocks noGrp="1"/>
          </p:cNvSpPr>
          <p:nvPr>
            <p:ph type="body" sz="quarter" idx="11"/>
          </p:nvPr>
        </p:nvSpPr>
        <p:spPr>
          <a:xfrm>
            <a:off x="3800475" y="2423161"/>
            <a:ext cx="3003922" cy="2133972"/>
          </a:xfrm>
        </p:spPr>
        <p:txBody>
          <a:bodyPr>
            <a:normAutofit fontScale="92500" lnSpcReduction="20000"/>
          </a:bodyPr>
          <a:lstStyle/>
          <a:p>
            <a:r>
              <a:rPr lang="en-US" altLang="en-US" b="1" dirty="0">
                <a:ea typeface="ＭＳ Ｐゴシック" panose="020B0600070205080204" pitchFamily="34" charset="-128"/>
              </a:rPr>
              <a:t>Week 6</a:t>
            </a: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a:p>
            <a:r>
              <a:rPr lang="en-US" altLang="en-US" b="1" dirty="0">
                <a:ea typeface="ＭＳ Ｐゴシック" panose="020B0600070205080204" pitchFamily="34" charset="-128"/>
              </a:rPr>
              <a:t>Fragmentation of Property interests: Legal versus equitable interests in land (the final fragmentation)</a:t>
            </a:r>
          </a:p>
          <a:p>
            <a:r>
              <a:rPr lang="en-US" altLang="en-US" b="1" dirty="0">
                <a:ea typeface="ＭＳ Ｐゴシック" panose="020B0600070205080204" pitchFamily="34" charset="-128"/>
              </a:rPr>
              <a:t>Acquisition and Transfer of Property Interests</a:t>
            </a:r>
          </a:p>
          <a:p>
            <a:r>
              <a:rPr lang="en-US" dirty="0"/>
              <a:t>Semester 1, 2026</a:t>
            </a:r>
          </a:p>
          <a:p>
            <a:r>
              <a:rPr lang="en-US" dirty="0"/>
              <a:t>Presented by Joshua Forrester</a:t>
            </a:r>
          </a:p>
        </p:txBody>
      </p:sp>
      <p:graphicFrame>
        <p:nvGraphicFramePr>
          <p:cNvPr id="2" name="Picture Placeholder 1">
            <a:extLst>
              <a:ext uri="{FF2B5EF4-FFF2-40B4-BE49-F238E27FC236}">
                <a16:creationId xmlns:a16="http://schemas.microsoft.com/office/drawing/2014/main" id="{8DA06D4B-1117-4DEC-9AEC-206D30368E09}"/>
              </a:ext>
            </a:extLst>
          </p:cNvPr>
          <p:cNvGraphicFramePr>
            <a:graphicFrameLocks noGrp="1" noChangeAspect="1"/>
          </p:cNvGraphicFramePr>
          <p:nvPr>
            <p:ph type="pic" sz="quarter" idx="10"/>
            <p:extLst>
              <p:ext uri="{D42A27DB-BD31-4B8C-83A1-F6EECF244321}">
                <p14:modId xmlns:p14="http://schemas.microsoft.com/office/powerpoint/2010/main" val="1255073206"/>
              </p:ext>
            </p:extLst>
          </p:nvPr>
        </p:nvGraphicFramePr>
        <p:xfrm>
          <a:off x="655845" y="2212975"/>
          <a:ext cx="2468629" cy="717550"/>
        </p:xfrm>
        <a:graphic>
          <a:graphicData uri="http://schemas.openxmlformats.org/presentationml/2006/ole">
            <mc:AlternateContent xmlns:mc="http://schemas.openxmlformats.org/markup-compatibility/2006">
              <mc:Choice xmlns:v="urn:schemas-microsoft-com:vml" Requires="v">
                <p:oleObj name="Packager Shell Object" showAsIcon="1" r:id="rId2" imgW="2549160" imgH="481320" progId="Package">
                  <p:embed/>
                </p:oleObj>
              </mc:Choice>
              <mc:Fallback>
                <p:oleObj name="Packager Shell Object" showAsIcon="1" r:id="rId2" imgW="2549160" imgH="481320" progId="Package">
                  <p:embed/>
                  <p:pic>
                    <p:nvPicPr>
                      <p:cNvPr id="2" name="Picture Placeholder 1">
                        <a:extLst>
                          <a:ext uri="{FF2B5EF4-FFF2-40B4-BE49-F238E27FC236}">
                            <a16:creationId xmlns:a16="http://schemas.microsoft.com/office/drawing/2014/main" id="{8DA06D4B-1117-4DEC-9AEC-206D30368E09}"/>
                          </a:ext>
                        </a:extLst>
                      </p:cNvPr>
                      <p:cNvPicPr/>
                      <p:nvPr/>
                    </p:nvPicPr>
                    <p:blipFill>
                      <a:blip r:embed="rId3"/>
                      <a:stretch>
                        <a:fillRect/>
                      </a:stretch>
                    </p:blipFill>
                    <p:spPr>
                      <a:xfrm>
                        <a:off x="655845" y="2212975"/>
                        <a:ext cx="2468629" cy="717550"/>
                      </a:xfrm>
                      <a:prstGeom prst="rect">
                        <a:avLst/>
                      </a:prstGeom>
                    </p:spPr>
                  </p:pic>
                </p:oleObj>
              </mc:Fallback>
            </mc:AlternateContent>
          </a:graphicData>
        </a:graphic>
      </p:graphicFrame>
      <p:pic>
        <p:nvPicPr>
          <p:cNvPr id="6" name="Picture 5" descr="A picture containing ocean floor&#10;&#10;Description automatically generated">
            <a:extLst>
              <a:ext uri="{FF2B5EF4-FFF2-40B4-BE49-F238E27FC236}">
                <a16:creationId xmlns:a16="http://schemas.microsoft.com/office/drawing/2014/main" id="{E224B437-04A4-4BC2-B19F-BB5CACEFAF17}"/>
              </a:ext>
            </a:extLst>
          </p:cNvPr>
          <p:cNvPicPr>
            <a:picLocks noChangeAspect="1"/>
          </p:cNvPicPr>
          <p:nvPr/>
        </p:nvPicPr>
        <p:blipFill>
          <a:blip r:embed="rId4"/>
          <a:stretch>
            <a:fillRect/>
          </a:stretch>
        </p:blipFill>
        <p:spPr>
          <a:xfrm>
            <a:off x="495300" y="750439"/>
            <a:ext cx="2933700" cy="3670212"/>
          </a:xfrm>
          <a:prstGeom prst="rect">
            <a:avLst/>
          </a:prstGeom>
        </p:spPr>
      </p:pic>
    </p:spTree>
    <p:extLst>
      <p:ext uri="{BB962C8B-B14F-4D97-AF65-F5344CB8AC3E}">
        <p14:creationId xmlns:p14="http://schemas.microsoft.com/office/powerpoint/2010/main" val="113310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662940"/>
            <a:ext cx="4094166" cy="3969783"/>
          </a:xfrm>
        </p:spPr>
        <p:txBody>
          <a:bodyPr>
            <a:noAutofit/>
          </a:bodyPr>
          <a:lstStyle/>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Identify the distinction between legal and equitable interests in land (the jurisdiction fragmentation).</a:t>
            </a:r>
          </a:p>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Understand equitable maxims, and how equitable interests in land are categorised. </a:t>
            </a:r>
          </a:p>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Understand, explain and apply the formal requirements for the acquisition and transfer of legal and equitable interests in land under the general law and the Torrens system.</a:t>
            </a:r>
          </a:p>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Determine the limits of enforceability of equitable interests and remedies.</a:t>
            </a:r>
          </a:p>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Look at the doctrine of equitable estoppel if there is no agreement or part performance.</a:t>
            </a:r>
          </a:p>
          <a:p>
            <a:pPr marL="177800" indent="-177800" algn="just">
              <a:spcBef>
                <a:spcPts val="900"/>
              </a:spcBef>
              <a:buFont typeface="Wingdings" panose="05000000000000000000" pitchFamily="2" charset="2"/>
              <a:buChar char="§"/>
              <a:defRPr/>
            </a:pPr>
            <a:r>
              <a:rPr lang="en-AU" altLang="en-US" sz="1200" dirty="0">
                <a:ea typeface="ＭＳ Ｐゴシック" pitchFamily="34" charset="-128"/>
              </a:rPr>
              <a:t>Look at statutory requirements for creating legal interests in land under the PLA and TLA.</a:t>
            </a:r>
          </a:p>
          <a:p>
            <a:r>
              <a:rPr lang="en-AU" dirty="0"/>
              <a:t>Why Godzilla on the front slide? Well, why </a:t>
            </a:r>
            <a:r>
              <a:rPr lang="en-AU" i="1" dirty="0"/>
              <a:t>not </a:t>
            </a:r>
            <a:r>
              <a:rPr lang="en-AU" dirty="0"/>
              <a:t>Godzilla?!</a:t>
            </a:r>
          </a:p>
          <a:p>
            <a:r>
              <a:rPr lang="en-AU" dirty="0"/>
              <a:t>OR rather</a:t>
            </a:r>
          </a:p>
          <a:p>
            <a:r>
              <a:rPr lang="en-AU" dirty="0"/>
              <a:t>Acquisition of property rights is always about </a:t>
            </a:r>
            <a:r>
              <a:rPr lang="en-AU" i="1" dirty="0"/>
              <a:t>getting </a:t>
            </a:r>
            <a:r>
              <a:rPr lang="en-AU" dirty="0"/>
              <a:t>something…</a:t>
            </a:r>
          </a:p>
          <a:p>
            <a:r>
              <a:rPr lang="en-AU" dirty="0"/>
              <a:t>and Godzilla always GETS what Godzilla wants!</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Today’s Agenda/Learning Goals</a:t>
            </a:r>
          </a:p>
        </p:txBody>
      </p:sp>
      <p:pic>
        <p:nvPicPr>
          <p:cNvPr id="5" name="Picture 4" descr="A cat wrapped in a towel with cucumbers on its eyes&#10;&#10;Description automatically generated">
            <a:extLst>
              <a:ext uri="{FF2B5EF4-FFF2-40B4-BE49-F238E27FC236}">
                <a16:creationId xmlns:a16="http://schemas.microsoft.com/office/drawing/2014/main" id="{0E807894-7E42-DBEC-5B81-B48D03A1E33C}"/>
              </a:ext>
            </a:extLst>
          </p:cNvPr>
          <p:cNvPicPr>
            <a:picLocks noChangeAspect="1"/>
          </p:cNvPicPr>
          <p:nvPr/>
        </p:nvPicPr>
        <p:blipFill>
          <a:blip r:embed="rId2"/>
          <a:stretch>
            <a:fillRect/>
          </a:stretch>
        </p:blipFill>
        <p:spPr>
          <a:xfrm>
            <a:off x="4612770" y="987013"/>
            <a:ext cx="1925190" cy="3479791"/>
          </a:xfrm>
          <a:prstGeom prst="rect">
            <a:avLst/>
          </a:prstGeom>
        </p:spPr>
      </p:pic>
    </p:spTree>
    <p:extLst>
      <p:ext uri="{BB962C8B-B14F-4D97-AF65-F5344CB8AC3E}">
        <p14:creationId xmlns:p14="http://schemas.microsoft.com/office/powerpoint/2010/main" val="3656083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1" y="1003420"/>
            <a:ext cx="3024869" cy="3742815"/>
          </a:xfrm>
        </p:spPr>
        <p:txBody>
          <a:bodyPr>
            <a:normAutofit fontScale="70000" lnSpcReduction="20000"/>
          </a:bodyPr>
          <a:lstStyle/>
          <a:p>
            <a:pPr algn="just">
              <a:spcBef>
                <a:spcPts val="900"/>
              </a:spcBef>
              <a:defRPr/>
            </a:pPr>
            <a:r>
              <a:rPr lang="en-AU" altLang="en-US" sz="1600" dirty="0">
                <a:ea typeface="ＭＳ Ｐゴシック" pitchFamily="34" charset="-128"/>
              </a:rPr>
              <a:t>When we looked at fragmentation of property interests in previous lectures (spatial, temporal and systemic), we briefly noted that property interests can also be fragmented into </a:t>
            </a:r>
            <a:r>
              <a:rPr lang="en-AU" altLang="en-US" sz="1600" i="1" dirty="0">
                <a:ea typeface="ＭＳ Ｐゴシック" pitchFamily="34" charset="-128"/>
              </a:rPr>
              <a:t>legal </a:t>
            </a:r>
            <a:r>
              <a:rPr lang="en-AU" altLang="en-US" sz="1600" dirty="0">
                <a:ea typeface="ＭＳ Ｐゴシック" pitchFamily="34" charset="-128"/>
              </a:rPr>
              <a:t>interests and </a:t>
            </a:r>
            <a:r>
              <a:rPr lang="en-AU" altLang="en-US" sz="1600" i="1" dirty="0">
                <a:ea typeface="ＭＳ Ｐゴシック" pitchFamily="34" charset="-128"/>
              </a:rPr>
              <a:t>equitable </a:t>
            </a:r>
            <a:r>
              <a:rPr lang="en-AU" altLang="en-US" sz="1600" dirty="0">
                <a:ea typeface="ＭＳ Ｐゴシック" pitchFamily="34" charset="-128"/>
              </a:rPr>
              <a:t>interests.</a:t>
            </a:r>
          </a:p>
          <a:p>
            <a:pPr algn="just">
              <a:spcBef>
                <a:spcPts val="900"/>
              </a:spcBef>
              <a:defRPr/>
            </a:pPr>
            <a:r>
              <a:rPr lang="en-AU" altLang="en-US" sz="1600" dirty="0">
                <a:ea typeface="ＭＳ Ｐゴシック" pitchFamily="34" charset="-128"/>
              </a:rPr>
              <a:t>Although this is something you will learn in more detail in the Equity unit, the concept of someone having an equitable interest in property as opposed to a legal interest arose out of the Court of Chancery’s practice of recognising property rights other than those set out by words of limitation at common law (legal interests). This, as with the other types of fragmentation of property rights, reflects property law’s nature as a </a:t>
            </a:r>
            <a:r>
              <a:rPr lang="en-AU" altLang="en-US" sz="1600" i="1" dirty="0">
                <a:ea typeface="ＭＳ Ｐゴシック" pitchFamily="34" charset="-128"/>
              </a:rPr>
              <a:t>bundle </a:t>
            </a:r>
            <a:r>
              <a:rPr lang="en-AU" altLang="en-US" sz="1600" dirty="0">
                <a:ea typeface="ＭＳ Ｐゴシック" pitchFamily="34" charset="-128"/>
              </a:rPr>
              <a:t>of rights. </a:t>
            </a:r>
          </a:p>
          <a:p>
            <a:pPr algn="just">
              <a:spcBef>
                <a:spcPts val="900"/>
              </a:spcBef>
              <a:defRPr/>
            </a:pPr>
            <a:r>
              <a:rPr lang="en-AU" altLang="en-US" sz="1600" dirty="0">
                <a:ea typeface="ＭＳ Ｐゴシック" pitchFamily="34" charset="-128"/>
              </a:rPr>
              <a:t>And in case anyone still cares, to try and make property rights fairer.</a:t>
            </a:r>
          </a:p>
          <a:p>
            <a:pPr algn="just">
              <a:spcBef>
                <a:spcPts val="900"/>
              </a:spcBef>
              <a:defRPr/>
            </a:pPr>
            <a:endParaRPr lang="en-AU" altLang="en-US" sz="900" dirty="0">
              <a:ea typeface="ＭＳ Ｐゴシック" pitchFamily="34" charset="-128"/>
            </a:endParaRPr>
          </a:p>
          <a:p>
            <a:r>
              <a:rPr lang="en-AU" sz="1100" i="1" dirty="0"/>
              <a:t>Pacific Rim </a:t>
            </a:r>
            <a:r>
              <a:rPr lang="en-AU" sz="1100" dirty="0"/>
              <a:t>is about jaegers (mecha) fighting kaiju (giant monsters not unlike Godzilla). Hence, from this point on, giant robots may show up whenever Godzilla makes an appearance in this course. Sorry Haydn, Godzilla isn’t having it all his own way…</a:t>
            </a: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Legal and Equitable Interests</a:t>
            </a:r>
          </a:p>
        </p:txBody>
      </p:sp>
      <p:pic>
        <p:nvPicPr>
          <p:cNvPr id="6" name="Picture 5" descr="A poster of a robot&#10;&#10;AI-generated content may be incorrect.">
            <a:extLst>
              <a:ext uri="{FF2B5EF4-FFF2-40B4-BE49-F238E27FC236}">
                <a16:creationId xmlns:a16="http://schemas.microsoft.com/office/drawing/2014/main" id="{FC8C9973-3639-A6E2-3327-CF433FC76B45}"/>
              </a:ext>
            </a:extLst>
          </p:cNvPr>
          <p:cNvPicPr>
            <a:picLocks noChangeAspect="1"/>
          </p:cNvPicPr>
          <p:nvPr/>
        </p:nvPicPr>
        <p:blipFill>
          <a:blip r:embed="rId2"/>
          <a:stretch>
            <a:fillRect/>
          </a:stretch>
        </p:blipFill>
        <p:spPr>
          <a:xfrm>
            <a:off x="3685570" y="779227"/>
            <a:ext cx="2829473" cy="4054171"/>
          </a:xfrm>
          <a:prstGeom prst="rect">
            <a:avLst/>
          </a:prstGeom>
        </p:spPr>
      </p:pic>
    </p:spTree>
    <p:extLst>
      <p:ext uri="{BB962C8B-B14F-4D97-AF65-F5344CB8AC3E}">
        <p14:creationId xmlns:p14="http://schemas.microsoft.com/office/powerpoint/2010/main" val="113662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BF6D2-5882-6B3E-8E00-FD556E52BD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4DA1D9-009C-A939-A6DC-BA2F39479940}"/>
              </a:ext>
            </a:extLst>
          </p:cNvPr>
          <p:cNvSpPr>
            <a:spLocks noGrp="1"/>
          </p:cNvSpPr>
          <p:nvPr>
            <p:ph type="title"/>
          </p:nvPr>
        </p:nvSpPr>
        <p:spPr/>
        <p:txBody>
          <a:bodyPr>
            <a:normAutofit/>
          </a:bodyPr>
          <a:lstStyle/>
          <a:p>
            <a:r>
              <a:rPr lang="en-AU" sz="1800" b="0" dirty="0">
                <a:solidFill>
                  <a:schemeClr val="bg1"/>
                </a:solidFill>
              </a:rPr>
              <a:t>A brief history of Equity</a:t>
            </a:r>
          </a:p>
        </p:txBody>
      </p:sp>
      <p:sp>
        <p:nvSpPr>
          <p:cNvPr id="7" name="TextBox 6">
            <a:extLst>
              <a:ext uri="{FF2B5EF4-FFF2-40B4-BE49-F238E27FC236}">
                <a16:creationId xmlns:a16="http://schemas.microsoft.com/office/drawing/2014/main" id="{C5E1E2C6-208A-8B4D-C170-6050F6523C87}"/>
              </a:ext>
            </a:extLst>
          </p:cNvPr>
          <p:cNvSpPr txBox="1"/>
          <p:nvPr/>
        </p:nvSpPr>
        <p:spPr>
          <a:xfrm>
            <a:off x="162246" y="874643"/>
            <a:ext cx="3169650" cy="3831818"/>
          </a:xfrm>
          <a:prstGeom prst="rect">
            <a:avLst/>
          </a:prstGeom>
          <a:noFill/>
        </p:spPr>
        <p:txBody>
          <a:bodyPr wrap="square" rtlCol="0">
            <a:spAutoFit/>
          </a:bodyPr>
          <a:lstStyle/>
          <a:p>
            <a:pPr marL="266700" indent="-266700">
              <a:buFont typeface="Arial" panose="020B0604020202020204" pitchFamily="34" charset="0"/>
              <a:buChar char="•"/>
            </a:pPr>
            <a:r>
              <a:rPr lang="en-US" dirty="0"/>
              <a:t>In 1066, the Normans conquered England.</a:t>
            </a:r>
          </a:p>
          <a:p>
            <a:pPr marL="266700" indent="-266700">
              <a:buFont typeface="Arial" panose="020B0604020202020204" pitchFamily="34" charset="0"/>
              <a:buChar char="•"/>
            </a:pPr>
            <a:r>
              <a:rPr lang="en-US" dirty="0"/>
              <a:t>The Norman Kings imposed their authority on their (largely Anglo Saxon) subjects.</a:t>
            </a:r>
          </a:p>
          <a:p>
            <a:pPr marL="266700" indent="-266700">
              <a:buFont typeface="Arial" panose="020B0604020202020204" pitchFamily="34" charset="0"/>
              <a:buChar char="•"/>
            </a:pPr>
            <a:r>
              <a:rPr lang="en-US" dirty="0"/>
              <a:t>Norman Kings would hear and determine cases brought before them. </a:t>
            </a:r>
            <a:r>
              <a:rPr lang="en-AU" dirty="0"/>
              <a:t>Their guiding principle was, no matter the place where the case was determined, like cases would be decided in like manner. </a:t>
            </a:r>
          </a:p>
          <a:p>
            <a:pPr marL="266700" indent="-266700">
              <a:buFont typeface="Arial" panose="020B0604020202020204" pitchFamily="34" charset="0"/>
              <a:buChar char="•"/>
            </a:pPr>
            <a:r>
              <a:rPr lang="en-AU" dirty="0"/>
              <a:t>Hence, there would be one law common to all England. This is the origin of the term ‘common law’.</a:t>
            </a:r>
          </a:p>
          <a:p>
            <a:pPr marL="266700" indent="-266700">
              <a:buFont typeface="Arial" panose="020B0604020202020204" pitchFamily="34" charset="0"/>
              <a:buChar char="•"/>
            </a:pPr>
            <a:r>
              <a:rPr lang="en-AU" dirty="0"/>
              <a:t>Norman Kings eventually delegated the job of hearing and determining cases. This was the origin of the common law courts.</a:t>
            </a:r>
            <a:endParaRPr lang="en-US" dirty="0"/>
          </a:p>
        </p:txBody>
      </p:sp>
      <p:sp>
        <p:nvSpPr>
          <p:cNvPr id="8" name="TextBox 7">
            <a:extLst>
              <a:ext uri="{FF2B5EF4-FFF2-40B4-BE49-F238E27FC236}">
                <a16:creationId xmlns:a16="http://schemas.microsoft.com/office/drawing/2014/main" id="{F28F06F2-0909-563D-356E-5F6FA5F6A815}"/>
              </a:ext>
            </a:extLst>
          </p:cNvPr>
          <p:cNvSpPr txBox="1"/>
          <p:nvPr/>
        </p:nvSpPr>
        <p:spPr>
          <a:xfrm>
            <a:off x="3429000" y="874643"/>
            <a:ext cx="3169650" cy="4039567"/>
          </a:xfrm>
          <a:prstGeom prst="rect">
            <a:avLst/>
          </a:prstGeom>
          <a:noFill/>
        </p:spPr>
        <p:txBody>
          <a:bodyPr wrap="square" rtlCol="0">
            <a:spAutoFit/>
          </a:bodyPr>
          <a:lstStyle/>
          <a:p>
            <a:pPr marL="285750" indent="-285750">
              <a:buFont typeface="Arial" panose="020B0604020202020204" pitchFamily="34" charset="0"/>
              <a:buChar char="•"/>
            </a:pPr>
            <a:r>
              <a:rPr lang="en-US" dirty="0"/>
              <a:t>However, over time common law litigation became overly technical and rigid.</a:t>
            </a:r>
          </a:p>
          <a:p>
            <a:pPr marL="285750" indent="-285750">
              <a:buFont typeface="Arial" panose="020B0604020202020204" pitchFamily="34" charset="0"/>
              <a:buChar char="•"/>
            </a:pPr>
            <a:r>
              <a:rPr lang="en-US" dirty="0"/>
              <a:t>In the 15</a:t>
            </a:r>
            <a:r>
              <a:rPr lang="en-US" baseline="30000" dirty="0"/>
              <a:t>th</a:t>
            </a:r>
            <a:r>
              <a:rPr lang="en-US" dirty="0"/>
              <a:t> century, English subjects again approached the King directly to resolve disputes.</a:t>
            </a:r>
          </a:p>
          <a:p>
            <a:pPr marL="285750" indent="-285750">
              <a:buFont typeface="Arial" panose="020B0604020202020204" pitchFamily="34" charset="0"/>
              <a:buChar char="•"/>
            </a:pPr>
            <a:r>
              <a:rPr lang="en-US" dirty="0"/>
              <a:t>The King delegated these disputes to his Chancellor.</a:t>
            </a:r>
          </a:p>
          <a:p>
            <a:pPr marL="285750" indent="-285750">
              <a:buFont typeface="Arial" panose="020B0604020202020204" pitchFamily="34" charset="0"/>
              <a:buChar char="•"/>
            </a:pPr>
            <a:r>
              <a:rPr lang="en-US" dirty="0"/>
              <a:t>Chancellors at this time were priests, and determined disputes not according to common law precedent but to Christian precepts. The focus was on </a:t>
            </a:r>
            <a:r>
              <a:rPr lang="en-US" i="1" dirty="0"/>
              <a:t>conscience</a:t>
            </a:r>
            <a:r>
              <a:rPr lang="en-US" dirty="0"/>
              <a:t>.</a:t>
            </a:r>
            <a:endParaRPr lang="en-AU" dirty="0"/>
          </a:p>
          <a:p>
            <a:pPr marL="285750" indent="-285750">
              <a:buFont typeface="Arial" panose="020B0604020202020204" pitchFamily="34" charset="0"/>
              <a:buChar char="•"/>
            </a:pPr>
            <a:r>
              <a:rPr lang="en-AU" dirty="0"/>
              <a:t>Eventually, the Court of Chancey was established to exercise the Chancellor’s equitable jurisdiction.</a:t>
            </a:r>
          </a:p>
          <a:p>
            <a:pPr marL="285750" indent="-285750">
              <a:buFont typeface="Arial" panose="020B0604020202020204" pitchFamily="34" charset="0"/>
              <a:buChar char="•"/>
            </a:pPr>
            <a:r>
              <a:rPr lang="en-AU" dirty="0"/>
              <a:t>Common law and Equity work alongside each other.</a:t>
            </a:r>
            <a:endParaRPr lang="en-US" dirty="0"/>
          </a:p>
        </p:txBody>
      </p:sp>
    </p:spTree>
    <p:extLst>
      <p:ext uri="{BB962C8B-B14F-4D97-AF65-F5344CB8AC3E}">
        <p14:creationId xmlns:p14="http://schemas.microsoft.com/office/powerpoint/2010/main" val="1647497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3169651" cy="4237771"/>
          </a:xfrm>
        </p:spPr>
        <p:txBody>
          <a:bodyPr>
            <a:normAutofit fontScale="92500" lnSpcReduction="10000"/>
          </a:bodyPr>
          <a:lstStyle/>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Equity follows the law.</a:t>
            </a:r>
          </a:p>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Equitable remedies are discretionary.</a:t>
            </a:r>
          </a:p>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Delay defeats equity.</a:t>
            </a:r>
          </a:p>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Where there are equal equities, the first in time prevails.</a:t>
            </a:r>
          </a:p>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Equity looks to the intent rather than to the form.</a:t>
            </a:r>
          </a:p>
          <a:p>
            <a:pPr marL="177800" indent="-177800" algn="just">
              <a:spcBef>
                <a:spcPts val="900"/>
              </a:spcBef>
              <a:buFont typeface="Arial" panose="020B0604020202020204" pitchFamily="34" charset="0"/>
              <a:buChar char="•"/>
              <a:defRPr/>
            </a:pPr>
            <a:r>
              <a:rPr lang="en-AU" altLang="en-US" sz="1800" dirty="0">
                <a:ea typeface="ＭＳ Ｐゴシック" pitchFamily="34" charset="-128"/>
              </a:rPr>
              <a:t>Equity deems as done that which ought to be done (maxim applied in the </a:t>
            </a:r>
            <a:r>
              <a:rPr lang="en-AU" altLang="en-US" sz="1800" i="1" dirty="0">
                <a:ea typeface="ＭＳ Ｐゴシック" pitchFamily="34" charset="-128"/>
              </a:rPr>
              <a:t>Lysaght v Edwards </a:t>
            </a:r>
            <a:r>
              <a:rPr lang="en-AU" altLang="en-US" sz="1800" dirty="0">
                <a:ea typeface="ＭＳ Ｐゴシック" pitchFamily="34" charset="-128"/>
              </a:rPr>
              <a:t>case – see later slides).</a:t>
            </a: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Maxims of Equity</a:t>
            </a:r>
          </a:p>
        </p:txBody>
      </p:sp>
      <p:pic>
        <p:nvPicPr>
          <p:cNvPr id="5" name="Picture 4" descr="A green dinosaur head with claws&#10;&#10;Description automatically generated">
            <a:extLst>
              <a:ext uri="{FF2B5EF4-FFF2-40B4-BE49-F238E27FC236}">
                <a16:creationId xmlns:a16="http://schemas.microsoft.com/office/drawing/2014/main" id="{F0FD324C-E17D-E775-4A8E-97A10B922F24}"/>
              </a:ext>
            </a:extLst>
          </p:cNvPr>
          <p:cNvPicPr>
            <a:picLocks noChangeAspect="1"/>
          </p:cNvPicPr>
          <p:nvPr/>
        </p:nvPicPr>
        <p:blipFill>
          <a:blip r:embed="rId2"/>
          <a:stretch>
            <a:fillRect/>
          </a:stretch>
        </p:blipFill>
        <p:spPr>
          <a:xfrm>
            <a:off x="3783543" y="845820"/>
            <a:ext cx="2143125" cy="3848099"/>
          </a:xfrm>
          <a:prstGeom prst="rect">
            <a:avLst/>
          </a:prstGeom>
        </p:spPr>
      </p:pic>
    </p:spTree>
    <p:extLst>
      <p:ext uri="{BB962C8B-B14F-4D97-AF65-F5344CB8AC3E}">
        <p14:creationId xmlns:p14="http://schemas.microsoft.com/office/powerpoint/2010/main" val="2021448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3268777" cy="4237771"/>
          </a:xfrm>
        </p:spPr>
        <p:txBody>
          <a:bodyPr>
            <a:normAutofit/>
          </a:bodyPr>
          <a:lstStyle/>
          <a:p>
            <a:pPr marL="177800" indent="-177800" algn="just">
              <a:spcBef>
                <a:spcPts val="900"/>
              </a:spcBef>
              <a:buFont typeface="Arial" panose="020B0604020202020204" pitchFamily="34" charset="0"/>
              <a:buChar char="•"/>
              <a:defRPr/>
            </a:pPr>
            <a:r>
              <a:rPr lang="en-AU" altLang="en-US" sz="1600" dirty="0">
                <a:solidFill>
                  <a:srgbClr val="000000"/>
                </a:solidFill>
                <a:ea typeface="ＭＳ Ｐゴシック" pitchFamily="34" charset="-128"/>
              </a:rPr>
              <a:t>Remedies available are similar (but not the same) – </a:t>
            </a:r>
            <a:r>
              <a:rPr lang="en-AU" altLang="en-US" sz="1600" dirty="0" err="1">
                <a:solidFill>
                  <a:srgbClr val="000000"/>
                </a:solidFill>
                <a:ea typeface="ＭＳ Ｐゴシック" pitchFamily="34" charset="-128"/>
              </a:rPr>
              <a:t>eg</a:t>
            </a:r>
            <a:r>
              <a:rPr lang="en-AU" altLang="en-US" sz="1600" dirty="0">
                <a:solidFill>
                  <a:srgbClr val="000000"/>
                </a:solidFill>
                <a:ea typeface="ＭＳ Ｐゴシック" pitchFamily="34" charset="-128"/>
              </a:rPr>
              <a:t> damages.</a:t>
            </a:r>
          </a:p>
          <a:p>
            <a:pPr marL="177800" indent="-177800" algn="just">
              <a:spcBef>
                <a:spcPts val="900"/>
              </a:spcBef>
              <a:buFont typeface="Arial" panose="020B0604020202020204" pitchFamily="34" charset="0"/>
              <a:buChar char="•"/>
              <a:defRPr/>
            </a:pPr>
            <a:r>
              <a:rPr lang="en-AU" altLang="en-US" sz="1600" dirty="0">
                <a:solidFill>
                  <a:srgbClr val="000000"/>
                </a:solidFill>
                <a:ea typeface="ＭＳ Ｐゴシック" pitchFamily="34" charset="-128"/>
              </a:rPr>
              <a:t>Both are enforceable between the parties,</a:t>
            </a:r>
          </a:p>
          <a:p>
            <a:pPr marL="177800" indent="-177800" algn="just">
              <a:spcBef>
                <a:spcPts val="900"/>
              </a:spcBef>
              <a:buFont typeface="Arial" panose="020B0604020202020204" pitchFamily="34" charset="0"/>
              <a:buChar char="•"/>
              <a:defRPr/>
            </a:pPr>
            <a:r>
              <a:rPr lang="en-AU" altLang="en-US" sz="1600" dirty="0">
                <a:solidFill>
                  <a:srgbClr val="000000"/>
                </a:solidFill>
                <a:ea typeface="ＭＳ Ｐゴシック" pitchFamily="34" charset="-128"/>
              </a:rPr>
              <a:t>Both may create and protect proprietary interests.</a:t>
            </a:r>
          </a:p>
          <a:p>
            <a:pPr marL="177800" indent="-177800" algn="just">
              <a:spcBef>
                <a:spcPts val="900"/>
              </a:spcBef>
              <a:buFont typeface="Arial" panose="020B0604020202020204" pitchFamily="34" charset="0"/>
              <a:buChar char="•"/>
              <a:defRPr/>
            </a:pPr>
            <a:r>
              <a:rPr lang="en-AU" altLang="en-US" sz="1600" dirty="0">
                <a:solidFill>
                  <a:srgbClr val="000000"/>
                </a:solidFill>
                <a:ea typeface="ＭＳ Ｐゴシック" pitchFamily="34" charset="-128"/>
              </a:rPr>
              <a:t>Both give law students a headache!</a:t>
            </a:r>
          </a:p>
          <a:p>
            <a:pPr marL="821531" indent="-285750" algn="just">
              <a:spcBef>
                <a:spcPts val="900"/>
              </a:spcBef>
              <a:buFont typeface="Arial" panose="020B0604020202020204" pitchFamily="34" charset="0"/>
              <a:buChar char="•"/>
              <a:defRPr/>
            </a:pPr>
            <a:endParaRPr lang="en-AU" altLang="en-US" sz="1800" dirty="0">
              <a:solidFill>
                <a:srgbClr val="000000"/>
              </a:solidFill>
              <a:ea typeface="ＭＳ Ｐゴシック" pitchFamily="34" charset="-128"/>
            </a:endParaRPr>
          </a:p>
          <a:p>
            <a:pPr marL="821531" indent="-285750" algn="just">
              <a:spcBef>
                <a:spcPts val="900"/>
              </a:spcBef>
              <a:buFont typeface="Arial" panose="020B0604020202020204" pitchFamily="34" charset="0"/>
              <a:buChar char="•"/>
              <a:defRPr/>
            </a:pPr>
            <a:endParaRPr lang="en-AU" altLang="en-US" sz="1800" dirty="0">
              <a:solidFill>
                <a:srgbClr val="000000"/>
              </a:solidFill>
              <a:ea typeface="ＭＳ Ｐゴシック" pitchFamily="34" charset="-128"/>
            </a:endParaRPr>
          </a:p>
          <a:p>
            <a:pPr marL="535781" algn="just">
              <a:spcBef>
                <a:spcPts val="900"/>
              </a:spcBef>
              <a:defRPr/>
            </a:pPr>
            <a:endParaRPr lang="en-AU" altLang="en-US" sz="1800" dirty="0">
              <a:solidFill>
                <a:srgbClr val="000000"/>
              </a:solidFill>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Law and Equity: Family Resemblances </a:t>
            </a:r>
          </a:p>
        </p:txBody>
      </p:sp>
      <p:pic>
        <p:nvPicPr>
          <p:cNvPr id="5" name="Picture 4" descr="A person holding his head with his eyes closed&#10;&#10;Description automatically generated">
            <a:extLst>
              <a:ext uri="{FF2B5EF4-FFF2-40B4-BE49-F238E27FC236}">
                <a16:creationId xmlns:a16="http://schemas.microsoft.com/office/drawing/2014/main" id="{66D69C2D-1D2E-8440-735D-FFD86519C328}"/>
              </a:ext>
            </a:extLst>
          </p:cNvPr>
          <p:cNvPicPr>
            <a:picLocks noChangeAspect="1"/>
          </p:cNvPicPr>
          <p:nvPr/>
        </p:nvPicPr>
        <p:blipFill>
          <a:blip r:embed="rId2"/>
          <a:stretch>
            <a:fillRect/>
          </a:stretch>
        </p:blipFill>
        <p:spPr>
          <a:xfrm>
            <a:off x="3689033" y="952500"/>
            <a:ext cx="2346008" cy="3596640"/>
          </a:xfrm>
          <a:prstGeom prst="rect">
            <a:avLst/>
          </a:prstGeom>
        </p:spPr>
      </p:pic>
    </p:spTree>
    <p:extLst>
      <p:ext uri="{BB962C8B-B14F-4D97-AF65-F5344CB8AC3E}">
        <p14:creationId xmlns:p14="http://schemas.microsoft.com/office/powerpoint/2010/main" val="2803672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4142718" cy="4237771"/>
          </a:xfrm>
        </p:spPr>
        <p:txBody>
          <a:bodyPr>
            <a:normAutofit/>
          </a:bodyPr>
          <a:lstStyle/>
          <a:p>
            <a:pPr marL="182563" indent="-182563" algn="just">
              <a:spcBef>
                <a:spcPts val="900"/>
              </a:spcBef>
              <a:buFont typeface="Arial" panose="020B0604020202020204" pitchFamily="34" charset="0"/>
              <a:buChar char="•"/>
              <a:defRPr/>
            </a:pPr>
            <a:r>
              <a:rPr lang="en-AU" altLang="en-US" sz="1800" dirty="0">
                <a:solidFill>
                  <a:srgbClr val="000000"/>
                </a:solidFill>
                <a:ea typeface="ＭＳ Ｐゴシック" pitchFamily="34" charset="-128"/>
              </a:rPr>
              <a:t>No equitable interest can exist in the absence of an equitable remedy (but there are exceptions </a:t>
            </a:r>
            <a:r>
              <a:rPr lang="en-AU" altLang="en-US" sz="1800" dirty="0" err="1">
                <a:solidFill>
                  <a:srgbClr val="000000"/>
                </a:solidFill>
                <a:ea typeface="ＭＳ Ｐゴシック" pitchFamily="34" charset="-128"/>
              </a:rPr>
              <a:t>eg</a:t>
            </a:r>
            <a:r>
              <a:rPr lang="en-AU" altLang="en-US" sz="1800" dirty="0">
                <a:solidFill>
                  <a:srgbClr val="000000"/>
                </a:solidFill>
                <a:ea typeface="ＭＳ Ｐゴシック" pitchFamily="34" charset="-128"/>
              </a:rPr>
              <a:t> beneficiary of an interest in an estate pending administration).</a:t>
            </a:r>
          </a:p>
          <a:p>
            <a:pPr marL="182563" indent="-182563" algn="just">
              <a:spcBef>
                <a:spcPts val="900"/>
              </a:spcBef>
              <a:buFont typeface="Arial" panose="020B0604020202020204" pitchFamily="34" charset="0"/>
              <a:buChar char="•"/>
              <a:defRPr/>
            </a:pPr>
            <a:r>
              <a:rPr lang="en-AU" altLang="en-US" sz="1800" dirty="0">
                <a:solidFill>
                  <a:srgbClr val="000000"/>
                </a:solidFill>
                <a:ea typeface="ＭＳ Ｐゴシック" pitchFamily="34" charset="-128"/>
              </a:rPr>
              <a:t>Equitable remedies are discretionary (not as of right).</a:t>
            </a:r>
          </a:p>
          <a:p>
            <a:pPr marL="182563" algn="just">
              <a:spcBef>
                <a:spcPts val="900"/>
              </a:spcBef>
              <a:defRPr/>
            </a:pPr>
            <a:r>
              <a:rPr lang="en-AU" altLang="en-US" sz="1800" dirty="0">
                <a:solidFill>
                  <a:srgbClr val="000000"/>
                </a:solidFill>
                <a:ea typeface="ＭＳ Ｐゴシック" pitchFamily="34" charset="-128"/>
              </a:rPr>
              <a:t>Like two different languages!</a:t>
            </a:r>
          </a:p>
          <a:p>
            <a:pPr marL="182563" algn="just">
              <a:spcBef>
                <a:spcPts val="900"/>
              </a:spcBef>
              <a:defRPr/>
            </a:pPr>
            <a:r>
              <a:rPr lang="en-AU" altLang="en-US" sz="1800" dirty="0">
                <a:solidFill>
                  <a:srgbClr val="000000"/>
                </a:solidFill>
                <a:ea typeface="ＭＳ Ｐゴシック" pitchFamily="34" charset="-128"/>
              </a:rPr>
              <a:t>So much for equity, let’s get on to acquisition of property interests both law and Equity (and thence to Godzilla!)</a:t>
            </a: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Law and Equity: Differences </a:t>
            </a:r>
          </a:p>
        </p:txBody>
      </p:sp>
      <p:pic>
        <p:nvPicPr>
          <p:cNvPr id="5" name="Picture 4" descr="A group of flags with text&#10;&#10;Description automatically generated">
            <a:extLst>
              <a:ext uri="{FF2B5EF4-FFF2-40B4-BE49-F238E27FC236}">
                <a16:creationId xmlns:a16="http://schemas.microsoft.com/office/drawing/2014/main" id="{47473640-28C3-78D9-5077-7485DF71BA71}"/>
              </a:ext>
            </a:extLst>
          </p:cNvPr>
          <p:cNvPicPr>
            <a:picLocks noChangeAspect="1"/>
          </p:cNvPicPr>
          <p:nvPr/>
        </p:nvPicPr>
        <p:blipFill>
          <a:blip r:embed="rId2"/>
          <a:stretch>
            <a:fillRect/>
          </a:stretch>
        </p:blipFill>
        <p:spPr>
          <a:xfrm>
            <a:off x="4659864" y="964992"/>
            <a:ext cx="1647129" cy="3213516"/>
          </a:xfrm>
          <a:prstGeom prst="rect">
            <a:avLst/>
          </a:prstGeom>
        </p:spPr>
      </p:pic>
    </p:spTree>
    <p:extLst>
      <p:ext uri="{BB962C8B-B14F-4D97-AF65-F5344CB8AC3E}">
        <p14:creationId xmlns:p14="http://schemas.microsoft.com/office/powerpoint/2010/main" val="597944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1" y="1003420"/>
            <a:ext cx="3543906" cy="3742815"/>
          </a:xfrm>
        </p:spPr>
        <p:txBody>
          <a:bodyPr>
            <a:normAutofit fontScale="92500" lnSpcReduction="10000"/>
          </a:bodyPr>
          <a:lstStyle/>
          <a:p>
            <a:pPr algn="just">
              <a:spcBef>
                <a:spcPts val="900"/>
              </a:spcBef>
              <a:defRPr/>
            </a:pPr>
            <a:r>
              <a:rPr lang="en-AU" altLang="en-US" sz="1600" dirty="0">
                <a:ea typeface="ＭＳ Ｐゴシック" pitchFamily="34" charset="-128"/>
              </a:rPr>
              <a:t>An example of a legal interest in land is an interest in land registered under the </a:t>
            </a:r>
            <a:r>
              <a:rPr lang="en-AU" altLang="en-US" sz="1600" i="1" dirty="0">
                <a:ea typeface="ＭＳ Ｐゴシック" pitchFamily="34" charset="-128"/>
              </a:rPr>
              <a:t>Transfer of Land Act 1893 </a:t>
            </a:r>
            <a:r>
              <a:rPr lang="en-AU" altLang="en-US" sz="1600" dirty="0">
                <a:ea typeface="ＭＳ Ｐゴシック" pitchFamily="34" charset="-128"/>
              </a:rPr>
              <a:t>(WA) (‘TLA’).</a:t>
            </a:r>
          </a:p>
          <a:p>
            <a:pPr algn="just">
              <a:spcBef>
                <a:spcPts val="900"/>
              </a:spcBef>
              <a:defRPr/>
            </a:pPr>
            <a:r>
              <a:rPr lang="en-AU" altLang="en-US" sz="1600" dirty="0">
                <a:ea typeface="ＭＳ Ｐゴシック" pitchFamily="34" charset="-128"/>
              </a:rPr>
              <a:t>So when you buy that 2 bedroom, 2 bathroom (or 2 bedroom, 4 bathroom) dream home and become registered as the owner at Landgate that is a legal interest in property (about as legal as you can get!). </a:t>
            </a:r>
          </a:p>
          <a:p>
            <a:pPr algn="just">
              <a:spcBef>
                <a:spcPts val="900"/>
              </a:spcBef>
              <a:defRPr/>
            </a:pPr>
            <a:r>
              <a:rPr lang="en-AU" altLang="en-US" sz="1600" dirty="0">
                <a:ea typeface="ＭＳ Ｐゴシック" pitchFamily="34" charset="-128"/>
              </a:rPr>
              <a:t>However, what about just </a:t>
            </a:r>
            <a:r>
              <a:rPr lang="en-AU" altLang="en-US" sz="1600" i="1" dirty="0">
                <a:ea typeface="ＭＳ Ｐゴシック" pitchFamily="34" charset="-128"/>
              </a:rPr>
              <a:t>after</a:t>
            </a:r>
            <a:r>
              <a:rPr lang="en-AU" altLang="en-US" sz="1600" dirty="0">
                <a:ea typeface="ＭＳ Ｐゴシック" pitchFamily="34" charset="-128"/>
              </a:rPr>
              <a:t> you have signed the contract of sale but </a:t>
            </a:r>
            <a:r>
              <a:rPr lang="en-AU" altLang="en-US" sz="1600" i="1" dirty="0">
                <a:ea typeface="ＭＳ Ｐゴシック" pitchFamily="34" charset="-128"/>
              </a:rPr>
              <a:t>before</a:t>
            </a:r>
            <a:r>
              <a:rPr lang="en-AU" altLang="en-US" sz="1600" dirty="0">
                <a:ea typeface="ＭＳ Ｐゴシック" pitchFamily="34" charset="-128"/>
              </a:rPr>
              <a:t> you are registered at Landgate? </a:t>
            </a:r>
          </a:p>
          <a:p>
            <a:pPr algn="just">
              <a:spcBef>
                <a:spcPts val="900"/>
              </a:spcBef>
              <a:defRPr/>
            </a:pPr>
            <a:r>
              <a:rPr lang="en-AU" altLang="en-US" sz="1600" dirty="0">
                <a:ea typeface="ＭＳ Ｐゴシック" pitchFamily="34" charset="-128"/>
              </a:rPr>
              <a:t>In that case, as we will see, you have an </a:t>
            </a:r>
            <a:r>
              <a:rPr lang="en-AU" altLang="en-US" sz="1600" i="1" dirty="0">
                <a:ea typeface="ＭＳ Ｐゴシック" pitchFamily="34" charset="-128"/>
              </a:rPr>
              <a:t>equitable</a:t>
            </a:r>
            <a:r>
              <a:rPr lang="en-AU" altLang="en-US" sz="1600" dirty="0">
                <a:ea typeface="ＭＳ Ｐゴシック" pitchFamily="34" charset="-128"/>
              </a:rPr>
              <a:t> interest (by virtue of a trust implied at law).</a:t>
            </a:r>
          </a:p>
          <a:p>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Legal and Equitable Interests - Example</a:t>
            </a:r>
          </a:p>
        </p:txBody>
      </p:sp>
      <p:pic>
        <p:nvPicPr>
          <p:cNvPr id="5" name="Picture 4" descr="A person looking at a person&#10;&#10;Description automatically generated">
            <a:extLst>
              <a:ext uri="{FF2B5EF4-FFF2-40B4-BE49-F238E27FC236}">
                <a16:creationId xmlns:a16="http://schemas.microsoft.com/office/drawing/2014/main" id="{47554527-89D1-5A95-7501-034B7869C42C}"/>
              </a:ext>
            </a:extLst>
          </p:cNvPr>
          <p:cNvPicPr>
            <a:picLocks noChangeAspect="1"/>
          </p:cNvPicPr>
          <p:nvPr/>
        </p:nvPicPr>
        <p:blipFill>
          <a:blip r:embed="rId2"/>
          <a:stretch>
            <a:fillRect/>
          </a:stretch>
        </p:blipFill>
        <p:spPr>
          <a:xfrm>
            <a:off x="3888809" y="1170584"/>
            <a:ext cx="2291012" cy="2947988"/>
          </a:xfrm>
          <a:prstGeom prst="rect">
            <a:avLst/>
          </a:prstGeom>
        </p:spPr>
      </p:pic>
    </p:spTree>
    <p:extLst>
      <p:ext uri="{BB962C8B-B14F-4D97-AF65-F5344CB8AC3E}">
        <p14:creationId xmlns:p14="http://schemas.microsoft.com/office/powerpoint/2010/main" val="1799337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670373" y="935865"/>
            <a:ext cx="3729766" cy="3742815"/>
          </a:xfrm>
        </p:spPr>
        <p:txBody>
          <a:bodyPr>
            <a:normAutofit fontScale="85000" lnSpcReduction="20000"/>
          </a:bodyPr>
          <a:lstStyle/>
          <a:p>
            <a:pPr algn="just">
              <a:spcBef>
                <a:spcPts val="900"/>
              </a:spcBef>
              <a:defRPr/>
            </a:pPr>
            <a:r>
              <a:rPr lang="en-AU" altLang="en-US" sz="1600" dirty="0">
                <a:ea typeface="ＭＳ Ｐゴシック" pitchFamily="34" charset="-128"/>
              </a:rPr>
              <a:t>A lease over land that is:</a:t>
            </a:r>
          </a:p>
          <a:p>
            <a:pPr marL="285750" indent="-285750" algn="just">
              <a:spcBef>
                <a:spcPts val="900"/>
              </a:spcBef>
              <a:buFont typeface="Arial" panose="020B0604020202020204" pitchFamily="34" charset="0"/>
              <a:buChar char="•"/>
              <a:defRPr/>
            </a:pPr>
            <a:r>
              <a:rPr lang="en-AU" altLang="en-US" sz="1600" dirty="0">
                <a:ea typeface="ＭＳ Ｐゴシック" pitchFamily="34" charset="-128"/>
              </a:rPr>
              <a:t>Registered at Landgate; or</a:t>
            </a:r>
          </a:p>
          <a:p>
            <a:pPr marL="285750" indent="-285750" algn="just">
              <a:spcBef>
                <a:spcPts val="900"/>
              </a:spcBef>
              <a:buFont typeface="Arial" panose="020B0604020202020204" pitchFamily="34" charset="0"/>
              <a:buChar char="•"/>
              <a:defRPr/>
            </a:pPr>
            <a:r>
              <a:rPr lang="en-AU" altLang="en-US" sz="1600" dirty="0">
                <a:ea typeface="ＭＳ Ｐゴシック" pitchFamily="34" charset="-128"/>
              </a:rPr>
              <a:t>Which is less than 5 years in possession and (under the TLA) not required to be registered.</a:t>
            </a:r>
          </a:p>
          <a:p>
            <a:pPr algn="just">
              <a:spcBef>
                <a:spcPts val="900"/>
              </a:spcBef>
              <a:defRPr/>
            </a:pPr>
            <a:r>
              <a:rPr lang="en-AU" altLang="en-US" sz="1600" dirty="0">
                <a:ea typeface="ＭＳ Ｐゴシック" pitchFamily="34" charset="-128"/>
              </a:rPr>
              <a:t>Is a legal lease. </a:t>
            </a:r>
          </a:p>
          <a:p>
            <a:pPr algn="just">
              <a:spcBef>
                <a:spcPts val="900"/>
              </a:spcBef>
              <a:defRPr/>
            </a:pPr>
            <a:r>
              <a:rPr lang="en-AU" altLang="en-US" sz="1600" dirty="0">
                <a:ea typeface="ＭＳ Ｐゴシック" pitchFamily="34" charset="-128"/>
              </a:rPr>
              <a:t>However, an </a:t>
            </a:r>
            <a:r>
              <a:rPr lang="en-AU" altLang="en-US" sz="1600" i="1" dirty="0">
                <a:ea typeface="ＭＳ Ｐゴシック" pitchFamily="34" charset="-128"/>
              </a:rPr>
              <a:t>unregistered</a:t>
            </a:r>
            <a:r>
              <a:rPr lang="en-AU" altLang="en-US" sz="1600" dirty="0">
                <a:ea typeface="ＭＳ Ｐゴシック" pitchFamily="34" charset="-128"/>
              </a:rPr>
              <a:t> written lease document that is otherwise required to be registered under the TLA is regarded as an </a:t>
            </a:r>
            <a:r>
              <a:rPr lang="en-AU" altLang="en-US" sz="1600" i="1" dirty="0">
                <a:ea typeface="ＭＳ Ｐゴシック" pitchFamily="34" charset="-128"/>
              </a:rPr>
              <a:t>equitable</a:t>
            </a:r>
            <a:r>
              <a:rPr lang="en-AU" altLang="en-US" sz="1600" dirty="0">
                <a:ea typeface="ＭＳ Ｐゴシック" pitchFamily="34" charset="-128"/>
              </a:rPr>
              <a:t> lease. </a:t>
            </a:r>
          </a:p>
          <a:p>
            <a:pPr algn="just">
              <a:spcBef>
                <a:spcPts val="900"/>
              </a:spcBef>
              <a:defRPr/>
            </a:pPr>
            <a:r>
              <a:rPr lang="en-AU" altLang="en-US" sz="1600" dirty="0">
                <a:ea typeface="ＭＳ Ｐゴシック" pitchFamily="34" charset="-128"/>
              </a:rPr>
              <a:t>The same principle applies to mortgages. A registered mortgage is a legal interest. A mortgage document in registrable form but not registered is regarded as an </a:t>
            </a:r>
            <a:r>
              <a:rPr lang="en-AU" altLang="en-US" sz="1600" i="1" dirty="0">
                <a:ea typeface="ＭＳ Ｐゴシック" pitchFamily="34" charset="-128"/>
              </a:rPr>
              <a:t>equitable</a:t>
            </a:r>
            <a:r>
              <a:rPr lang="en-AU" altLang="en-US" sz="1600" dirty="0">
                <a:ea typeface="ＭＳ Ｐゴシック" pitchFamily="34" charset="-128"/>
              </a:rPr>
              <a:t> mortgage. And so on.</a:t>
            </a:r>
          </a:p>
          <a:p>
            <a:pPr algn="just">
              <a:spcBef>
                <a:spcPts val="900"/>
              </a:spcBef>
              <a:defRPr/>
            </a:pPr>
            <a:r>
              <a:rPr lang="en-AU" altLang="en-US" sz="1600" dirty="0">
                <a:ea typeface="ＭＳ Ｐゴシック" pitchFamily="34" charset="-128"/>
              </a:rPr>
              <a:t>We will encounter these examples again and again throughout the year.</a:t>
            </a:r>
          </a:p>
          <a:p>
            <a:pPr algn="just">
              <a:spcBef>
                <a:spcPts val="900"/>
              </a:spcBef>
              <a:defRPr/>
            </a:pPr>
            <a:endParaRPr lang="en-AU" altLang="en-US" sz="1600" dirty="0">
              <a:ea typeface="ＭＳ Ｐゴシック" pitchFamily="34" charset="-128"/>
            </a:endParaRPr>
          </a:p>
          <a:p>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Legal and Equitable Interests – Another Example</a:t>
            </a:r>
          </a:p>
        </p:txBody>
      </p:sp>
      <p:pic>
        <p:nvPicPr>
          <p:cNvPr id="5" name="Picture 4" descr="A diagram of a square with numbers and arrows&#10;&#10;Description automatically generated with medium confidence">
            <a:extLst>
              <a:ext uri="{FF2B5EF4-FFF2-40B4-BE49-F238E27FC236}">
                <a16:creationId xmlns:a16="http://schemas.microsoft.com/office/drawing/2014/main" id="{6F7452DF-F31C-9855-81D4-59A74196EAE0}"/>
              </a:ext>
            </a:extLst>
          </p:cNvPr>
          <p:cNvPicPr>
            <a:picLocks noChangeAspect="1"/>
          </p:cNvPicPr>
          <p:nvPr/>
        </p:nvPicPr>
        <p:blipFill>
          <a:blip r:embed="rId2"/>
          <a:stretch>
            <a:fillRect/>
          </a:stretch>
        </p:blipFill>
        <p:spPr>
          <a:xfrm>
            <a:off x="457862" y="1127478"/>
            <a:ext cx="1882103" cy="2888543"/>
          </a:xfrm>
          <a:prstGeom prst="rect">
            <a:avLst/>
          </a:prstGeom>
        </p:spPr>
      </p:pic>
    </p:spTree>
    <p:extLst>
      <p:ext uri="{BB962C8B-B14F-4D97-AF65-F5344CB8AC3E}">
        <p14:creationId xmlns:p14="http://schemas.microsoft.com/office/powerpoint/2010/main" val="2648916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421190" y="752343"/>
            <a:ext cx="4648755" cy="4085689"/>
          </a:xfrm>
        </p:spPr>
        <p:txBody>
          <a:bodyPr>
            <a:normAutofit/>
          </a:bodyPr>
          <a:lstStyle/>
          <a:p>
            <a:pPr marL="714375" indent="-714375">
              <a:spcBef>
                <a:spcPts val="1200"/>
              </a:spcBef>
              <a:buFontTx/>
              <a:buNone/>
              <a:defRPr/>
            </a:pPr>
            <a:r>
              <a:rPr lang="en-AU" altLang="en-US" sz="1800" dirty="0">
                <a:ea typeface="ＭＳ Ｐゴシック" pitchFamily="34" charset="-128"/>
              </a:rPr>
              <a:t>Property rights can be disposed of by:</a:t>
            </a:r>
          </a:p>
          <a:p>
            <a:pPr marL="714375" indent="-714375">
              <a:spcBef>
                <a:spcPts val="1200"/>
              </a:spcBef>
              <a:buFontTx/>
              <a:buNone/>
              <a:defRPr/>
            </a:pPr>
            <a:r>
              <a:rPr lang="en-AU" altLang="en-US" sz="1800" u="sng" dirty="0">
                <a:ea typeface="ＭＳ Ｐゴシック" pitchFamily="34" charset="-128"/>
              </a:rPr>
              <a:t>Consensual transactions</a:t>
            </a:r>
            <a:r>
              <a:rPr lang="en-AU" altLang="en-US" sz="1800" dirty="0">
                <a:ea typeface="ＭＳ Ｐゴシック" pitchFamily="34" charset="-128"/>
              </a:rPr>
              <a:t>:</a:t>
            </a:r>
          </a:p>
          <a:p>
            <a:pPr marL="542925" indent="-365125" algn="just">
              <a:spcBef>
                <a:spcPts val="1200"/>
              </a:spcBef>
              <a:buFont typeface="Wingdings" panose="05000000000000000000" pitchFamily="2" charset="2"/>
              <a:buChar char="Ø"/>
              <a:defRPr/>
            </a:pPr>
            <a:r>
              <a:rPr lang="en-AU" altLang="en-US" sz="1800" b="1" dirty="0">
                <a:ea typeface="ＭＳ Ｐゴシック" pitchFamily="34" charset="-128"/>
              </a:rPr>
              <a:t>Selling of land through contract of sale (this week’s lecture)</a:t>
            </a:r>
          </a:p>
          <a:p>
            <a:pPr marL="542925" indent="-365125" algn="just">
              <a:spcBef>
                <a:spcPts val="1200"/>
              </a:spcBef>
              <a:buFont typeface="Wingdings" panose="05000000000000000000" pitchFamily="2" charset="2"/>
              <a:buChar char="Ø"/>
              <a:defRPr/>
            </a:pPr>
            <a:r>
              <a:rPr lang="en-AU" altLang="en-US" sz="1800" dirty="0">
                <a:ea typeface="ＭＳ Ｐゴシック" pitchFamily="34" charset="-128"/>
              </a:rPr>
              <a:t>Property exchange</a:t>
            </a:r>
          </a:p>
          <a:p>
            <a:pPr marL="542925" indent="-365125" algn="just">
              <a:spcBef>
                <a:spcPts val="1200"/>
              </a:spcBef>
              <a:buFont typeface="Wingdings" panose="05000000000000000000" pitchFamily="2" charset="2"/>
              <a:buChar char="Ø"/>
              <a:defRPr/>
            </a:pPr>
            <a:r>
              <a:rPr lang="en-AU" altLang="en-US" sz="1800" dirty="0">
                <a:ea typeface="ＭＳ Ｐゴシック" pitchFamily="34" charset="-128"/>
              </a:rPr>
              <a:t>Will</a:t>
            </a:r>
          </a:p>
          <a:p>
            <a:pPr marL="542925" indent="-365125" algn="just">
              <a:spcBef>
                <a:spcPts val="1200"/>
              </a:spcBef>
              <a:buFont typeface="Wingdings" panose="05000000000000000000" pitchFamily="2" charset="2"/>
              <a:buChar char="Ø"/>
              <a:defRPr/>
            </a:pPr>
            <a:r>
              <a:rPr lang="en-AU" altLang="en-US" sz="1800" dirty="0">
                <a:ea typeface="ＭＳ Ｐゴシック" pitchFamily="34" charset="-128"/>
              </a:rPr>
              <a:t>Gift </a:t>
            </a:r>
          </a:p>
          <a:p>
            <a:pPr marL="542925" indent="-365125" algn="just">
              <a:spcBef>
                <a:spcPts val="1200"/>
              </a:spcBef>
              <a:buFont typeface="Wingdings" panose="05000000000000000000" pitchFamily="2" charset="2"/>
              <a:buChar char="Ø"/>
              <a:defRPr/>
            </a:pPr>
            <a:r>
              <a:rPr lang="en-AU" altLang="en-US" sz="1800" dirty="0">
                <a:ea typeface="ＭＳ Ｐゴシック" pitchFamily="34" charset="-128"/>
              </a:rPr>
              <a:t>Trust</a:t>
            </a:r>
          </a:p>
          <a:p>
            <a:pPr marL="0" indent="0" algn="just">
              <a:spcBef>
                <a:spcPts val="1200"/>
              </a:spcBef>
              <a:buFontTx/>
              <a:buNone/>
              <a:defRPr/>
            </a:pPr>
            <a:endParaRPr lang="en-AU" altLang="en-US" sz="1800" dirty="0">
              <a:ea typeface="ＭＳ Ｐゴシック" pitchFamily="34" charset="-128"/>
            </a:endParaRPr>
          </a:p>
          <a:p>
            <a:pPr algn="just">
              <a:spcBef>
                <a:spcPts val="1200"/>
              </a:spcBef>
              <a:defRPr/>
            </a:pPr>
            <a:endParaRPr lang="en-AU" altLang="en-US" sz="1800" dirty="0">
              <a:ea typeface="ＭＳ Ｐゴシック" pitchFamily="34" charset="-128"/>
            </a:endParaRPr>
          </a:p>
          <a:p>
            <a:pPr algn="just">
              <a:spcBef>
                <a:spcPts val="1200"/>
              </a:spcBef>
              <a:defRPr/>
            </a:pPr>
            <a:endParaRPr lang="en-AU" altLang="en-US" sz="900" dirty="0">
              <a:ea typeface="ＭＳ Ｐゴシック" pitchFamily="34" charset="-128"/>
            </a:endParaRPr>
          </a:p>
          <a:p>
            <a:pPr algn="just">
              <a:spcBef>
                <a:spcPts val="1200"/>
              </a:spcBef>
              <a:defRPr/>
            </a:pPr>
            <a:endParaRPr lang="en-AU" altLang="en-US" sz="900"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r>
              <a:rPr lang="en-AU" sz="1800" b="0" dirty="0">
                <a:solidFill>
                  <a:schemeClr val="bg1"/>
                </a:solidFill>
              </a:rPr>
              <a:t>Types of Disposal of Property Interests (1) </a:t>
            </a:r>
          </a:p>
        </p:txBody>
      </p:sp>
    </p:spTree>
    <p:extLst>
      <p:ext uri="{BB962C8B-B14F-4D97-AF65-F5344CB8AC3E}">
        <p14:creationId xmlns:p14="http://schemas.microsoft.com/office/powerpoint/2010/main" val="2435436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51" y="528905"/>
            <a:ext cx="3680189" cy="4085689"/>
          </a:xfrm>
        </p:spPr>
        <p:txBody>
          <a:bodyPr>
            <a:normAutofit/>
          </a:bodyPr>
          <a:lstStyle/>
          <a:p>
            <a:pPr marL="0" indent="0" algn="just">
              <a:spcBef>
                <a:spcPts val="1200"/>
              </a:spcBef>
              <a:buFontTx/>
              <a:buNone/>
              <a:defRPr/>
            </a:pPr>
            <a:r>
              <a:rPr lang="en-AU" altLang="en-US" sz="1800" u="sng" dirty="0">
                <a:ea typeface="ＭＳ Ｐゴシック" pitchFamily="34" charset="-128"/>
              </a:rPr>
              <a:t>Non-consensual</a:t>
            </a:r>
            <a:r>
              <a:rPr lang="en-AU" altLang="en-US" sz="1800" dirty="0">
                <a:ea typeface="ＭＳ Ｐゴシック" pitchFamily="34" charset="-128"/>
              </a:rPr>
              <a:t> (Godzilla style): </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Possession/adverse possession (see the lecture in Module 3)</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Intestacy (see next week’s lecture)</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Bankruptcy</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Statutory power of resumption</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Court order</a:t>
            </a:r>
          </a:p>
          <a:p>
            <a:pPr marL="355600" indent="-355600" algn="just">
              <a:spcBef>
                <a:spcPts val="1200"/>
              </a:spcBef>
              <a:buFont typeface="Wingdings" panose="05000000000000000000" pitchFamily="2" charset="2"/>
              <a:buChar char="Ø"/>
              <a:defRPr/>
            </a:pPr>
            <a:r>
              <a:rPr lang="en-AU" altLang="en-US" sz="1800" dirty="0">
                <a:ea typeface="ＭＳ Ｐゴシック" pitchFamily="34" charset="-128"/>
              </a:rPr>
              <a:t>Other operation of law</a:t>
            </a:r>
          </a:p>
          <a:p>
            <a:pPr algn="just">
              <a:spcBef>
                <a:spcPts val="1200"/>
              </a:spcBef>
              <a:defRPr/>
            </a:pPr>
            <a:endParaRPr lang="en-AU" altLang="en-US" sz="1800" dirty="0">
              <a:ea typeface="ＭＳ Ｐゴシック" pitchFamily="34" charset="-128"/>
            </a:endParaRPr>
          </a:p>
          <a:p>
            <a:pPr algn="just">
              <a:spcBef>
                <a:spcPts val="1200"/>
              </a:spcBef>
              <a:defRPr/>
            </a:pPr>
            <a:endParaRPr lang="en-AU" altLang="en-US" sz="900" dirty="0">
              <a:ea typeface="ＭＳ Ｐゴシック" pitchFamily="34" charset="-128"/>
            </a:endParaRPr>
          </a:p>
          <a:p>
            <a:pPr algn="just">
              <a:spcBef>
                <a:spcPts val="1200"/>
              </a:spcBef>
              <a:defRPr/>
            </a:pPr>
            <a:endParaRPr lang="en-AU" altLang="en-US" sz="900"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Autofit/>
          </a:bodyPr>
          <a:lstStyle/>
          <a:p>
            <a:r>
              <a:rPr lang="en-AU" sz="1800" b="0" dirty="0">
                <a:solidFill>
                  <a:schemeClr val="bg1"/>
                </a:solidFill>
              </a:rPr>
              <a:t>Types of Disposal of Property Interests (2)</a:t>
            </a:r>
          </a:p>
        </p:txBody>
      </p:sp>
      <p:pic>
        <p:nvPicPr>
          <p:cNvPr id="5" name="Picture 4">
            <a:extLst>
              <a:ext uri="{FF2B5EF4-FFF2-40B4-BE49-F238E27FC236}">
                <a16:creationId xmlns:a16="http://schemas.microsoft.com/office/drawing/2014/main" id="{F26AE3BC-FD67-C72D-F084-66D93AFBF902}"/>
              </a:ext>
            </a:extLst>
          </p:cNvPr>
          <p:cNvPicPr>
            <a:picLocks noChangeAspect="1"/>
          </p:cNvPicPr>
          <p:nvPr/>
        </p:nvPicPr>
        <p:blipFill>
          <a:blip r:embed="rId2"/>
          <a:stretch>
            <a:fillRect/>
          </a:stretch>
        </p:blipFill>
        <p:spPr>
          <a:xfrm>
            <a:off x="4214733" y="952500"/>
            <a:ext cx="1995568" cy="3133978"/>
          </a:xfrm>
          <a:prstGeom prst="rect">
            <a:avLst/>
          </a:prstGeom>
        </p:spPr>
      </p:pic>
      <p:sp>
        <p:nvSpPr>
          <p:cNvPr id="4" name="TextBox 3">
            <a:extLst>
              <a:ext uri="{FF2B5EF4-FFF2-40B4-BE49-F238E27FC236}">
                <a16:creationId xmlns:a16="http://schemas.microsoft.com/office/drawing/2014/main" id="{A5E6953C-F3AD-96F7-0FC7-E86EE4E15C28}"/>
              </a:ext>
            </a:extLst>
          </p:cNvPr>
          <p:cNvSpPr txBox="1"/>
          <p:nvPr/>
        </p:nvSpPr>
        <p:spPr>
          <a:xfrm>
            <a:off x="4214733" y="4222143"/>
            <a:ext cx="1995568" cy="300082"/>
          </a:xfrm>
          <a:prstGeom prst="rect">
            <a:avLst/>
          </a:prstGeom>
          <a:noFill/>
        </p:spPr>
        <p:txBody>
          <a:bodyPr wrap="square" rtlCol="0">
            <a:spAutoFit/>
          </a:bodyPr>
          <a:lstStyle/>
          <a:p>
            <a:pPr algn="ctr"/>
            <a:r>
              <a:rPr lang="en-US" dirty="0"/>
              <a:t>“</a:t>
            </a:r>
            <a:r>
              <a:rPr lang="en-US" dirty="0" err="1"/>
              <a:t>Rar</a:t>
            </a:r>
            <a:r>
              <a:rPr lang="en-US" dirty="0"/>
              <a:t>!”</a:t>
            </a:r>
            <a:endParaRPr lang="en-AU" dirty="0"/>
          </a:p>
        </p:txBody>
      </p:sp>
    </p:spTree>
    <p:extLst>
      <p:ext uri="{BB962C8B-B14F-4D97-AF65-F5344CB8AC3E}">
        <p14:creationId xmlns:p14="http://schemas.microsoft.com/office/powerpoint/2010/main" val="3471846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3124863" y="725214"/>
            <a:ext cx="3316397" cy="4237771"/>
          </a:xfrm>
        </p:spPr>
        <p:txBody>
          <a:bodyPr>
            <a:normAutofit/>
          </a:bodyPr>
          <a:lstStyle/>
          <a:p>
            <a:pPr marL="0" indent="0" algn="just">
              <a:spcBef>
                <a:spcPts val="1350"/>
              </a:spcBef>
              <a:buNone/>
              <a:defRPr/>
            </a:pPr>
            <a:r>
              <a:rPr lang="en-US" altLang="en-US" sz="1600" b="1" dirty="0">
                <a:ea typeface="ＭＳ Ｐゴシック" pitchFamily="34" charset="-128"/>
              </a:rPr>
              <a:t>The statutory requirements for passing legal interests in land</a:t>
            </a:r>
          </a:p>
          <a:p>
            <a:pPr algn="just">
              <a:spcBef>
                <a:spcPts val="1350"/>
              </a:spcBef>
              <a:buNone/>
              <a:defRPr/>
            </a:pPr>
            <a:r>
              <a:rPr lang="en-AU" altLang="en-US" sz="1600" i="1" dirty="0">
                <a:ea typeface="ＭＳ Ｐゴシック" pitchFamily="34" charset="-128"/>
              </a:rPr>
              <a:t>Property Law Act 1969 </a:t>
            </a:r>
            <a:r>
              <a:rPr lang="en-AU" altLang="en-US" sz="1600" dirty="0">
                <a:ea typeface="ＭＳ Ｐゴシック" pitchFamily="34" charset="-128"/>
              </a:rPr>
              <a:t>(WA) s 33</a:t>
            </a:r>
          </a:p>
          <a:p>
            <a:pPr algn="just">
              <a:spcBef>
                <a:spcPts val="1350"/>
              </a:spcBef>
              <a:buNone/>
              <a:defRPr/>
            </a:pPr>
            <a:r>
              <a:rPr lang="en-AU" altLang="en-US" sz="1600" dirty="0">
                <a:ea typeface="ＭＳ Ｐゴシック" pitchFamily="34" charset="-128"/>
              </a:rPr>
              <a:t>Conveyances to be by deed</a:t>
            </a:r>
          </a:p>
          <a:p>
            <a:pPr marL="355600" indent="-355600" algn="just">
              <a:spcBef>
                <a:spcPts val="450"/>
              </a:spcBef>
              <a:buFontTx/>
              <a:buAutoNum type="arabicParenBoth"/>
              <a:defRPr/>
            </a:pPr>
            <a:r>
              <a:rPr lang="en-AU" altLang="en-US" sz="1600" dirty="0">
                <a:ea typeface="ＭＳ Ｐゴシック" pitchFamily="34" charset="-128"/>
              </a:rPr>
              <a:t>All conveyances of land or of any interest therein are void for the purpose of conveying or creating a legal estate unless made by </a:t>
            </a:r>
            <a:r>
              <a:rPr lang="en-AU" altLang="en-US" sz="1600" b="1" dirty="0">
                <a:ea typeface="ＭＳ Ｐゴシック" pitchFamily="34" charset="-128"/>
              </a:rPr>
              <a:t>deed. </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fontScale="90000"/>
          </a:bodyPr>
          <a:lstStyle/>
          <a:p>
            <a:r>
              <a:rPr lang="en-AU" sz="1800" b="0" dirty="0">
                <a:solidFill>
                  <a:schemeClr val="bg1"/>
                </a:solidFill>
              </a:rPr>
              <a:t>Requirements for creating or disposing of a </a:t>
            </a:r>
            <a:br>
              <a:rPr lang="en-AU" sz="1800" b="0" dirty="0">
                <a:solidFill>
                  <a:schemeClr val="bg1"/>
                </a:solidFill>
              </a:rPr>
            </a:br>
            <a:r>
              <a:rPr lang="en-AU" sz="1800" b="0" dirty="0">
                <a:solidFill>
                  <a:schemeClr val="bg1"/>
                </a:solidFill>
              </a:rPr>
              <a:t>legal interest in land</a:t>
            </a:r>
          </a:p>
        </p:txBody>
      </p:sp>
      <p:pic>
        <p:nvPicPr>
          <p:cNvPr id="4" name="Picture 3" descr="A poster of a movie&#10;&#10;AI-generated content may be incorrect.">
            <a:extLst>
              <a:ext uri="{FF2B5EF4-FFF2-40B4-BE49-F238E27FC236}">
                <a16:creationId xmlns:a16="http://schemas.microsoft.com/office/drawing/2014/main" id="{68A78591-14AF-22BE-E6D7-4EFEEC1A6313}"/>
              </a:ext>
            </a:extLst>
          </p:cNvPr>
          <p:cNvPicPr>
            <a:picLocks noChangeAspect="1"/>
          </p:cNvPicPr>
          <p:nvPr/>
        </p:nvPicPr>
        <p:blipFill>
          <a:blip r:embed="rId2"/>
          <a:stretch>
            <a:fillRect/>
          </a:stretch>
        </p:blipFill>
        <p:spPr>
          <a:xfrm>
            <a:off x="179044" y="725214"/>
            <a:ext cx="2779530" cy="3982610"/>
          </a:xfrm>
          <a:prstGeom prst="rect">
            <a:avLst/>
          </a:prstGeom>
        </p:spPr>
      </p:pic>
    </p:spTree>
    <p:extLst>
      <p:ext uri="{BB962C8B-B14F-4D97-AF65-F5344CB8AC3E}">
        <p14:creationId xmlns:p14="http://schemas.microsoft.com/office/powerpoint/2010/main" val="243957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fontScale="77500" lnSpcReduction="20000"/>
          </a:bodyPr>
          <a:lstStyle/>
          <a:p>
            <a:pPr marL="467916" indent="-467916" algn="just">
              <a:spcBef>
                <a:spcPts val="900"/>
              </a:spcBef>
              <a:buNone/>
              <a:tabLst>
                <a:tab pos="467916" algn="l"/>
              </a:tabLst>
              <a:defRPr/>
            </a:pPr>
            <a:r>
              <a:rPr lang="en-US" altLang="en-US" sz="2400" dirty="0">
                <a:ea typeface="ＭＳ Ｐゴシック" pitchFamily="34" charset="-128"/>
              </a:rPr>
              <a:t>What is a deed? </a:t>
            </a:r>
          </a:p>
          <a:p>
            <a:pPr marL="467916" indent="-467916" algn="just">
              <a:spcBef>
                <a:spcPts val="900"/>
              </a:spcBef>
              <a:buNone/>
              <a:tabLst>
                <a:tab pos="467916" algn="l"/>
              </a:tabLst>
              <a:defRPr/>
            </a:pPr>
            <a:r>
              <a:rPr lang="en-AU" altLang="en-US" sz="1800" i="1" dirty="0">
                <a:ea typeface="ＭＳ Ｐゴシック" pitchFamily="34" charset="-128"/>
              </a:rPr>
              <a:t>Property Law Act 1969 </a:t>
            </a:r>
            <a:r>
              <a:rPr lang="en-AU" altLang="en-US" sz="1800" dirty="0">
                <a:ea typeface="ＭＳ Ｐゴシック" pitchFamily="34" charset="-128"/>
              </a:rPr>
              <a:t>(WA) s 9:</a:t>
            </a:r>
          </a:p>
          <a:p>
            <a:pPr marL="467916" indent="-467916" algn="just">
              <a:spcBef>
                <a:spcPts val="900"/>
              </a:spcBef>
              <a:buNone/>
              <a:tabLst>
                <a:tab pos="467916" algn="l"/>
              </a:tabLst>
              <a:defRPr/>
            </a:pPr>
            <a:r>
              <a:rPr lang="en-AU" altLang="en-US" sz="1800" dirty="0">
                <a:ea typeface="ＭＳ Ｐゴシック" pitchFamily="34" charset="-128"/>
              </a:rPr>
              <a:t>(1)	Every deed, whether or not affecting property — </a:t>
            </a:r>
          </a:p>
          <a:p>
            <a:pPr marL="720725" indent="-276225" algn="just">
              <a:spcBef>
                <a:spcPts val="900"/>
              </a:spcBef>
              <a:buNone/>
              <a:defRPr/>
            </a:pPr>
            <a:r>
              <a:rPr lang="en-AU" altLang="en-US" sz="1800" dirty="0">
                <a:ea typeface="ＭＳ Ｐゴシック" pitchFamily="34" charset="-128"/>
              </a:rPr>
              <a:t>(a)	shall be </a:t>
            </a:r>
            <a:r>
              <a:rPr lang="en-AU" altLang="en-US" sz="1800" b="1" dirty="0">
                <a:ea typeface="ＭＳ Ｐゴシック" pitchFamily="34" charset="-128"/>
              </a:rPr>
              <a:t>signed</a:t>
            </a:r>
            <a:r>
              <a:rPr lang="en-AU" altLang="en-US" sz="1800" dirty="0">
                <a:ea typeface="ＭＳ Ｐゴシック" pitchFamily="34" charset="-128"/>
              </a:rPr>
              <a:t> by the party to be bound thereby; and </a:t>
            </a:r>
          </a:p>
          <a:p>
            <a:pPr marL="720725" indent="-276225" algn="just">
              <a:spcBef>
                <a:spcPts val="900"/>
              </a:spcBef>
              <a:buNone/>
              <a:defRPr/>
            </a:pPr>
            <a:r>
              <a:rPr lang="en-AU" altLang="en-US" sz="1800" dirty="0">
                <a:ea typeface="ＭＳ Ｐゴシック" pitchFamily="34" charset="-128"/>
              </a:rPr>
              <a:t>(b)	shall be </a:t>
            </a:r>
            <a:r>
              <a:rPr lang="en-AU" altLang="en-US" sz="1800" b="1" dirty="0">
                <a:ea typeface="ＭＳ Ｐゴシック" pitchFamily="34" charset="-128"/>
              </a:rPr>
              <a:t>attested</a:t>
            </a:r>
            <a:r>
              <a:rPr lang="en-AU" altLang="en-US" sz="1800" dirty="0">
                <a:ea typeface="ＭＳ Ｐゴシック" pitchFamily="34" charset="-128"/>
              </a:rPr>
              <a:t> by at least one witness not being a party to the deed but no particular form of words is required for the attestation. </a:t>
            </a:r>
          </a:p>
          <a:p>
            <a:pPr marL="444500" indent="-444500" algn="just">
              <a:spcBef>
                <a:spcPts val="900"/>
              </a:spcBef>
              <a:buNone/>
              <a:defRPr/>
            </a:pPr>
            <a:r>
              <a:rPr lang="en-AU" altLang="en-US" sz="1800" dirty="0">
                <a:ea typeface="ＭＳ Ｐゴシック" pitchFamily="34" charset="-128"/>
              </a:rPr>
              <a:t>(2)	It is </a:t>
            </a:r>
            <a:r>
              <a:rPr lang="en-AU" altLang="en-US" sz="1800" b="1" dirty="0">
                <a:ea typeface="ＭＳ Ｐゴシック" pitchFamily="34" charset="-128"/>
              </a:rPr>
              <a:t>not necessary to seal </a:t>
            </a:r>
            <a:r>
              <a:rPr lang="en-AU" altLang="en-US" sz="1800" dirty="0">
                <a:ea typeface="ＭＳ Ｐゴシック" pitchFamily="34" charset="-128"/>
              </a:rPr>
              <a:t>any deed except in the case of a deed executed by a corporation under its common or official seal. </a:t>
            </a:r>
          </a:p>
          <a:p>
            <a:pPr marL="444500" indent="-444500" algn="just">
              <a:spcBef>
                <a:spcPts val="900"/>
              </a:spcBef>
              <a:buFontTx/>
              <a:buAutoNum type="arabicParenBoth" startAt="3"/>
              <a:defRPr/>
            </a:pPr>
            <a:r>
              <a:rPr lang="en-AU" altLang="en-US" sz="1800" b="1" dirty="0">
                <a:ea typeface="ＭＳ Ｐゴシック" pitchFamily="34" charset="-128"/>
              </a:rPr>
              <a:t>Formal delivery and indenting are not necessary </a:t>
            </a:r>
            <a:r>
              <a:rPr lang="en-AU" altLang="en-US" sz="1800" dirty="0">
                <a:ea typeface="ＭＳ Ｐゴシック" pitchFamily="34" charset="-128"/>
              </a:rPr>
              <a:t>in any case. </a:t>
            </a:r>
          </a:p>
          <a:p>
            <a:pPr marL="444500" indent="-444500" algn="just">
              <a:spcBef>
                <a:spcPts val="900"/>
              </a:spcBef>
              <a:buFontTx/>
              <a:buAutoNum type="arabicParenBoth" startAt="3"/>
              <a:defRPr/>
            </a:pPr>
            <a:r>
              <a:rPr lang="en-AU" altLang="en-US" sz="1800" dirty="0">
                <a:ea typeface="ＭＳ Ｐゴシック" pitchFamily="34" charset="-128"/>
              </a:rPr>
              <a:t>Every instrument expressed or purporting to be an indenture or a deed or an agreement under seal or otherwise purporting to be a document executed under seal and which is executed as required by this section </a:t>
            </a:r>
            <a:r>
              <a:rPr lang="en-AU" altLang="en-US" sz="1800" b="1" dirty="0">
                <a:ea typeface="ＭＳ Ｐゴシック" pitchFamily="34" charset="-128"/>
              </a:rPr>
              <a:t>has the same effect as a deed duly executed in accordance with the law in force immediately prior to </a:t>
            </a:r>
            <a:r>
              <a:rPr lang="en-AU" altLang="en-US" sz="1800" dirty="0">
                <a:ea typeface="ＭＳ Ｐゴシック" pitchFamily="34" charset="-128"/>
              </a:rPr>
              <a:t>the coming into operation of </a:t>
            </a:r>
            <a:r>
              <a:rPr lang="en-AU" altLang="en-US" sz="1800" b="1" dirty="0">
                <a:ea typeface="ＭＳ Ｐゴシック" pitchFamily="34" charset="-128"/>
              </a:rPr>
              <a:t>this Act. </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Requirements for a legal interest in land</a:t>
            </a:r>
          </a:p>
        </p:txBody>
      </p:sp>
    </p:spTree>
    <p:extLst>
      <p:ext uri="{BB962C8B-B14F-4D97-AF65-F5344CB8AC3E}">
        <p14:creationId xmlns:p14="http://schemas.microsoft.com/office/powerpoint/2010/main" val="1362302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fontScale="55000" lnSpcReduction="20000"/>
          </a:bodyPr>
          <a:lstStyle/>
          <a:p>
            <a:pPr marL="467916" indent="-467916" algn="just">
              <a:spcBef>
                <a:spcPts val="900"/>
              </a:spcBef>
              <a:tabLst>
                <a:tab pos="467916" algn="l"/>
              </a:tabLst>
            </a:pPr>
            <a:r>
              <a:rPr lang="en-US" altLang="en-US" sz="2400" dirty="0">
                <a:ea typeface="ＭＳ Ｐゴシック" panose="020B0600070205080204" pitchFamily="34" charset="-128"/>
              </a:rPr>
              <a:t>Note some exclusions regarding the requirement of a deed</a:t>
            </a:r>
          </a:p>
          <a:p>
            <a:pPr marL="467916" indent="-467916" algn="just">
              <a:spcBef>
                <a:spcPts val="900"/>
              </a:spcBef>
              <a:buNone/>
              <a:tabLst>
                <a:tab pos="467916" algn="l"/>
              </a:tabLst>
            </a:pPr>
            <a:endParaRPr lang="en-AU" altLang="en-US" sz="2400" i="1" dirty="0">
              <a:ea typeface="ＭＳ Ｐゴシック" panose="020B0600070205080204" pitchFamily="34" charset="-128"/>
            </a:endParaRPr>
          </a:p>
          <a:p>
            <a:pPr marL="467916" indent="-467916" algn="just">
              <a:spcBef>
                <a:spcPts val="900"/>
              </a:spcBef>
              <a:buNone/>
              <a:tabLst>
                <a:tab pos="467916" algn="l"/>
              </a:tabLst>
            </a:pPr>
            <a:r>
              <a:rPr lang="en-AU" altLang="en-US" sz="2400" dirty="0">
                <a:ea typeface="ＭＳ Ｐゴシック" panose="020B0600070205080204" pitchFamily="34" charset="-128"/>
              </a:rPr>
              <a:t>PLA s 33(2) </a:t>
            </a:r>
          </a:p>
          <a:p>
            <a:pPr marL="467916" indent="-467916" algn="just">
              <a:spcBef>
                <a:spcPts val="900"/>
              </a:spcBef>
              <a:buNone/>
              <a:tabLst>
                <a:tab pos="467916" algn="l"/>
              </a:tabLst>
            </a:pPr>
            <a:r>
              <a:rPr lang="en-US" altLang="en-US" sz="2400" dirty="0">
                <a:ea typeface="ＭＳ Ｐゴシック" panose="020B0600070205080204" pitchFamily="34" charset="-128"/>
              </a:rPr>
              <a:t>33. Conveyances to be by deed</a:t>
            </a:r>
          </a:p>
          <a:p>
            <a:pPr marL="466725" indent="-288925" algn="just">
              <a:spcBef>
                <a:spcPts val="900"/>
              </a:spcBef>
              <a:buNone/>
              <a:tabLst>
                <a:tab pos="467916" algn="l"/>
              </a:tabLst>
            </a:pPr>
            <a:r>
              <a:rPr lang="en-US" altLang="en-US" sz="2400" dirty="0">
                <a:ea typeface="ＭＳ Ｐゴシック" panose="020B0600070205080204" pitchFamily="34" charset="-128"/>
              </a:rPr>
              <a:t>(2) This section does not apply to —</a:t>
            </a:r>
          </a:p>
          <a:p>
            <a:pPr marL="466725" indent="-288925" algn="just">
              <a:spcBef>
                <a:spcPts val="900"/>
              </a:spcBef>
              <a:buNone/>
              <a:tabLst>
                <a:tab pos="467916" algn="l"/>
              </a:tabLst>
            </a:pPr>
            <a:r>
              <a:rPr lang="en-US" altLang="en-US" sz="2400" dirty="0">
                <a:ea typeface="ＭＳ Ｐゴシック" panose="020B0600070205080204" pitchFamily="34" charset="-128"/>
              </a:rPr>
              <a:t>(a) 	assents by a personal representative;</a:t>
            </a:r>
          </a:p>
          <a:p>
            <a:pPr marL="466725" indent="-288925" algn="just">
              <a:spcBef>
                <a:spcPts val="900"/>
              </a:spcBef>
              <a:buNone/>
              <a:tabLst>
                <a:tab pos="467916" algn="l"/>
              </a:tabLst>
            </a:pPr>
            <a:r>
              <a:rPr lang="en-US" altLang="en-US" sz="2400" dirty="0">
                <a:ea typeface="ＭＳ Ｐゴシック" panose="020B0600070205080204" pitchFamily="34" charset="-128"/>
              </a:rPr>
              <a:t>(b) 	disclaimers made in accordance with the provisions of any law relating to bankruptcy or not required to be  evidenced in writing;</a:t>
            </a:r>
          </a:p>
          <a:p>
            <a:pPr marL="466725" indent="-288925" algn="just">
              <a:spcBef>
                <a:spcPts val="900"/>
              </a:spcBef>
              <a:buNone/>
              <a:tabLst>
                <a:tab pos="467916" algn="l"/>
              </a:tabLst>
            </a:pPr>
            <a:r>
              <a:rPr lang="en-US" altLang="en-US" sz="2400" dirty="0">
                <a:ea typeface="ＭＳ Ｐゴシック" panose="020B0600070205080204" pitchFamily="34" charset="-128"/>
              </a:rPr>
              <a:t>(c) 	surrenders by operation of law, including surrenders that may, by law, be effected without writing;</a:t>
            </a:r>
          </a:p>
          <a:p>
            <a:pPr marL="466725" indent="-288925" algn="just">
              <a:spcBef>
                <a:spcPts val="900"/>
              </a:spcBef>
              <a:buNone/>
              <a:tabLst>
                <a:tab pos="467916" algn="l"/>
              </a:tabLst>
            </a:pPr>
            <a:r>
              <a:rPr lang="en-US" altLang="en-US" sz="2400" dirty="0">
                <a:ea typeface="ＭＳ Ｐゴシック" panose="020B0600070205080204" pitchFamily="34" charset="-128"/>
              </a:rPr>
              <a:t>(d) 	leases or tenancies or other assurances not required by law to be made in writing;</a:t>
            </a:r>
          </a:p>
          <a:p>
            <a:pPr marL="466725" indent="-288925" algn="just">
              <a:spcBef>
                <a:spcPts val="900"/>
              </a:spcBef>
              <a:buNone/>
              <a:tabLst>
                <a:tab pos="467916" algn="l"/>
              </a:tabLst>
            </a:pPr>
            <a:r>
              <a:rPr lang="en-US" altLang="en-US" sz="2400" dirty="0">
                <a:ea typeface="ＭＳ Ｐゴシック" panose="020B0600070205080204" pitchFamily="34" charset="-128"/>
              </a:rPr>
              <a:t>(e) 	receipts not required by law to be under seal;</a:t>
            </a:r>
          </a:p>
          <a:p>
            <a:pPr marL="466725" indent="-288925" algn="just">
              <a:spcBef>
                <a:spcPts val="900"/>
              </a:spcBef>
              <a:buNone/>
              <a:tabLst>
                <a:tab pos="467916" algn="l"/>
              </a:tabLst>
            </a:pPr>
            <a:r>
              <a:rPr lang="en-US" altLang="en-US" sz="2400" dirty="0">
                <a:ea typeface="ＭＳ Ｐゴシック" panose="020B0600070205080204" pitchFamily="34" charset="-128"/>
              </a:rPr>
              <a:t>(f) 	vesting orders of the Court or other competent authority;</a:t>
            </a:r>
          </a:p>
          <a:p>
            <a:pPr marL="466725" indent="-288925" algn="just">
              <a:spcBef>
                <a:spcPts val="900"/>
              </a:spcBef>
              <a:buNone/>
              <a:tabLst>
                <a:tab pos="467916" algn="l"/>
              </a:tabLst>
            </a:pPr>
            <a:r>
              <a:rPr lang="en-US" altLang="en-US" sz="2400" dirty="0">
                <a:ea typeface="ＭＳ Ｐゴシック" panose="020B0600070205080204" pitchFamily="34" charset="-128"/>
              </a:rPr>
              <a:t>(g) 	conveyances taking effect by operation of law</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Requirements for a  legal interest in land</a:t>
            </a:r>
          </a:p>
        </p:txBody>
      </p:sp>
    </p:spTree>
    <p:extLst>
      <p:ext uri="{BB962C8B-B14F-4D97-AF65-F5344CB8AC3E}">
        <p14:creationId xmlns:p14="http://schemas.microsoft.com/office/powerpoint/2010/main" val="3653968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3891865" cy="4237771"/>
          </a:xfrm>
        </p:spPr>
        <p:txBody>
          <a:bodyPr>
            <a:normAutofit fontScale="55000" lnSpcReduction="20000"/>
          </a:bodyPr>
          <a:lstStyle/>
          <a:p>
            <a:pPr algn="just">
              <a:spcBef>
                <a:spcPts val="900"/>
              </a:spcBef>
              <a:buNone/>
              <a:defRPr/>
            </a:pPr>
            <a:r>
              <a:rPr lang="en-AU" altLang="en-US" sz="2500" dirty="0">
                <a:ea typeface="ＭＳ Ｐゴシック" pitchFamily="34" charset="-128"/>
              </a:rPr>
              <a:t>For Torrens land, a registered instrument is deemed to be a deed:</a:t>
            </a:r>
          </a:p>
          <a:p>
            <a:pPr algn="just">
              <a:spcBef>
                <a:spcPts val="900"/>
              </a:spcBef>
              <a:buNone/>
              <a:defRPr/>
            </a:pPr>
            <a:r>
              <a:rPr lang="en-AU" altLang="en-US" sz="2500" u="sng" dirty="0">
                <a:ea typeface="ＭＳ Ｐゴシック" pitchFamily="34" charset="-128"/>
              </a:rPr>
              <a:t>s 85 TLA  </a:t>
            </a:r>
            <a:r>
              <a:rPr lang="en-US" altLang="en-US" sz="2500" u="sng" dirty="0">
                <a:ea typeface="ＭＳ Ｐゴシック" pitchFamily="34" charset="-128"/>
              </a:rPr>
              <a:t>Signed and registered instruments have efficacy of deeds</a:t>
            </a:r>
            <a:endParaRPr lang="en-US" altLang="en-US" sz="2500" b="1" dirty="0">
              <a:ea typeface="ＭＳ Ｐゴシック" pitchFamily="34" charset="-128"/>
            </a:endParaRPr>
          </a:p>
          <a:p>
            <a:pPr marL="177800" algn="just">
              <a:spcBef>
                <a:spcPts val="900"/>
              </a:spcBef>
              <a:buNone/>
              <a:defRPr/>
            </a:pPr>
            <a:r>
              <a:rPr lang="en-US" altLang="en-US" sz="2500" b="1" dirty="0">
                <a:ea typeface="ＭＳ Ｐゴシック" pitchFamily="34" charset="-128"/>
              </a:rPr>
              <a:t>Every transfer </a:t>
            </a:r>
            <a:r>
              <a:rPr lang="en-US" altLang="en-US" sz="2500" dirty="0">
                <a:ea typeface="ＭＳ Ｐゴシック" pitchFamily="34" charset="-128"/>
              </a:rPr>
              <a:t>or other instrument shall be </a:t>
            </a:r>
            <a:r>
              <a:rPr lang="en-US" altLang="en-US" sz="2500" b="1" dirty="0">
                <a:ea typeface="ＭＳ Ｐゴシック" pitchFamily="34" charset="-128"/>
              </a:rPr>
              <a:t>deemed of the same efficacy as if under seal;</a:t>
            </a:r>
            <a:r>
              <a:rPr lang="en-US" altLang="en-US" sz="2500" dirty="0">
                <a:ea typeface="ＭＳ Ｐゴシック" pitchFamily="34" charset="-128"/>
              </a:rPr>
              <a:t> and </a:t>
            </a:r>
            <a:r>
              <a:rPr lang="en-US" altLang="en-US" sz="2500" b="1" dirty="0">
                <a:ea typeface="ＭＳ Ｐゴシック" pitchFamily="34" charset="-128"/>
              </a:rPr>
              <a:t>when signed </a:t>
            </a:r>
            <a:r>
              <a:rPr lang="en-US" altLang="en-US" sz="2500" dirty="0">
                <a:ea typeface="ＭＳ Ｐゴシック" pitchFamily="34" charset="-128"/>
              </a:rPr>
              <a:t>by the proprietor </a:t>
            </a:r>
            <a:r>
              <a:rPr lang="en-US" altLang="en-US" sz="2500" b="1" dirty="0">
                <a:ea typeface="ＭＳ Ｐゴシック" pitchFamily="34" charset="-128"/>
              </a:rPr>
              <a:t>and registered shall be as valid </a:t>
            </a:r>
            <a:r>
              <a:rPr lang="en-US" altLang="en-US" sz="2500" dirty="0">
                <a:ea typeface="ＭＳ Ｐゴシック" pitchFamily="34" charset="-128"/>
              </a:rPr>
              <a:t>and effectual to all intents and purposes </a:t>
            </a:r>
            <a:r>
              <a:rPr lang="en-US" altLang="en-US" sz="2500" b="1" dirty="0">
                <a:ea typeface="ＭＳ Ｐゴシック" pitchFamily="34" charset="-128"/>
              </a:rPr>
              <a:t>for conveying </a:t>
            </a:r>
            <a:r>
              <a:rPr lang="en-US" altLang="en-US" sz="2500" dirty="0">
                <a:ea typeface="ＭＳ Ｐゴシック" pitchFamily="34" charset="-128"/>
              </a:rPr>
              <a:t>passing or conferring the estates </a:t>
            </a:r>
            <a:r>
              <a:rPr lang="en-US" altLang="en-US" sz="2500" b="1" dirty="0">
                <a:ea typeface="ＭＳ Ｐゴシック" pitchFamily="34" charset="-128"/>
              </a:rPr>
              <a:t>interests or rights </a:t>
            </a:r>
            <a:r>
              <a:rPr lang="en-US" altLang="en-US" sz="2500" dirty="0">
                <a:ea typeface="ＭＳ Ｐゴシック" pitchFamily="34" charset="-128"/>
              </a:rPr>
              <a:t>expressed to be thereby transferred leased or created respectively as a deed duly executed and acknowledged by the same person would have been under any law heretofore or now in force in Western Australia or </a:t>
            </a:r>
            <a:r>
              <a:rPr lang="en-US" altLang="en-US" sz="2500" b="1" dirty="0">
                <a:ea typeface="ＭＳ Ｐゴシック" pitchFamily="34" charset="-128"/>
              </a:rPr>
              <a:t>as </a:t>
            </a:r>
            <a:r>
              <a:rPr lang="en-US" altLang="en-US" sz="2500" dirty="0">
                <a:ea typeface="ＭＳ Ｐゴシック" pitchFamily="34" charset="-128"/>
              </a:rPr>
              <a:t>any other form of document </a:t>
            </a:r>
            <a:r>
              <a:rPr lang="en-US" altLang="en-US" sz="2500" b="1" dirty="0">
                <a:ea typeface="ＭＳ Ｐゴシック" pitchFamily="34" charset="-128"/>
              </a:rPr>
              <a:t>would have been either at law or in equity</a:t>
            </a:r>
          </a:p>
          <a:p>
            <a:pPr algn="just">
              <a:spcBef>
                <a:spcPts val="900"/>
              </a:spcBef>
              <a:buNone/>
              <a:defRPr/>
            </a:pPr>
            <a:r>
              <a:rPr lang="en-AU" altLang="en-US" sz="2500" dirty="0">
                <a:ea typeface="ＭＳ Ｐゴシック" pitchFamily="34" charset="-128"/>
              </a:rPr>
              <a:t>In other words, Landgate are saying if you use one of our approved transfer forms, it’s a deed as far as we’re concerned!</a:t>
            </a:r>
          </a:p>
          <a:p>
            <a:pPr algn="just">
              <a:spcBef>
                <a:spcPts val="900"/>
              </a:spcBef>
              <a:defRPr/>
            </a:pPr>
            <a:endParaRPr lang="en-AU" dirty="0"/>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Requirements for a legal interest in land</a:t>
            </a:r>
          </a:p>
        </p:txBody>
      </p:sp>
      <p:pic>
        <p:nvPicPr>
          <p:cNvPr id="5" name="Picture 4" descr="A picture containing text, dog, mammal&#10;&#10;Description automatically generated">
            <a:extLst>
              <a:ext uri="{FF2B5EF4-FFF2-40B4-BE49-F238E27FC236}">
                <a16:creationId xmlns:a16="http://schemas.microsoft.com/office/drawing/2014/main" id="{8B95C2F8-3710-39E9-2D83-4476C8DC8D61}"/>
              </a:ext>
            </a:extLst>
          </p:cNvPr>
          <p:cNvPicPr>
            <a:picLocks noChangeAspect="1"/>
          </p:cNvPicPr>
          <p:nvPr/>
        </p:nvPicPr>
        <p:blipFill>
          <a:blip r:embed="rId2"/>
          <a:stretch>
            <a:fillRect/>
          </a:stretch>
        </p:blipFill>
        <p:spPr>
          <a:xfrm>
            <a:off x="4303126" y="668267"/>
            <a:ext cx="2295525" cy="3369660"/>
          </a:xfrm>
          <a:prstGeom prst="rect">
            <a:avLst/>
          </a:prstGeom>
        </p:spPr>
      </p:pic>
      <p:sp>
        <p:nvSpPr>
          <p:cNvPr id="4" name="TextBox 3">
            <a:extLst>
              <a:ext uri="{FF2B5EF4-FFF2-40B4-BE49-F238E27FC236}">
                <a16:creationId xmlns:a16="http://schemas.microsoft.com/office/drawing/2014/main" id="{0BBF4223-3768-40A3-E0B0-5113DCDEF563}"/>
              </a:ext>
            </a:extLst>
          </p:cNvPr>
          <p:cNvSpPr txBox="1"/>
          <p:nvPr/>
        </p:nvSpPr>
        <p:spPr>
          <a:xfrm>
            <a:off x="4303126" y="4118776"/>
            <a:ext cx="2295525" cy="915635"/>
          </a:xfrm>
          <a:prstGeom prst="rect">
            <a:avLst/>
          </a:prstGeom>
          <a:noFill/>
        </p:spPr>
        <p:txBody>
          <a:bodyPr wrap="square" rtlCol="0">
            <a:spAutoFit/>
          </a:bodyPr>
          <a:lstStyle/>
          <a:p>
            <a:r>
              <a:rPr lang="en-AU" sz="800" dirty="0"/>
              <a:t>Apparently this is a scene from 2021 </a:t>
            </a:r>
            <a:r>
              <a:rPr lang="en-AU" sz="800" i="1" dirty="0"/>
              <a:t>Godzilla v Kong </a:t>
            </a:r>
            <a:r>
              <a:rPr lang="en-AU" sz="800" dirty="0"/>
              <a:t>where Godzilla is alleged to be laughing at Kong after besting him in one of their skirmishes. WTF! Godzilla doesn’t laugh! That is not proper Godzilla canon, folks!</a:t>
            </a:r>
          </a:p>
          <a:p>
            <a:endParaRPr lang="en-AU" dirty="0"/>
          </a:p>
        </p:txBody>
      </p:sp>
    </p:spTree>
    <p:extLst>
      <p:ext uri="{BB962C8B-B14F-4D97-AF65-F5344CB8AC3E}">
        <p14:creationId xmlns:p14="http://schemas.microsoft.com/office/powerpoint/2010/main" val="3115075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872674" y="725214"/>
            <a:ext cx="3851808" cy="4237771"/>
          </a:xfrm>
        </p:spPr>
        <p:txBody>
          <a:bodyPr>
            <a:normAutofit fontScale="47500" lnSpcReduction="20000"/>
          </a:bodyPr>
          <a:lstStyle/>
          <a:p>
            <a:pPr algn="just">
              <a:spcBef>
                <a:spcPts val="900"/>
              </a:spcBef>
              <a:buNone/>
              <a:defRPr/>
            </a:pPr>
            <a:r>
              <a:rPr lang="en-AU" altLang="en-US" sz="2900" dirty="0">
                <a:ea typeface="ＭＳ Ｐゴシック" pitchFamily="34" charset="-128"/>
              </a:rPr>
              <a:t>For Torrens land, no legal interest in land may pass to another without registration</a:t>
            </a:r>
          </a:p>
          <a:p>
            <a:pPr algn="just">
              <a:spcBef>
                <a:spcPts val="900"/>
              </a:spcBef>
              <a:buNone/>
              <a:defRPr/>
            </a:pPr>
            <a:r>
              <a:rPr lang="en-AU" altLang="en-US" sz="2900" u="sng" dirty="0">
                <a:ea typeface="ＭＳ Ｐゴシック" pitchFamily="34" charset="-128"/>
              </a:rPr>
              <a:t>s 58 TLA </a:t>
            </a:r>
            <a:r>
              <a:rPr lang="en-US" altLang="en-US" sz="2900" i="1" u="sng" dirty="0">
                <a:ea typeface="ＭＳ Ｐゴシック" pitchFamily="34" charset="-128"/>
              </a:rPr>
              <a:t>Instruments not effectual until registered</a:t>
            </a:r>
          </a:p>
          <a:p>
            <a:pPr marL="177800" algn="just">
              <a:spcBef>
                <a:spcPts val="900"/>
              </a:spcBef>
              <a:buNone/>
              <a:defRPr/>
            </a:pPr>
            <a:r>
              <a:rPr lang="en-US" altLang="en-US" sz="2900" b="1" dirty="0">
                <a:ea typeface="ＭＳ Ｐゴシック" pitchFamily="34" charset="-128"/>
              </a:rPr>
              <a:t>No instrument until registered </a:t>
            </a:r>
            <a:r>
              <a:rPr lang="en-US" altLang="en-US" sz="2900" dirty="0">
                <a:ea typeface="ＭＳ Ｐゴシック" pitchFamily="34" charset="-128"/>
              </a:rPr>
              <a:t>in manner herein provided </a:t>
            </a:r>
            <a:r>
              <a:rPr lang="en-US" altLang="en-US" sz="2900" b="1" dirty="0">
                <a:ea typeface="ＭＳ Ｐゴシック" pitchFamily="34" charset="-128"/>
              </a:rPr>
              <a:t>shall be effectual to pass any estate or interest in any land </a:t>
            </a:r>
            <a:r>
              <a:rPr lang="en-US" altLang="en-US" sz="2900" dirty="0">
                <a:ea typeface="ＭＳ Ｐゴシック" pitchFamily="34" charset="-128"/>
              </a:rPr>
              <a:t>under the operation of this Act or to render such land liable to any mortgage or charge or to make any dealing in respect of Crown land effective, as the case requires; but upon such registration the estate or interest comprised in the instrument shall pass or as the case may be the land shall become liable in manner and subject to the covenants and conditions set forth and specified in the instrument or by this Act declared to be implied in instruments of a like nature, or the dealing in in respect of Crown land is made effective, as the case required.</a:t>
            </a:r>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Requirements  for a  legal interest in land</a:t>
            </a:r>
          </a:p>
        </p:txBody>
      </p:sp>
      <p:pic>
        <p:nvPicPr>
          <p:cNvPr id="4" name="Picture 3" descr="A robot with a large body&#10;&#10;AI-generated content may be incorrect.">
            <a:extLst>
              <a:ext uri="{FF2B5EF4-FFF2-40B4-BE49-F238E27FC236}">
                <a16:creationId xmlns:a16="http://schemas.microsoft.com/office/drawing/2014/main" id="{B2AC175E-8C2C-626C-CAEB-EB141C0177EE}"/>
              </a:ext>
            </a:extLst>
          </p:cNvPr>
          <p:cNvPicPr>
            <a:picLocks noChangeAspect="1"/>
          </p:cNvPicPr>
          <p:nvPr/>
        </p:nvPicPr>
        <p:blipFill>
          <a:blip r:embed="rId2"/>
          <a:stretch>
            <a:fillRect/>
          </a:stretch>
        </p:blipFill>
        <p:spPr>
          <a:xfrm>
            <a:off x="259350" y="1013897"/>
            <a:ext cx="2457431" cy="3282974"/>
          </a:xfrm>
          <a:prstGeom prst="rect">
            <a:avLst/>
          </a:prstGeom>
        </p:spPr>
      </p:pic>
    </p:spTree>
    <p:extLst>
      <p:ext uri="{BB962C8B-B14F-4D97-AF65-F5344CB8AC3E}">
        <p14:creationId xmlns:p14="http://schemas.microsoft.com/office/powerpoint/2010/main" val="4152551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484352" cy="4237771"/>
          </a:xfrm>
        </p:spPr>
        <p:txBody>
          <a:bodyPr>
            <a:normAutofit fontScale="25000" lnSpcReduction="20000"/>
          </a:bodyPr>
          <a:lstStyle/>
          <a:p>
            <a:pPr algn="just">
              <a:spcBef>
                <a:spcPts val="900"/>
              </a:spcBef>
              <a:buNone/>
              <a:defRPr/>
            </a:pPr>
            <a:r>
              <a:rPr lang="en-AU" altLang="en-US" sz="6400" dirty="0">
                <a:ea typeface="ＭＳ Ｐゴシック" pitchFamily="34" charset="-128"/>
              </a:rPr>
              <a:t>We will return to s 68(1) and s 68(1A) of the TLA later in the semester when we talk about exceptions to indefeasibility of title, but they are worth noting now.</a:t>
            </a:r>
          </a:p>
          <a:p>
            <a:pPr algn="just">
              <a:spcBef>
                <a:spcPts val="900"/>
              </a:spcBef>
              <a:buNone/>
              <a:defRPr/>
            </a:pPr>
            <a:r>
              <a:rPr lang="en-AU" altLang="en-US" sz="6400" dirty="0">
                <a:ea typeface="ＭＳ Ｐゴシック" pitchFamily="34" charset="-128"/>
              </a:rPr>
              <a:t>First, s 68(1) which says if you’re registered, you get indefeasible title</a:t>
            </a:r>
            <a:endParaRPr lang="en-AU" sz="5600" dirty="0"/>
          </a:p>
          <a:p>
            <a:pPr marL="177800"/>
            <a:r>
              <a:rPr lang="en-AU" sz="6400" dirty="0"/>
              <a:t>Notwithstanding the existence in any other person of any estate or interest whether derived by grant or transfer of the fee simple from the Crown or otherwise which but for this Act might be held to be paramount or to have priority </a:t>
            </a:r>
            <a:r>
              <a:rPr lang="en-AU" sz="6400" b="1" i="1" dirty="0"/>
              <a:t>the proprietor of land or of any estate or interest in land under the operation of this Act shall except in case of fraud hold the same subject to such encumbrances as may be notified on the registered certificate of title for the land; but absolutely free from all other encumbrances whatsoever except the estate or interest of a proprietor claiming the same land under a prior registered certificate of title</a:t>
            </a:r>
            <a:r>
              <a:rPr lang="en-AU" sz="6400" i="1" dirty="0"/>
              <a:t> </a:t>
            </a:r>
            <a:r>
              <a:rPr lang="en-AU" sz="6400" dirty="0"/>
              <a:t>and except as regards any portion of land that may by wrong description of parcels or boundaries be included in the certificate of title or instrument evidencing the title of such proprietor not being a purchaser for valuable consideration or deriving from or through such a purchaser. </a:t>
            </a:r>
            <a:br>
              <a:rPr lang="en-AU" sz="5600" dirty="0"/>
            </a:br>
            <a:endParaRPr lang="en-AU" sz="5600" dirty="0"/>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Indefeasibility of Title: 68(1) TLA</a:t>
            </a:r>
          </a:p>
        </p:txBody>
      </p:sp>
    </p:spTree>
    <p:extLst>
      <p:ext uri="{BB962C8B-B14F-4D97-AF65-F5344CB8AC3E}">
        <p14:creationId xmlns:p14="http://schemas.microsoft.com/office/powerpoint/2010/main" val="3445290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562370"/>
            <a:ext cx="4652517" cy="4400616"/>
          </a:xfrm>
        </p:spPr>
        <p:txBody>
          <a:bodyPr>
            <a:normAutofit fontScale="25000" lnSpcReduction="20000"/>
          </a:bodyPr>
          <a:lstStyle/>
          <a:p>
            <a:pPr algn="just">
              <a:spcBef>
                <a:spcPts val="900"/>
              </a:spcBef>
              <a:buNone/>
              <a:defRPr/>
            </a:pPr>
            <a:r>
              <a:rPr lang="en-AU" sz="5600" dirty="0"/>
              <a:t>Then s 68(1A) somewhat pulls the rug from under you, giving exceptions to the rule that </a:t>
            </a:r>
            <a:r>
              <a:rPr lang="en-AU" altLang="en-US" sz="6000" dirty="0">
                <a:ea typeface="ＭＳ Ｐゴシック" pitchFamily="34" charset="-128"/>
              </a:rPr>
              <a:t>registration = legal interest:</a:t>
            </a:r>
            <a:endParaRPr lang="en-AU" sz="5600" dirty="0"/>
          </a:p>
          <a:p>
            <a:pPr marL="177800" algn="just">
              <a:spcBef>
                <a:spcPts val="900"/>
              </a:spcBef>
              <a:buNone/>
              <a:defRPr/>
            </a:pPr>
            <a:r>
              <a:rPr lang="en-AU" sz="5600" dirty="0"/>
              <a:t>Despite subsection (1), the land which shall be included in any certificate of title or registered instrument </a:t>
            </a:r>
            <a:r>
              <a:rPr lang="en-AU" sz="5600" b="1" i="1" dirty="0"/>
              <a:t>shall be deemed to be subject to the reservations exceptions conditions and powers (if any) contained in the grant thereof or transfer of the fee simple or otherwise and to any </a:t>
            </a:r>
            <a:r>
              <a:rPr lang="en-AU" sz="5600" b="1" i="1" dirty="0">
                <a:hlinkClick r:id="rId2"/>
              </a:rPr>
              <a:t>rights</a:t>
            </a:r>
            <a:r>
              <a:rPr lang="en-AU" sz="5600" b="1" i="1" dirty="0"/>
              <a:t> subsisting under any adverse possession of such land and to any public </a:t>
            </a:r>
            <a:r>
              <a:rPr lang="en-AU" sz="5600" b="1" i="1" dirty="0">
                <a:hlinkClick r:id="rId2"/>
              </a:rPr>
              <a:t>rights</a:t>
            </a:r>
            <a:r>
              <a:rPr lang="en-AU" sz="5600" b="1" i="1" dirty="0"/>
              <a:t> of way and to any easements acquired by enjoyment or user or subsisting over or upon or affecting such land and to any unpaid rates and to any mining lease or licence issued under the provisions of any statute and to any prior unregistered lease or agreement for lease or for letting for a term not exceeding 5 years to a tenant in actual possession notwithstanding the same respectively may not be specially notified as encumbrances </a:t>
            </a:r>
            <a:r>
              <a:rPr lang="en-AU" sz="5600" dirty="0"/>
              <a:t>on such certificate or instrument but no option of purchase or renewal in any such lease or agreement shall be valid as against a subsequent registered interest unless such lease or agreement is registered or protected by caveat. </a:t>
            </a:r>
          </a:p>
          <a:p>
            <a:pPr marL="535781" indent="-535781" algn="just">
              <a:spcBef>
                <a:spcPts val="900"/>
              </a:spcBef>
              <a:buNone/>
              <a:defRPr/>
            </a:pPr>
            <a:endParaRPr lang="en-AU" altLang="en-US" sz="3200" dirty="0">
              <a:ea typeface="ＭＳ Ｐゴシック"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Exceptions to Indefeasibility – s 68(1A) TLA</a:t>
            </a:r>
          </a:p>
        </p:txBody>
      </p:sp>
      <p:pic>
        <p:nvPicPr>
          <p:cNvPr id="5" name="Picture 4" descr="A tree with a broken trunk&#10;&#10;Description automatically generated">
            <a:extLst>
              <a:ext uri="{FF2B5EF4-FFF2-40B4-BE49-F238E27FC236}">
                <a16:creationId xmlns:a16="http://schemas.microsoft.com/office/drawing/2014/main" id="{0FF604C6-0064-FB47-5DC9-C5DE5D1A70CC}"/>
              </a:ext>
            </a:extLst>
          </p:cNvPr>
          <p:cNvPicPr>
            <a:picLocks noChangeAspect="1"/>
          </p:cNvPicPr>
          <p:nvPr/>
        </p:nvPicPr>
        <p:blipFill>
          <a:blip r:embed="rId3"/>
          <a:stretch>
            <a:fillRect/>
          </a:stretch>
        </p:blipFill>
        <p:spPr>
          <a:xfrm>
            <a:off x="4977199" y="827141"/>
            <a:ext cx="1771883" cy="3801503"/>
          </a:xfrm>
          <a:prstGeom prst="rect">
            <a:avLst/>
          </a:prstGeom>
        </p:spPr>
      </p:pic>
    </p:spTree>
    <p:extLst>
      <p:ext uri="{BB962C8B-B14F-4D97-AF65-F5344CB8AC3E}">
        <p14:creationId xmlns:p14="http://schemas.microsoft.com/office/powerpoint/2010/main" val="1516941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507389" y="730237"/>
            <a:ext cx="4339740" cy="4237771"/>
          </a:xfrm>
        </p:spPr>
        <p:txBody>
          <a:bodyPr>
            <a:normAutofit/>
          </a:bodyPr>
          <a:lstStyle/>
          <a:p>
            <a:pPr marL="0" indent="0" algn="just">
              <a:spcBef>
                <a:spcPts val="900"/>
              </a:spcBef>
              <a:buNone/>
            </a:pPr>
            <a:r>
              <a:rPr lang="en-AU" altLang="en-US" sz="1800" b="1" dirty="0">
                <a:ea typeface="ＭＳ Ｐゴシック" panose="020B0600070205080204" pitchFamily="34" charset="-128"/>
              </a:rPr>
              <a:t>Formal requirements for the creation or disposal of an Equitable interest in land</a:t>
            </a:r>
            <a:endParaRPr lang="en-AU" altLang="en-US" sz="1800" dirty="0">
              <a:ea typeface="ＭＳ Ｐゴシック" panose="020B0600070205080204" pitchFamily="34" charset="-128"/>
            </a:endParaRPr>
          </a:p>
          <a:p>
            <a:pPr marL="0" indent="0" algn="just">
              <a:spcBef>
                <a:spcPts val="900"/>
              </a:spcBef>
              <a:buNone/>
            </a:pPr>
            <a:r>
              <a:rPr lang="en-AU" altLang="en-US" sz="1800" dirty="0">
                <a:ea typeface="ＭＳ Ｐゴシック" panose="020B0600070205080204" pitchFamily="34" charset="-128"/>
              </a:rPr>
              <a:t>In WA, we need to look at two pieces of legislation:</a:t>
            </a:r>
          </a:p>
          <a:p>
            <a:pPr marL="285750" indent="-285750" algn="just">
              <a:spcBef>
                <a:spcPts val="900"/>
              </a:spcBef>
              <a:buFont typeface="Arial" panose="020B0604020202020204" pitchFamily="34" charset="0"/>
              <a:buChar char="•"/>
            </a:pPr>
            <a:r>
              <a:rPr lang="en-AU" altLang="en-US" sz="1800" i="1" dirty="0">
                <a:ea typeface="ＭＳ Ｐゴシック" panose="020B0600070205080204" pitchFamily="34" charset="-128"/>
              </a:rPr>
              <a:t>Property Law Act 1967 </a:t>
            </a:r>
            <a:r>
              <a:rPr lang="en-AU" altLang="en-US" sz="1800" dirty="0">
                <a:ea typeface="ＭＳ Ｐゴシック" panose="020B0600070205080204" pitchFamily="34" charset="-128"/>
              </a:rPr>
              <a:t>(WA) ss 34(1)(a), 35, 36 </a:t>
            </a:r>
          </a:p>
          <a:p>
            <a:pPr marL="285750" indent="-285750" algn="just">
              <a:spcBef>
                <a:spcPts val="900"/>
              </a:spcBef>
              <a:buFont typeface="Arial" panose="020B0604020202020204" pitchFamily="34" charset="0"/>
              <a:buChar char="•"/>
            </a:pPr>
            <a:r>
              <a:rPr lang="en-AU" altLang="en-US" sz="1800" i="1" dirty="0">
                <a:ea typeface="ＭＳ Ｐゴシック" panose="020B0600070205080204" pitchFamily="34" charset="-128"/>
              </a:rPr>
              <a:t>Statute of Frauds 1677 </a:t>
            </a:r>
            <a:r>
              <a:rPr lang="en-AU" altLang="en-US" sz="1800" dirty="0">
                <a:ea typeface="ＭＳ Ｐゴシック" panose="020B0600070205080204" pitchFamily="34" charset="-128"/>
              </a:rPr>
              <a:t>(UK) s 4</a:t>
            </a:r>
          </a:p>
          <a:p>
            <a:pPr marL="0" indent="0" algn="just">
              <a:spcBef>
                <a:spcPts val="900"/>
              </a:spcBef>
              <a:buNone/>
            </a:pPr>
            <a:endParaRPr lang="en-AU" altLang="en-US" sz="1800" i="1" dirty="0">
              <a:ea typeface="ＭＳ Ｐゴシック" panose="020B0600070205080204" pitchFamily="34" charset="-128"/>
            </a:endParaRPr>
          </a:p>
          <a:p>
            <a:endParaRPr lang="en-AU" sz="4400" b="1" dirty="0"/>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Creating or disposing of an Equitable interest in land</a:t>
            </a:r>
          </a:p>
        </p:txBody>
      </p:sp>
    </p:spTree>
    <p:extLst>
      <p:ext uri="{BB962C8B-B14F-4D97-AF65-F5344CB8AC3E}">
        <p14:creationId xmlns:p14="http://schemas.microsoft.com/office/powerpoint/2010/main" val="3971148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374781" cy="4237771"/>
          </a:xfrm>
        </p:spPr>
        <p:txBody>
          <a:bodyPr>
            <a:normAutofit fontScale="25000" lnSpcReduction="20000"/>
          </a:bodyPr>
          <a:lstStyle/>
          <a:p>
            <a:r>
              <a:rPr lang="en-AU" sz="5600" b="1" dirty="0"/>
              <a:t>34 .  Instruments required to be in writing </a:t>
            </a:r>
          </a:p>
          <a:p>
            <a:r>
              <a:rPr lang="en-AU" sz="5600" dirty="0"/>
              <a:t>        (1) Subject to the provisions hereinafter contained in this Act with 	respect to the creation of interests in land by </a:t>
            </a:r>
            <a:r>
              <a:rPr lang="en-AU" sz="5600" dirty="0" err="1"/>
              <a:t>parol</a:t>
            </a:r>
            <a:r>
              <a:rPr lang="en-AU" sz="5600" dirty="0"/>
              <a:t> — </a:t>
            </a:r>
          </a:p>
          <a:p>
            <a:pPr marL="719138" indent="-360363"/>
            <a:r>
              <a:rPr lang="en-AU" sz="5600" dirty="0"/>
              <a:t>            (a)    </a:t>
            </a:r>
            <a:r>
              <a:rPr lang="en-AU" sz="5600" i="1" dirty="0"/>
              <a:t>no interest in land is capable of being created or 		disposed of except by writing signed by the 		person creating or conveying the interest</a:t>
            </a:r>
            <a:r>
              <a:rPr lang="en-AU" sz="5600" dirty="0"/>
              <a:t>, or by 		his agent thereunto lawfully authorised in writing, 		or by will, or by operation of law;</a:t>
            </a:r>
          </a:p>
          <a:p>
            <a:pPr marL="719138" indent="-360363"/>
            <a:r>
              <a:rPr lang="en-AU" sz="5600" dirty="0"/>
              <a:t>	     (b)    a declaration of trust respecting any land or any interest 	therein shall be manifested and proved by writing signed by a 	person who is able to declare the trust or by his will; </a:t>
            </a:r>
          </a:p>
          <a:p>
            <a:r>
              <a:rPr lang="en-AU" sz="5600" dirty="0"/>
              <a:t>            	      (c)    a disposition of an equitable interest or trust subsisting at the 		time of the disposition shall be in writing signed by the person 		disposing of the interest, or by his agent thereunto lawfully 			authorised in writing or by will. </a:t>
            </a:r>
          </a:p>
          <a:p>
            <a:r>
              <a:rPr lang="en-AU" sz="5600" dirty="0"/>
              <a:t>         (2) This section does not affect the creation or operation of resulting, 	implied or constructive trusts. </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spTree>
    <p:extLst>
      <p:ext uri="{BB962C8B-B14F-4D97-AF65-F5344CB8AC3E}">
        <p14:creationId xmlns:p14="http://schemas.microsoft.com/office/powerpoint/2010/main" val="956218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374781" cy="4237771"/>
          </a:xfrm>
        </p:spPr>
        <p:txBody>
          <a:bodyPr>
            <a:normAutofit fontScale="47500" lnSpcReduction="20000"/>
          </a:bodyPr>
          <a:lstStyle/>
          <a:p>
            <a:pPr marL="941388" indent="-941388">
              <a:spcBef>
                <a:spcPts val="900"/>
              </a:spcBef>
              <a:buNone/>
              <a:defRPr/>
            </a:pPr>
            <a:r>
              <a:rPr lang="en-AU" altLang="en-US" sz="4400" b="1" dirty="0">
                <a:ea typeface="ＭＳ Ｐゴシック" pitchFamily="34" charset="-128"/>
              </a:rPr>
              <a:t>s 35	Creation of interests in land by </a:t>
            </a:r>
            <a:r>
              <a:rPr lang="en-AU" altLang="en-US" sz="4400" b="1" dirty="0" err="1">
                <a:ea typeface="ＭＳ Ｐゴシック" pitchFamily="34" charset="-128"/>
              </a:rPr>
              <a:t>parol</a:t>
            </a:r>
            <a:endParaRPr lang="en-AU" altLang="en-US" sz="4400" b="1" dirty="0">
              <a:ea typeface="ＭＳ Ｐゴシック" pitchFamily="34" charset="-128"/>
            </a:endParaRPr>
          </a:p>
          <a:p>
            <a:pPr marL="355600" indent="-355600" algn="just">
              <a:spcBef>
                <a:spcPts val="450"/>
              </a:spcBef>
              <a:buNone/>
              <a:defRPr/>
            </a:pPr>
            <a:r>
              <a:rPr lang="en-AU" altLang="en-US" sz="4400" dirty="0">
                <a:ea typeface="ＭＳ Ｐゴシック" pitchFamily="34" charset="-128"/>
              </a:rPr>
              <a:t>(1)	</a:t>
            </a:r>
            <a:r>
              <a:rPr lang="en-AU" altLang="en-US" sz="4400" i="1" dirty="0">
                <a:ea typeface="ＭＳ Ｐゴシック" pitchFamily="34" charset="-128"/>
              </a:rPr>
              <a:t>Any interest in land created by </a:t>
            </a:r>
            <a:r>
              <a:rPr lang="en-AU" altLang="en-US" sz="4400" i="1" dirty="0" err="1">
                <a:ea typeface="ＭＳ Ｐゴシック" pitchFamily="34" charset="-128"/>
              </a:rPr>
              <a:t>parol</a:t>
            </a:r>
            <a:r>
              <a:rPr lang="en-AU" altLang="en-US" sz="4400" i="1" dirty="0">
                <a:ea typeface="ＭＳ Ｐゴシック" pitchFamily="34" charset="-128"/>
              </a:rPr>
              <a:t> and not put in writing and signed by the person so creating it</a:t>
            </a:r>
            <a:r>
              <a:rPr lang="en-AU" altLang="en-US" sz="4400" dirty="0">
                <a:ea typeface="ＭＳ Ｐゴシック" pitchFamily="34" charset="-128"/>
              </a:rPr>
              <a:t>, or by his agent thereunto lawfully authorised in writing, </a:t>
            </a:r>
            <a:r>
              <a:rPr lang="en-AU" altLang="en-US" sz="4400" i="1" dirty="0">
                <a:ea typeface="ＭＳ Ｐゴシック" pitchFamily="34" charset="-128"/>
              </a:rPr>
              <a:t>has</a:t>
            </a:r>
            <a:r>
              <a:rPr lang="en-AU" altLang="en-US" sz="4400" dirty="0">
                <a:ea typeface="ＭＳ Ｐゴシック" pitchFamily="34" charset="-128"/>
              </a:rPr>
              <a:t> notwithstanding any consideration having been given for the interest, the force and effect of </a:t>
            </a:r>
            <a:r>
              <a:rPr lang="en-AU" altLang="en-US" sz="4400" i="1" dirty="0">
                <a:ea typeface="ＭＳ Ｐゴシック" pitchFamily="34" charset="-128"/>
              </a:rPr>
              <a:t>an interest at will only</a:t>
            </a:r>
            <a:r>
              <a:rPr lang="en-AU" altLang="en-US" sz="4400" dirty="0">
                <a:ea typeface="ＭＳ Ｐゴシック" pitchFamily="34" charset="-128"/>
              </a:rPr>
              <a:t>. </a:t>
            </a:r>
          </a:p>
          <a:p>
            <a:pPr marL="355600" indent="-355600" algn="just">
              <a:spcBef>
                <a:spcPts val="450"/>
              </a:spcBef>
              <a:buNone/>
              <a:defRPr/>
            </a:pPr>
            <a:r>
              <a:rPr lang="en-AU" altLang="en-US" sz="4400" dirty="0">
                <a:ea typeface="ＭＳ Ｐゴシック" pitchFamily="34" charset="-128"/>
              </a:rPr>
              <a:t>(2)	Nothing in the foregoing provisions of this Part affects the creation by </a:t>
            </a:r>
            <a:r>
              <a:rPr lang="en-AU" altLang="en-US" sz="4400" dirty="0" err="1">
                <a:ea typeface="ＭＳ Ｐゴシック" pitchFamily="34" charset="-128"/>
              </a:rPr>
              <a:t>parol</a:t>
            </a:r>
            <a:r>
              <a:rPr lang="en-AU" altLang="en-US" sz="4400" dirty="0">
                <a:ea typeface="ＭＳ Ｐゴシック" pitchFamily="34" charset="-128"/>
              </a:rPr>
              <a:t> of leases taking effect in possession for a term not exceeding 3 years, whether or not the lessee is given power to extend the term. </a:t>
            </a:r>
            <a:endParaRPr lang="en-US" altLang="en-US" sz="4400" dirty="0">
              <a:ea typeface="ＭＳ Ｐゴシック" pitchFamily="34" charset="-128"/>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spTree>
    <p:extLst>
      <p:ext uri="{BB962C8B-B14F-4D97-AF65-F5344CB8AC3E}">
        <p14:creationId xmlns:p14="http://schemas.microsoft.com/office/powerpoint/2010/main" val="3625061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374781" cy="4237771"/>
          </a:xfrm>
        </p:spPr>
        <p:txBody>
          <a:bodyPr>
            <a:normAutofit fontScale="55000" lnSpcReduction="20000"/>
          </a:bodyPr>
          <a:lstStyle/>
          <a:p>
            <a:pPr marL="623888" indent="-623888" algn="just">
              <a:buNone/>
              <a:defRPr/>
            </a:pPr>
            <a:r>
              <a:rPr lang="en-AU" sz="4400" b="1" dirty="0"/>
              <a:t>s 36 	Savings in regard to ss 34 and 35</a:t>
            </a:r>
          </a:p>
          <a:p>
            <a:pPr marL="355600" indent="-355600" algn="just">
              <a:buNone/>
              <a:defRPr/>
            </a:pPr>
            <a:r>
              <a:rPr lang="en-AU" sz="4400" dirty="0"/>
              <a:t>Nothing in sections 34 and 35 — </a:t>
            </a:r>
          </a:p>
          <a:p>
            <a:pPr marL="542925" indent="-542925" algn="just">
              <a:buNone/>
              <a:defRPr/>
            </a:pPr>
            <a:r>
              <a:rPr lang="en-AU" sz="4400" dirty="0"/>
              <a:t>(a)  invalidates dispositions by will; </a:t>
            </a:r>
          </a:p>
          <a:p>
            <a:pPr marL="542925" indent="-542925" algn="just">
              <a:buNone/>
              <a:defRPr/>
            </a:pPr>
            <a:r>
              <a:rPr lang="en-AU" sz="4400" dirty="0"/>
              <a:t>(b) affects any interest validly created before the coming into operation of this Act; </a:t>
            </a:r>
          </a:p>
          <a:p>
            <a:pPr marL="542925" indent="-542925" algn="just">
              <a:buNone/>
              <a:defRPr/>
            </a:pPr>
            <a:r>
              <a:rPr lang="en-AU" sz="4400" dirty="0"/>
              <a:t>(c) affects the right to acquire an interest in land by virtue of taking possession; or </a:t>
            </a:r>
          </a:p>
          <a:p>
            <a:pPr marL="542925" indent="-542925" algn="just">
              <a:buFontTx/>
              <a:buAutoNum type="alphaLcParenBoth" startAt="4"/>
              <a:defRPr/>
            </a:pPr>
            <a:r>
              <a:rPr lang="en-AU" sz="4400" u="sng" dirty="0">
                <a:solidFill>
                  <a:srgbClr val="FF0000"/>
                </a:solidFill>
              </a:rPr>
              <a:t>affects the operation of the law relating to part performance. </a:t>
            </a: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2000" b="0" dirty="0">
                <a:solidFill>
                  <a:schemeClr val="bg1"/>
                </a:solidFill>
              </a:rPr>
              <a:t>Equitable Interests in Land</a:t>
            </a:r>
          </a:p>
        </p:txBody>
      </p:sp>
    </p:spTree>
    <p:extLst>
      <p:ext uri="{BB962C8B-B14F-4D97-AF65-F5344CB8AC3E}">
        <p14:creationId xmlns:p14="http://schemas.microsoft.com/office/powerpoint/2010/main" val="3631374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4053706" cy="4237771"/>
          </a:xfrm>
        </p:spPr>
        <p:txBody>
          <a:bodyPr>
            <a:normAutofit fontScale="62500" lnSpcReduction="20000"/>
          </a:bodyPr>
          <a:lstStyle/>
          <a:p>
            <a:pPr algn="just">
              <a:spcBef>
                <a:spcPts val="900"/>
              </a:spcBef>
              <a:defRPr/>
            </a:pPr>
            <a:r>
              <a:rPr lang="en-US" altLang="en-US" sz="2000" dirty="0">
                <a:ea typeface="ＭＳ Ｐゴシック" pitchFamily="34" charset="-128"/>
              </a:rPr>
              <a:t>A conflict exists between s 4 of the </a:t>
            </a:r>
            <a:r>
              <a:rPr lang="en-US" altLang="en-US" sz="2000" i="1" dirty="0">
                <a:ea typeface="ＭＳ Ｐゴシック" pitchFamily="34" charset="-128"/>
              </a:rPr>
              <a:t>Statute of Frauds </a:t>
            </a:r>
            <a:r>
              <a:rPr lang="en-US" altLang="en-US" sz="2000" dirty="0">
                <a:ea typeface="ＭＳ Ｐゴシック" pitchFamily="34" charset="-128"/>
              </a:rPr>
              <a:t>and s 34(1)(a) </a:t>
            </a:r>
            <a:r>
              <a:rPr lang="en-US" altLang="en-US" sz="2000" i="1" dirty="0">
                <a:ea typeface="ＭＳ Ｐゴシック" pitchFamily="34" charset="-128"/>
              </a:rPr>
              <a:t>Property Law Act </a:t>
            </a:r>
            <a:r>
              <a:rPr lang="en-US" altLang="en-US" sz="2000" dirty="0">
                <a:ea typeface="ＭＳ Ｐゴシック" pitchFamily="34" charset="-128"/>
              </a:rPr>
              <a:t>(the latter seeming to suggest an interest in land be in writing and not just evidenced by it as required by the former).</a:t>
            </a:r>
          </a:p>
          <a:p>
            <a:pPr algn="just">
              <a:spcBef>
                <a:spcPts val="900"/>
              </a:spcBef>
              <a:buNone/>
              <a:defRPr/>
            </a:pPr>
            <a:r>
              <a:rPr lang="en-AU" sz="2000" i="1" dirty="0">
                <a:solidFill>
                  <a:srgbClr val="FF0000"/>
                </a:solidFill>
              </a:rPr>
              <a:t>Marist Brothers Community Inc v Shire of Harvey</a:t>
            </a:r>
            <a:r>
              <a:rPr lang="en-AU" sz="2000" dirty="0">
                <a:solidFill>
                  <a:srgbClr val="FF0000"/>
                </a:solidFill>
              </a:rPr>
              <a:t> (1994) 14 WAR 69 </a:t>
            </a:r>
            <a:r>
              <a:rPr lang="en-AU" sz="2000" dirty="0"/>
              <a:t>– this leading case reflects the current position that the </a:t>
            </a:r>
            <a:r>
              <a:rPr lang="en-AU" sz="2000" b="1" dirty="0"/>
              <a:t>formalities </a:t>
            </a:r>
            <a:r>
              <a:rPr lang="en-AU" sz="2000" dirty="0"/>
              <a:t>required for contracts for the sale of land </a:t>
            </a:r>
            <a:r>
              <a:rPr lang="en-AU" sz="2000" dirty="0" err="1"/>
              <a:t>ie</a:t>
            </a:r>
            <a:r>
              <a:rPr lang="en-AU" sz="2000" dirty="0"/>
              <a:t> s 34(1)(a) PLA does not apply to contracts for the sale of an interest in land since it is directed to the creation of interests in land by conveyance or other instruments such as express trusts and not to agreements as such. As Pidgeon J noted:</a:t>
            </a:r>
          </a:p>
          <a:p>
            <a:pPr marL="177800" algn="just">
              <a:spcBef>
                <a:spcPts val="900"/>
              </a:spcBef>
              <a:buNone/>
              <a:defRPr/>
            </a:pPr>
            <a:r>
              <a:rPr lang="en-AU" sz="2000" dirty="0"/>
              <a:t>I do not consider it was being said that s34 extended to ordinary contracts of sale of the fee simple, which would be transferred by a Transfer of Land Act transfer when the time for settlement arrived. The agreement that has been made enforceable is by reason of the writing satisfying the Statute of Frauds. In these circumstances it is open  to obtain an order for specific performance by effecting the conveyance.</a:t>
            </a:r>
          </a:p>
          <a:p>
            <a:pPr algn="just">
              <a:spcBef>
                <a:spcPts val="900"/>
              </a:spcBef>
              <a:buNone/>
              <a:defRPr/>
            </a:pPr>
            <a:endParaRPr lang="en-AU" sz="2000" dirty="0"/>
          </a:p>
          <a:p>
            <a:pPr algn="just">
              <a:spcBef>
                <a:spcPts val="900"/>
              </a:spcBef>
              <a:buNone/>
              <a:defRPr/>
            </a:pPr>
            <a:endParaRPr lang="en-AU" sz="2000" dirty="0"/>
          </a:p>
          <a:p>
            <a:pPr algn="just">
              <a:spcBef>
                <a:spcPts val="900"/>
              </a:spcBef>
              <a:buNone/>
              <a:defRPr/>
            </a:pPr>
            <a:endParaRPr lang="en-AU" sz="2000" dirty="0"/>
          </a:p>
          <a:p>
            <a:pPr algn="just">
              <a:spcBef>
                <a:spcPts val="900"/>
              </a:spcBef>
              <a:buNone/>
              <a:defRPr/>
            </a:pPr>
            <a:endParaRPr lang="en-US" altLang="en-US" sz="2000" dirty="0">
              <a:ea typeface="ＭＳ Ｐゴシック" pitchFamily="34" charset="-128"/>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pic>
        <p:nvPicPr>
          <p:cNvPr id="5" name="Picture 4" descr="A group of men wearing religious robes&#10;&#10;Description automatically generated">
            <a:extLst>
              <a:ext uri="{FF2B5EF4-FFF2-40B4-BE49-F238E27FC236}">
                <a16:creationId xmlns:a16="http://schemas.microsoft.com/office/drawing/2014/main" id="{2B771195-A186-E6FE-52AB-FE3A14F90DE8}"/>
              </a:ext>
            </a:extLst>
          </p:cNvPr>
          <p:cNvPicPr>
            <a:picLocks noChangeAspect="1"/>
          </p:cNvPicPr>
          <p:nvPr/>
        </p:nvPicPr>
        <p:blipFill>
          <a:blip r:embed="rId2"/>
          <a:stretch>
            <a:fillRect/>
          </a:stretch>
        </p:blipFill>
        <p:spPr>
          <a:xfrm>
            <a:off x="4480684" y="1049773"/>
            <a:ext cx="1927736" cy="1960464"/>
          </a:xfrm>
          <a:prstGeom prst="rect">
            <a:avLst/>
          </a:prstGeom>
        </p:spPr>
      </p:pic>
      <p:sp>
        <p:nvSpPr>
          <p:cNvPr id="4" name="TextBox 3">
            <a:extLst>
              <a:ext uri="{FF2B5EF4-FFF2-40B4-BE49-F238E27FC236}">
                <a16:creationId xmlns:a16="http://schemas.microsoft.com/office/drawing/2014/main" id="{ED3AFBED-C6E9-CD49-C252-5DF9EA96375C}"/>
              </a:ext>
            </a:extLst>
          </p:cNvPr>
          <p:cNvSpPr txBox="1"/>
          <p:nvPr/>
        </p:nvSpPr>
        <p:spPr>
          <a:xfrm>
            <a:off x="4480684" y="3104738"/>
            <a:ext cx="1927736" cy="638636"/>
          </a:xfrm>
          <a:prstGeom prst="rect">
            <a:avLst/>
          </a:prstGeom>
          <a:noFill/>
        </p:spPr>
        <p:txBody>
          <a:bodyPr wrap="square" rtlCol="0">
            <a:spAutoFit/>
          </a:bodyPr>
          <a:lstStyle/>
          <a:p>
            <a:r>
              <a:rPr lang="en-AU" sz="1100" dirty="0"/>
              <a:t>A few of the Marist brothers, just hanging out</a:t>
            </a:r>
          </a:p>
          <a:p>
            <a:endParaRPr lang="en-AU" dirty="0"/>
          </a:p>
        </p:txBody>
      </p:sp>
    </p:spTree>
    <p:extLst>
      <p:ext uri="{BB962C8B-B14F-4D97-AF65-F5344CB8AC3E}">
        <p14:creationId xmlns:p14="http://schemas.microsoft.com/office/powerpoint/2010/main" val="3795525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5472993" cy="4237771"/>
          </a:xfrm>
        </p:spPr>
        <p:txBody>
          <a:bodyPr>
            <a:normAutofit/>
          </a:bodyPr>
          <a:lstStyle/>
          <a:p>
            <a:pPr algn="just">
              <a:spcBef>
                <a:spcPts val="900"/>
              </a:spcBef>
            </a:pPr>
            <a:r>
              <a:rPr lang="en-AU" altLang="en-US" sz="1800" dirty="0">
                <a:ea typeface="ＭＳ Ｐゴシック" panose="020B0600070205080204" pitchFamily="34" charset="-128"/>
              </a:rPr>
              <a:t>Let’s remind ourselves: what did s 4 of the </a:t>
            </a:r>
            <a:r>
              <a:rPr lang="en-AU" altLang="en-US" sz="1800" i="1" dirty="0">
                <a:ea typeface="ＭＳ Ｐゴシック" panose="020B0600070205080204" pitchFamily="34" charset="-128"/>
              </a:rPr>
              <a:t>Statute of Frauds </a:t>
            </a:r>
            <a:r>
              <a:rPr lang="en-AU" altLang="en-US" sz="1800" dirty="0">
                <a:ea typeface="ＭＳ Ｐゴシック" panose="020B0600070205080204" pitchFamily="34" charset="-128"/>
              </a:rPr>
              <a:t>say again?</a:t>
            </a:r>
            <a:r>
              <a:rPr lang="en-AU" altLang="en-US" sz="1800" i="1" dirty="0">
                <a:ea typeface="ＭＳ Ｐゴシック" panose="020B0600070205080204" pitchFamily="34" charset="-128"/>
              </a:rPr>
              <a:t> Statute of Frauds 1677 </a:t>
            </a:r>
            <a:r>
              <a:rPr lang="en-AU" altLang="en-US" sz="1800" dirty="0">
                <a:ea typeface="ＭＳ Ｐゴシック" panose="020B0600070205080204" pitchFamily="34" charset="-128"/>
              </a:rPr>
              <a:t>(UK), as amended by the </a:t>
            </a:r>
            <a:r>
              <a:rPr lang="en-AU" altLang="en-US" sz="1800" i="1" dirty="0">
                <a:ea typeface="ＭＳ Ｐゴシック" panose="020B0600070205080204" pitchFamily="34" charset="-128"/>
              </a:rPr>
              <a:t>Law Reform (Statute of Frauds) Act 1962</a:t>
            </a:r>
            <a:r>
              <a:rPr lang="en-AU" altLang="en-US" sz="1800" dirty="0">
                <a:ea typeface="ＭＳ Ｐゴシック" panose="020B0600070205080204" pitchFamily="34" charset="-128"/>
              </a:rPr>
              <a:t> (WA).</a:t>
            </a:r>
          </a:p>
          <a:p>
            <a:pPr marL="535781" indent="-535781" algn="just">
              <a:spcBef>
                <a:spcPts val="900"/>
              </a:spcBef>
              <a:buNone/>
            </a:pPr>
            <a:r>
              <a:rPr lang="en-AU" altLang="en-US" sz="1800" dirty="0">
                <a:ea typeface="ＭＳ Ｐゴシック" panose="020B0600070205080204" pitchFamily="34" charset="-128"/>
              </a:rPr>
              <a:t>s 4 	</a:t>
            </a:r>
            <a:r>
              <a:rPr lang="en-AU" altLang="en-US" sz="1800" u="sng" dirty="0">
                <a:ea typeface="ＭＳ Ｐゴシック" panose="020B0600070205080204" pitchFamily="34" charset="-128"/>
              </a:rPr>
              <a:t>No action </a:t>
            </a:r>
            <a:r>
              <a:rPr lang="en-AU" altLang="en-US" sz="1800" dirty="0">
                <a:ea typeface="ＭＳ Ｐゴシック" panose="020B0600070205080204" pitchFamily="34" charset="-128"/>
              </a:rPr>
              <a:t>shall be brought upon </a:t>
            </a:r>
            <a:r>
              <a:rPr lang="en-AU" altLang="en-US" sz="1800" u="sng" dirty="0">
                <a:ea typeface="ＭＳ Ｐゴシック" panose="020B0600070205080204" pitchFamily="34" charset="-128"/>
              </a:rPr>
              <a:t>any contract for the sale or other disposition of land or of any interest in land </a:t>
            </a:r>
            <a:r>
              <a:rPr lang="en-AU" altLang="en-US" sz="1800" dirty="0">
                <a:ea typeface="ＭＳ Ｐゴシック" panose="020B0600070205080204" pitchFamily="34" charset="-128"/>
              </a:rPr>
              <a:t>unless an agreement upon which such action is brought or some </a:t>
            </a:r>
            <a:r>
              <a:rPr lang="en-AU" altLang="en-US" sz="1800" u="sng" dirty="0">
                <a:solidFill>
                  <a:srgbClr val="FF0000"/>
                </a:solidFill>
                <a:ea typeface="ＭＳ Ｐゴシック" panose="020B0600070205080204" pitchFamily="34" charset="-128"/>
              </a:rPr>
              <a:t>memorandum</a:t>
            </a:r>
            <a:r>
              <a:rPr lang="en-AU" altLang="en-US" sz="1800" u="sng" dirty="0">
                <a:ea typeface="ＭＳ Ｐゴシック" panose="020B0600070205080204" pitchFamily="34" charset="-128"/>
              </a:rPr>
              <a:t> </a:t>
            </a:r>
            <a:r>
              <a:rPr lang="en-AU" altLang="en-US" sz="1800" u="sng" dirty="0">
                <a:solidFill>
                  <a:srgbClr val="FF0000"/>
                </a:solidFill>
                <a:ea typeface="ＭＳ Ｐゴシック" panose="020B0600070205080204" pitchFamily="34" charset="-128"/>
              </a:rPr>
              <a:t>or note </a:t>
            </a:r>
            <a:r>
              <a:rPr lang="en-AU" altLang="en-US" sz="1800" dirty="0">
                <a:ea typeface="ＭＳ Ｐゴシック" panose="020B0600070205080204" pitchFamily="34" charset="-128"/>
              </a:rPr>
              <a:t>thereof, </a:t>
            </a:r>
            <a:r>
              <a:rPr lang="en-AU" altLang="en-US" sz="1800" dirty="0">
                <a:solidFill>
                  <a:srgbClr val="FF0000"/>
                </a:solidFill>
                <a:ea typeface="ＭＳ Ｐゴシック" panose="020B0600070205080204" pitchFamily="34" charset="-128"/>
              </a:rPr>
              <a:t>is </a:t>
            </a:r>
            <a:r>
              <a:rPr lang="en-AU" altLang="en-US" sz="1800" u="sng" dirty="0">
                <a:solidFill>
                  <a:srgbClr val="FF0000"/>
                </a:solidFill>
                <a:ea typeface="ＭＳ Ｐゴシック" panose="020B0600070205080204" pitchFamily="34" charset="-128"/>
              </a:rPr>
              <a:t>in writing and signed </a:t>
            </a:r>
            <a:r>
              <a:rPr lang="en-AU" altLang="en-US" sz="1800" dirty="0">
                <a:ea typeface="ＭＳ Ｐゴシック" panose="020B0600070205080204" pitchFamily="34" charset="-128"/>
              </a:rPr>
              <a:t>by the party to be charged or by some person thereunto by him lawfully authorised.</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spTree>
    <p:extLst>
      <p:ext uri="{BB962C8B-B14F-4D97-AF65-F5344CB8AC3E}">
        <p14:creationId xmlns:p14="http://schemas.microsoft.com/office/powerpoint/2010/main" val="2870046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3383011" cy="4237771"/>
          </a:xfrm>
        </p:spPr>
        <p:txBody>
          <a:bodyPr>
            <a:normAutofit fontScale="70000" lnSpcReduction="20000"/>
          </a:bodyPr>
          <a:lstStyle/>
          <a:p>
            <a:pPr algn="just">
              <a:spcBef>
                <a:spcPts val="900"/>
              </a:spcBef>
              <a:buNone/>
              <a:defRPr/>
            </a:pPr>
            <a:r>
              <a:rPr lang="en-AU" sz="1800" dirty="0"/>
              <a:t>What constitutes ‘a sufficient memorandum or note’ (under s 4 </a:t>
            </a:r>
            <a:r>
              <a:rPr lang="en-AU" sz="1800" i="1" dirty="0"/>
              <a:t>Statute of Frauds)</a:t>
            </a:r>
            <a:r>
              <a:rPr lang="en-AU" sz="1800" dirty="0"/>
              <a:t>?</a:t>
            </a:r>
          </a:p>
          <a:p>
            <a:pPr algn="just">
              <a:spcBef>
                <a:spcPts val="900"/>
              </a:spcBef>
              <a:defRPr/>
            </a:pPr>
            <a:r>
              <a:rPr lang="en-AU" sz="1800" i="1" dirty="0"/>
              <a:t>ANZ Banking Group Ltd v Widin</a:t>
            </a:r>
            <a:r>
              <a:rPr lang="en-AU" sz="1800" dirty="0"/>
              <a:t> (1990) 102 ALR 289 – The mortgagor (borrower) left a mortgage document and authority with the bank unsigned (but there was very little detail in the documents about the transaction). The bank had paid money into the account but the borrower went bankrupt. The court found the unsigned document was not enough to satisfy s 4 (but part performance by bank was enough to show contract, so bank could argue they had an equitable mortgage interest in land).</a:t>
            </a:r>
          </a:p>
          <a:p>
            <a:pPr algn="just">
              <a:spcBef>
                <a:spcPts val="900"/>
              </a:spcBef>
              <a:defRPr/>
            </a:pPr>
            <a:r>
              <a:rPr lang="en-AU" sz="1800" dirty="0"/>
              <a:t>Contrast with:</a:t>
            </a:r>
          </a:p>
          <a:p>
            <a:pPr algn="just">
              <a:spcBef>
                <a:spcPts val="900"/>
              </a:spcBef>
              <a:defRPr/>
            </a:pPr>
            <a:r>
              <a:rPr lang="en-AU" sz="1800" i="1" dirty="0"/>
              <a:t>Lloyd v Lloyd </a:t>
            </a:r>
            <a:r>
              <a:rPr lang="en-AU" sz="1800" dirty="0"/>
              <a:t>[1964] WAR 219, where seller’s memorandum saying to agent ‘Will you please sell the property at </a:t>
            </a:r>
            <a:r>
              <a:rPr lang="en-AU" sz="1800" dirty="0" err="1"/>
              <a:t>Toodjay</a:t>
            </a:r>
            <a:r>
              <a:rPr lang="en-AU" sz="1800" dirty="0"/>
              <a:t> …’ was written evidence of a contract to sell property</a:t>
            </a:r>
          </a:p>
          <a:p>
            <a:pPr algn="just">
              <a:spcBef>
                <a:spcPts val="900"/>
              </a:spcBef>
              <a:defRPr/>
            </a:pPr>
            <a:r>
              <a:rPr lang="en-AU" sz="1800" dirty="0"/>
              <a:t>What about the proverbial ‘back of a napkin’ or beer coaster? </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pic>
        <p:nvPicPr>
          <p:cNvPr id="5" name="Picture 4" descr="A napkin with a pencil and a cup of coffee&#10;&#10;Description automatically generated">
            <a:extLst>
              <a:ext uri="{FF2B5EF4-FFF2-40B4-BE49-F238E27FC236}">
                <a16:creationId xmlns:a16="http://schemas.microsoft.com/office/drawing/2014/main" id="{8B62D4CD-4519-E836-84D0-CBDD39D1A89B}"/>
              </a:ext>
            </a:extLst>
          </p:cNvPr>
          <p:cNvPicPr>
            <a:picLocks noChangeAspect="1"/>
          </p:cNvPicPr>
          <p:nvPr/>
        </p:nvPicPr>
        <p:blipFill>
          <a:blip r:embed="rId2"/>
          <a:stretch>
            <a:fillRect/>
          </a:stretch>
        </p:blipFill>
        <p:spPr>
          <a:xfrm>
            <a:off x="3998326" y="819150"/>
            <a:ext cx="2600325" cy="1752600"/>
          </a:xfrm>
          <a:prstGeom prst="rect">
            <a:avLst/>
          </a:prstGeom>
        </p:spPr>
      </p:pic>
      <p:pic>
        <p:nvPicPr>
          <p:cNvPr id="7" name="Picture 6" descr="A pile of beer coasters&#10;&#10;Description automatically generated">
            <a:extLst>
              <a:ext uri="{FF2B5EF4-FFF2-40B4-BE49-F238E27FC236}">
                <a16:creationId xmlns:a16="http://schemas.microsoft.com/office/drawing/2014/main" id="{53BF2DEB-E0A3-159B-B3CD-CBB9461F33DB}"/>
              </a:ext>
            </a:extLst>
          </p:cNvPr>
          <p:cNvPicPr>
            <a:picLocks noChangeAspect="1"/>
          </p:cNvPicPr>
          <p:nvPr/>
        </p:nvPicPr>
        <p:blipFill>
          <a:blip r:embed="rId3"/>
          <a:stretch>
            <a:fillRect/>
          </a:stretch>
        </p:blipFill>
        <p:spPr>
          <a:xfrm>
            <a:off x="3998326" y="2860522"/>
            <a:ext cx="2619375" cy="1743075"/>
          </a:xfrm>
          <a:prstGeom prst="rect">
            <a:avLst/>
          </a:prstGeom>
        </p:spPr>
      </p:pic>
    </p:spTree>
    <p:extLst>
      <p:ext uri="{BB962C8B-B14F-4D97-AF65-F5344CB8AC3E}">
        <p14:creationId xmlns:p14="http://schemas.microsoft.com/office/powerpoint/2010/main" val="3882113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319476" cy="4237771"/>
          </a:xfrm>
        </p:spPr>
        <p:txBody>
          <a:bodyPr>
            <a:normAutofit fontScale="85000" lnSpcReduction="20000"/>
          </a:bodyPr>
          <a:lstStyle/>
          <a:p>
            <a:pPr algn="just">
              <a:spcBef>
                <a:spcPts val="900"/>
              </a:spcBef>
              <a:buNone/>
              <a:defRPr/>
            </a:pPr>
            <a:r>
              <a:rPr lang="en-AU" sz="1800" dirty="0">
                <a:solidFill>
                  <a:srgbClr val="000000"/>
                </a:solidFill>
              </a:rPr>
              <a:t>The effect of the </a:t>
            </a:r>
            <a:r>
              <a:rPr lang="en-AU" sz="1800" i="1" dirty="0">
                <a:solidFill>
                  <a:srgbClr val="000000"/>
                </a:solidFill>
              </a:rPr>
              <a:t>Statute of Frauds:</a:t>
            </a:r>
            <a:endParaRPr lang="en-AU" sz="1800" dirty="0">
              <a:solidFill>
                <a:srgbClr val="000000"/>
              </a:solidFill>
            </a:endParaRPr>
          </a:p>
          <a:p>
            <a:pPr algn="just">
              <a:spcBef>
                <a:spcPts val="900"/>
              </a:spcBef>
              <a:buNone/>
              <a:defRPr/>
            </a:pPr>
            <a:r>
              <a:rPr lang="en-AU" sz="1800" dirty="0">
                <a:solidFill>
                  <a:srgbClr val="000000"/>
                </a:solidFill>
              </a:rPr>
              <a:t>A contract for the sale of an interest in land must be </a:t>
            </a:r>
            <a:r>
              <a:rPr lang="en-AU" sz="1800" b="1" dirty="0">
                <a:solidFill>
                  <a:srgbClr val="000000"/>
                </a:solidFill>
              </a:rPr>
              <a:t>evidenced in writing. </a:t>
            </a:r>
            <a:r>
              <a:rPr lang="en-AU" sz="1800" dirty="0">
                <a:solidFill>
                  <a:srgbClr val="000000"/>
                </a:solidFill>
              </a:rPr>
              <a:t>(Note: this is not the same as saying the contract must be in written form like s 34 PLA – only that there is something in writing to evidence the making of the contract). </a:t>
            </a:r>
            <a:endParaRPr lang="en-AU" sz="1800" b="1" dirty="0">
              <a:solidFill>
                <a:srgbClr val="000000"/>
              </a:solidFill>
            </a:endParaRPr>
          </a:p>
          <a:p>
            <a:pPr algn="just">
              <a:spcBef>
                <a:spcPts val="900"/>
              </a:spcBef>
              <a:buNone/>
              <a:defRPr/>
            </a:pPr>
            <a:r>
              <a:rPr lang="en-AU" sz="1800" dirty="0">
                <a:solidFill>
                  <a:srgbClr val="000000"/>
                </a:solidFill>
              </a:rPr>
              <a:t>A defective contract purporting to create an interest in land (</a:t>
            </a:r>
            <a:r>
              <a:rPr lang="en-AU" sz="1800" dirty="0" err="1">
                <a:solidFill>
                  <a:srgbClr val="000000"/>
                </a:solidFill>
              </a:rPr>
              <a:t>eg</a:t>
            </a:r>
            <a:r>
              <a:rPr lang="en-AU" sz="1800" dirty="0">
                <a:solidFill>
                  <a:srgbClr val="000000"/>
                </a:solidFill>
              </a:rPr>
              <a:t> wholly oral or no sufficient memorandum in writing) is not invalid but it is unenforceable.</a:t>
            </a:r>
          </a:p>
          <a:p>
            <a:pPr algn="ctr">
              <a:spcBef>
                <a:spcPts val="900"/>
              </a:spcBef>
              <a:buNone/>
              <a:defRPr/>
            </a:pPr>
            <a:r>
              <a:rPr lang="en-AU" sz="1800" dirty="0"/>
              <a:t>AND </a:t>
            </a:r>
          </a:p>
          <a:p>
            <a:pPr algn="just">
              <a:spcBef>
                <a:spcPts val="900"/>
              </a:spcBef>
              <a:buNone/>
              <a:defRPr/>
            </a:pPr>
            <a:r>
              <a:rPr lang="en-AU" sz="1800" dirty="0">
                <a:solidFill>
                  <a:srgbClr val="000000"/>
                </a:solidFill>
              </a:rPr>
              <a:t>An enforceable contract will </a:t>
            </a:r>
            <a:r>
              <a:rPr lang="en-AU" sz="1800" b="1" dirty="0">
                <a:solidFill>
                  <a:srgbClr val="000000"/>
                </a:solidFill>
              </a:rPr>
              <a:t>vest an equitable interest in the land </a:t>
            </a:r>
            <a:r>
              <a:rPr lang="en-AU" sz="1800" dirty="0">
                <a:solidFill>
                  <a:srgbClr val="000000"/>
                </a:solidFill>
              </a:rPr>
              <a:t>to the purchaser. </a:t>
            </a:r>
            <a:r>
              <a:rPr lang="en-AU" sz="1800" i="1" dirty="0">
                <a:solidFill>
                  <a:srgbClr val="000000"/>
                </a:solidFill>
              </a:rPr>
              <a:t>Lysaght v Edwards</a:t>
            </a:r>
            <a:r>
              <a:rPr lang="en-AU" sz="1800" dirty="0">
                <a:solidFill>
                  <a:srgbClr val="000000"/>
                </a:solidFill>
              </a:rPr>
              <a:t> (1876) 2 Ch D 499:</a:t>
            </a:r>
          </a:p>
          <a:p>
            <a:pPr marL="177800" algn="just">
              <a:spcBef>
                <a:spcPts val="900"/>
              </a:spcBef>
              <a:buNone/>
              <a:defRPr/>
            </a:pPr>
            <a:r>
              <a:rPr lang="en-AU" sz="1700" dirty="0">
                <a:solidFill>
                  <a:srgbClr val="000000"/>
                </a:solidFill>
              </a:rPr>
              <a:t>It appears to me that the effect of a contract of sale has been settled for more than two centuries … [T]he moment you have a valid contract of sale, the vendor becomes in equity a trustee for the purchaser of the estate sold, and the beneficial ownership passes to the purchaser.</a:t>
            </a:r>
          </a:p>
          <a:p>
            <a:pPr algn="just">
              <a:spcBef>
                <a:spcPts val="900"/>
              </a:spcBef>
              <a:defRPr/>
            </a:pPr>
            <a:r>
              <a:rPr lang="en-AU" sz="1800" dirty="0">
                <a:solidFill>
                  <a:srgbClr val="000000"/>
                </a:solidFill>
              </a:rPr>
              <a:t>A </a:t>
            </a:r>
            <a:r>
              <a:rPr lang="en-AU" sz="1800" i="1" dirty="0">
                <a:solidFill>
                  <a:srgbClr val="000000"/>
                </a:solidFill>
              </a:rPr>
              <a:t>legal</a:t>
            </a:r>
            <a:r>
              <a:rPr lang="en-AU" sz="1800" dirty="0">
                <a:solidFill>
                  <a:srgbClr val="000000"/>
                </a:solidFill>
              </a:rPr>
              <a:t> interest will follow once all the formalities pertaining to land title –registration at Landgate for Torrens system land, or registering a deed for old system land, are met (see previous slides).</a:t>
            </a:r>
          </a:p>
          <a:p>
            <a:pPr marL="535781" indent="0" algn="just">
              <a:spcBef>
                <a:spcPts val="900"/>
              </a:spcBef>
              <a:buNone/>
              <a:defRPr/>
            </a:pPr>
            <a:endParaRPr lang="en-AU" sz="1800" i="1" dirty="0">
              <a:solidFill>
                <a:srgbClr val="000000"/>
              </a:solidFill>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spTree>
    <p:extLst>
      <p:ext uri="{BB962C8B-B14F-4D97-AF65-F5344CB8AC3E}">
        <p14:creationId xmlns:p14="http://schemas.microsoft.com/office/powerpoint/2010/main" val="1542632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4029430" cy="4342086"/>
          </a:xfrm>
        </p:spPr>
        <p:txBody>
          <a:bodyPr>
            <a:normAutofit fontScale="62500" lnSpcReduction="20000"/>
          </a:bodyPr>
          <a:lstStyle/>
          <a:p>
            <a:pPr algn="just">
              <a:spcBef>
                <a:spcPts val="900"/>
              </a:spcBef>
              <a:buNone/>
              <a:tabLst>
                <a:tab pos="871538" algn="l"/>
              </a:tabLst>
            </a:pPr>
            <a:r>
              <a:rPr lang="en-AU" altLang="en-US" sz="1900" i="1" dirty="0">
                <a:solidFill>
                  <a:srgbClr val="000000"/>
                </a:solidFill>
                <a:ea typeface="ＭＳ Ｐゴシック" panose="020B0600070205080204" pitchFamily="34" charset="-128"/>
              </a:rPr>
              <a:t>Bunny Industries Ltd v FSW Enterprises</a:t>
            </a:r>
            <a:r>
              <a:rPr lang="en-AU" altLang="en-US" sz="1900" dirty="0">
                <a:solidFill>
                  <a:srgbClr val="000000"/>
                </a:solidFill>
                <a:ea typeface="ＭＳ Ｐゴシック" panose="020B0600070205080204" pitchFamily="34" charset="-128"/>
              </a:rPr>
              <a:t> [1982] </a:t>
            </a:r>
            <a:r>
              <a:rPr lang="en-AU" altLang="en-US" sz="1900" dirty="0" err="1">
                <a:solidFill>
                  <a:srgbClr val="000000"/>
                </a:solidFill>
                <a:ea typeface="ＭＳ Ｐゴシック" panose="020B0600070205080204" pitchFamily="34" charset="-128"/>
              </a:rPr>
              <a:t>Qd</a:t>
            </a:r>
            <a:r>
              <a:rPr lang="en-AU" altLang="en-US" sz="1900" dirty="0">
                <a:solidFill>
                  <a:srgbClr val="000000"/>
                </a:solidFill>
                <a:ea typeface="ＭＳ Ｐゴシック" panose="020B0600070205080204" pitchFamily="34" charset="-128"/>
              </a:rPr>
              <a:t> R 712</a:t>
            </a:r>
          </a:p>
          <a:p>
            <a:pPr algn="just">
              <a:spcBef>
                <a:spcPts val="900"/>
              </a:spcBef>
              <a:buNone/>
              <a:tabLst>
                <a:tab pos="535781" algn="l"/>
                <a:tab pos="872729" algn="l"/>
              </a:tabLst>
            </a:pPr>
            <a:r>
              <a:rPr lang="en-AU" altLang="en-US" sz="1900" dirty="0">
                <a:solidFill>
                  <a:srgbClr val="000000"/>
                </a:solidFill>
                <a:ea typeface="ＭＳ Ｐゴシック" panose="020B0600070205080204" pitchFamily="34" charset="-128"/>
              </a:rPr>
              <a:t>Facts: (The classic land sale screw-over). P contracted to purchase land from D1. Later D1 contracted to sell land to D2 and executed transfer of land to D2. P sought declaration (equitable remedy) that D1 held land on trust for P following contract to buy land between P and D1.</a:t>
            </a:r>
          </a:p>
          <a:p>
            <a:pPr algn="just">
              <a:spcBef>
                <a:spcPts val="900"/>
              </a:spcBef>
              <a:buNone/>
              <a:tabLst>
                <a:tab pos="535781" algn="l"/>
                <a:tab pos="872729" algn="l"/>
              </a:tabLst>
            </a:pPr>
            <a:r>
              <a:rPr lang="en-AU" altLang="en-US" sz="1900" dirty="0">
                <a:solidFill>
                  <a:srgbClr val="000000"/>
                </a:solidFill>
                <a:ea typeface="ＭＳ Ｐゴシック" panose="020B0600070205080204" pitchFamily="34" charset="-128"/>
              </a:rPr>
              <a:t>Held: D1 held land in trust for P and breach of trust occurred. Some principles outlined in case:</a:t>
            </a:r>
          </a:p>
          <a:p>
            <a:pPr marL="177800" lvl="1" indent="-177800" algn="just">
              <a:spcBef>
                <a:spcPts val="900"/>
              </a:spcBef>
              <a:buNone/>
              <a:tabLst>
                <a:tab pos="535781" algn="l"/>
                <a:tab pos="872729" algn="l"/>
              </a:tabLst>
            </a:pPr>
            <a:r>
              <a:rPr lang="en-AU" altLang="en-US" sz="1900" dirty="0">
                <a:solidFill>
                  <a:srgbClr val="000000"/>
                </a:solidFill>
                <a:ea typeface="ＭＳ Ｐゴシック" panose="020B0600070205080204" pitchFamily="34" charset="-128"/>
              </a:rPr>
              <a:t>1. 	On execution of the contract, vendor becomes trustee for purchaser (but not a bare trustee – yet)</a:t>
            </a:r>
            <a:endParaRPr lang="en-AU" altLang="en-US" sz="1900" i="1" dirty="0">
              <a:solidFill>
                <a:srgbClr val="000000"/>
              </a:solidFill>
              <a:ea typeface="ＭＳ Ｐゴシック" panose="020B0600070205080204" pitchFamily="34" charset="-128"/>
            </a:endParaRPr>
          </a:p>
          <a:p>
            <a:pPr marL="177800" lvl="1" indent="-177800" algn="just">
              <a:spcBef>
                <a:spcPts val="900"/>
              </a:spcBef>
              <a:buNone/>
              <a:tabLst>
                <a:tab pos="535781" algn="l"/>
                <a:tab pos="872729" algn="l"/>
              </a:tabLst>
            </a:pPr>
            <a:r>
              <a:rPr lang="en-AU" altLang="en-US" sz="1900" dirty="0">
                <a:ea typeface="ＭＳ Ｐゴシック" panose="020B0600070205080204" pitchFamily="34" charset="-128"/>
              </a:rPr>
              <a:t>2. 	Purchaser may devise, alienate and charge their equitable interest, so it is not merely a right in contract.</a:t>
            </a:r>
          </a:p>
          <a:p>
            <a:pPr marL="177800" lvl="1" indent="-177800" algn="just">
              <a:spcBef>
                <a:spcPts val="900"/>
              </a:spcBef>
              <a:buNone/>
              <a:tabLst>
                <a:tab pos="535781" algn="l"/>
                <a:tab pos="872729" algn="l"/>
              </a:tabLst>
            </a:pPr>
            <a:r>
              <a:rPr lang="en-AU" altLang="en-US" sz="1900" dirty="0">
                <a:ea typeface="ＭＳ Ｐゴシック" panose="020B0600070205080204" pitchFamily="34" charset="-128"/>
              </a:rPr>
              <a:t>3. 	The extent of the equitable interest is based on the amount of purchase monies paid. (Here, the vendor progresses towards becoming a bare trustee, which occurs upon payment of 100% purchase sum).</a:t>
            </a:r>
          </a:p>
          <a:p>
            <a:pPr marL="177800" lvl="1" indent="-177800" algn="just">
              <a:spcBef>
                <a:spcPts val="900"/>
              </a:spcBef>
              <a:buAutoNum type="arabicPeriod" startAt="4"/>
              <a:tabLst>
                <a:tab pos="535781" algn="l"/>
                <a:tab pos="872729" algn="l"/>
              </a:tabLst>
            </a:pPr>
            <a:r>
              <a:rPr lang="en-AU" altLang="en-US" sz="1900" dirty="0">
                <a:ea typeface="ＭＳ Ｐゴシック" panose="020B0600070205080204" pitchFamily="34" charset="-128"/>
              </a:rPr>
              <a:t>Where there a clear and undisputed contract, the court will not allow vendor to transfer legal estate to a third person. (Hence, a purchaser can lodge a caveat to protect interest.)</a:t>
            </a:r>
          </a:p>
          <a:p>
            <a:pPr marL="0" lvl="1" indent="0" algn="just">
              <a:spcBef>
                <a:spcPts val="900"/>
              </a:spcBef>
              <a:buNone/>
              <a:tabLst>
                <a:tab pos="535781" algn="l"/>
                <a:tab pos="872729" algn="l"/>
              </a:tabLst>
            </a:pPr>
            <a:endParaRPr lang="en-AU" altLang="en-US" sz="1800" dirty="0">
              <a:ea typeface="ＭＳ Ｐゴシック" panose="020B0600070205080204" pitchFamily="34" charset="-128"/>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pic>
        <p:nvPicPr>
          <p:cNvPr id="5" name="Picture 4" descr="A close up of a rabbit&#10;&#10;Description automatically generated">
            <a:extLst>
              <a:ext uri="{FF2B5EF4-FFF2-40B4-BE49-F238E27FC236}">
                <a16:creationId xmlns:a16="http://schemas.microsoft.com/office/drawing/2014/main" id="{90B0EB14-ED11-6C57-F78B-F1B2D9443F1E}"/>
              </a:ext>
            </a:extLst>
          </p:cNvPr>
          <p:cNvPicPr>
            <a:picLocks noChangeAspect="1"/>
          </p:cNvPicPr>
          <p:nvPr/>
        </p:nvPicPr>
        <p:blipFill>
          <a:blip r:embed="rId2"/>
          <a:stretch>
            <a:fillRect/>
          </a:stretch>
        </p:blipFill>
        <p:spPr>
          <a:xfrm>
            <a:off x="4410159" y="807720"/>
            <a:ext cx="1901105" cy="3023517"/>
          </a:xfrm>
          <a:prstGeom prst="rect">
            <a:avLst/>
          </a:prstGeom>
        </p:spPr>
      </p:pic>
      <p:sp>
        <p:nvSpPr>
          <p:cNvPr id="4" name="TextBox 3">
            <a:extLst>
              <a:ext uri="{FF2B5EF4-FFF2-40B4-BE49-F238E27FC236}">
                <a16:creationId xmlns:a16="http://schemas.microsoft.com/office/drawing/2014/main" id="{22B7BE91-5182-00EB-8EC0-A0B8012917EF}"/>
              </a:ext>
            </a:extLst>
          </p:cNvPr>
          <p:cNvSpPr txBox="1"/>
          <p:nvPr/>
        </p:nvSpPr>
        <p:spPr>
          <a:xfrm>
            <a:off x="4410159" y="3903457"/>
            <a:ext cx="1901105" cy="669414"/>
          </a:xfrm>
          <a:prstGeom prst="rect">
            <a:avLst/>
          </a:prstGeom>
          <a:noFill/>
        </p:spPr>
        <p:txBody>
          <a:bodyPr wrap="square" rtlCol="0">
            <a:spAutoFit/>
          </a:bodyPr>
          <a:lstStyle/>
          <a:p>
            <a:r>
              <a:rPr lang="en-AU" altLang="en-US" sz="1200" dirty="0">
                <a:ea typeface="ＭＳ Ｐゴシック" panose="020B0600070205080204" pitchFamily="34" charset="-128"/>
              </a:rPr>
              <a:t>Not strictly relevant, but like Godzilla, very cute!</a:t>
            </a:r>
          </a:p>
          <a:p>
            <a:endParaRPr lang="en-AU" dirty="0"/>
          </a:p>
        </p:txBody>
      </p:sp>
    </p:spTree>
    <p:extLst>
      <p:ext uri="{BB962C8B-B14F-4D97-AF65-F5344CB8AC3E}">
        <p14:creationId xmlns:p14="http://schemas.microsoft.com/office/powerpoint/2010/main" val="39338346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a:bodyPr>
          <a:lstStyle/>
          <a:p>
            <a:pPr marL="535781" indent="-535781" algn="just">
              <a:spcBef>
                <a:spcPts val="900"/>
              </a:spcBef>
              <a:buNone/>
              <a:tabLst>
                <a:tab pos="535781" algn="l"/>
                <a:tab pos="872729" algn="l"/>
              </a:tabLst>
              <a:defRPr/>
            </a:pPr>
            <a:r>
              <a:rPr lang="en-AU" sz="1800" i="1" dirty="0">
                <a:solidFill>
                  <a:srgbClr val="000000"/>
                </a:solidFill>
              </a:rPr>
              <a:t>Bunny Industries Ltd v FSW Enterprises</a:t>
            </a:r>
            <a:r>
              <a:rPr lang="en-AU" sz="1800" dirty="0">
                <a:solidFill>
                  <a:srgbClr val="000000"/>
                </a:solidFill>
              </a:rPr>
              <a:t> [1982] </a:t>
            </a:r>
            <a:r>
              <a:rPr lang="en-AU" sz="1800" dirty="0" err="1">
                <a:solidFill>
                  <a:srgbClr val="000000"/>
                </a:solidFill>
              </a:rPr>
              <a:t>Qd</a:t>
            </a:r>
            <a:r>
              <a:rPr lang="en-AU" sz="1800" dirty="0">
                <a:solidFill>
                  <a:srgbClr val="000000"/>
                </a:solidFill>
              </a:rPr>
              <a:t> R 712</a:t>
            </a:r>
          </a:p>
          <a:p>
            <a:pPr marL="177800" indent="-177800" algn="just">
              <a:spcBef>
                <a:spcPts val="900"/>
              </a:spcBef>
              <a:buFont typeface="Wingdings" panose="05000000000000000000" pitchFamily="2" charset="2"/>
              <a:buChar char="§"/>
              <a:tabLst>
                <a:tab pos="535781" algn="l"/>
                <a:tab pos="872729" algn="l"/>
              </a:tabLst>
              <a:defRPr/>
            </a:pPr>
            <a:r>
              <a:rPr lang="en-AU" sz="1800" dirty="0">
                <a:solidFill>
                  <a:srgbClr val="000000"/>
                </a:solidFill>
              </a:rPr>
              <a:t>The Court applied the well known principle in </a:t>
            </a:r>
            <a:r>
              <a:rPr lang="en-AU" sz="1800" i="1" dirty="0">
                <a:solidFill>
                  <a:srgbClr val="000000"/>
                </a:solidFill>
              </a:rPr>
              <a:t>Lysaght v Edwards </a:t>
            </a:r>
            <a:r>
              <a:rPr lang="en-AU" sz="1800" dirty="0">
                <a:solidFill>
                  <a:srgbClr val="000000"/>
                </a:solidFill>
              </a:rPr>
              <a:t>(1876) 2 Ch D 499</a:t>
            </a:r>
            <a:r>
              <a:rPr lang="en-AU" sz="1800" i="1" dirty="0">
                <a:solidFill>
                  <a:srgbClr val="000000"/>
                </a:solidFill>
              </a:rPr>
              <a:t>: </a:t>
            </a:r>
            <a:r>
              <a:rPr lang="en-AU" sz="1800" dirty="0">
                <a:solidFill>
                  <a:srgbClr val="000000"/>
                </a:solidFill>
              </a:rPr>
              <a:t>A </a:t>
            </a:r>
            <a:r>
              <a:rPr lang="en-AU" sz="1800" b="1" dirty="0">
                <a:solidFill>
                  <a:srgbClr val="000000"/>
                </a:solidFill>
              </a:rPr>
              <a:t>specifically enforceable contract </a:t>
            </a:r>
            <a:r>
              <a:rPr lang="en-AU" sz="1800" dirty="0">
                <a:solidFill>
                  <a:srgbClr val="000000"/>
                </a:solidFill>
              </a:rPr>
              <a:t>of sale confers an equitable interest on the purchaser of the land. Equity deems as done that which ought to be done (maxim).</a:t>
            </a:r>
          </a:p>
          <a:p>
            <a:pPr marL="177800" indent="-177800" algn="just">
              <a:spcBef>
                <a:spcPts val="900"/>
              </a:spcBef>
              <a:buFont typeface="Wingdings" panose="05000000000000000000" pitchFamily="2" charset="2"/>
              <a:buChar char="§"/>
              <a:tabLst>
                <a:tab pos="535781" algn="l"/>
                <a:tab pos="872729" algn="l"/>
              </a:tabLst>
              <a:defRPr/>
            </a:pPr>
            <a:r>
              <a:rPr lang="en-AU" sz="1800" dirty="0">
                <a:solidFill>
                  <a:srgbClr val="000000"/>
                </a:solidFill>
              </a:rPr>
              <a:t>The principle in this case applies to both general law land (very rare as we will see in a later lecture) and Torrens system land.</a:t>
            </a:r>
          </a:p>
          <a:p>
            <a:pPr marL="177800" indent="-177800" algn="just">
              <a:spcBef>
                <a:spcPts val="900"/>
              </a:spcBef>
              <a:buFont typeface="Wingdings" panose="05000000000000000000" pitchFamily="2" charset="2"/>
              <a:buChar char="§"/>
              <a:tabLst>
                <a:tab pos="535781" algn="l"/>
                <a:tab pos="872729" algn="l"/>
              </a:tabLst>
              <a:defRPr/>
            </a:pPr>
            <a:r>
              <a:rPr lang="en-AU" sz="1800" dirty="0">
                <a:solidFill>
                  <a:srgbClr val="000000"/>
                </a:solidFill>
              </a:rPr>
              <a:t>Note that all formalities of contract for the sale of land must have been adhered to (</a:t>
            </a:r>
            <a:r>
              <a:rPr lang="en-AU" sz="1800" dirty="0" err="1">
                <a:solidFill>
                  <a:srgbClr val="000000"/>
                </a:solidFill>
              </a:rPr>
              <a:t>ie</a:t>
            </a:r>
            <a:r>
              <a:rPr lang="en-AU" sz="1800" dirty="0">
                <a:solidFill>
                  <a:srgbClr val="000000"/>
                </a:solidFill>
              </a:rPr>
              <a:t> s 4 </a:t>
            </a:r>
            <a:r>
              <a:rPr lang="en-AU" sz="1800" i="1" dirty="0">
                <a:solidFill>
                  <a:srgbClr val="000000"/>
                </a:solidFill>
              </a:rPr>
              <a:t>Statute of Frauds </a:t>
            </a:r>
            <a:r>
              <a:rPr lang="en-AU" sz="1800" dirty="0">
                <a:solidFill>
                  <a:srgbClr val="000000"/>
                </a:solidFill>
              </a:rPr>
              <a:t>or part performance).</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a:t>
            </a:r>
          </a:p>
        </p:txBody>
      </p:sp>
    </p:spTree>
    <p:extLst>
      <p:ext uri="{BB962C8B-B14F-4D97-AF65-F5344CB8AC3E}">
        <p14:creationId xmlns:p14="http://schemas.microsoft.com/office/powerpoint/2010/main" val="3288153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179288" cy="4237771"/>
          </a:xfrm>
        </p:spPr>
        <p:txBody>
          <a:bodyPr>
            <a:normAutofit fontScale="85000" lnSpcReduction="20000"/>
          </a:bodyPr>
          <a:lstStyle/>
          <a:p>
            <a:pPr algn="just">
              <a:spcBef>
                <a:spcPts val="900"/>
              </a:spcBef>
              <a:buNone/>
              <a:tabLst>
                <a:tab pos="535781" algn="l"/>
                <a:tab pos="872729" algn="l"/>
              </a:tabLst>
            </a:pPr>
            <a:r>
              <a:rPr lang="en-AU" altLang="en-US" sz="1800" dirty="0">
                <a:ea typeface="ＭＳ Ｐゴシック" panose="020B0600070205080204" pitchFamily="34" charset="-128"/>
              </a:rPr>
              <a:t>The principle that a specifically enforceable contract of sale confers an equitable interest on the purchaser of the fee simple estate in land applies also to enforceable contracts for the grant of a lease (even if the legal requirements are not satisfied).</a:t>
            </a:r>
          </a:p>
          <a:p>
            <a:pPr algn="just">
              <a:spcBef>
                <a:spcPts val="900"/>
              </a:spcBef>
              <a:buNone/>
              <a:tabLst>
                <a:tab pos="535781" algn="l"/>
                <a:tab pos="872729" algn="l"/>
              </a:tabLst>
            </a:pPr>
            <a:r>
              <a:rPr lang="en-AU" altLang="en-US" sz="1800" dirty="0">
                <a:ea typeface="ＭＳ Ｐゴシック" panose="020B0600070205080204" pitchFamily="34" charset="-128"/>
              </a:rPr>
              <a:t>Leading case: </a:t>
            </a:r>
            <a:r>
              <a:rPr lang="en-AU" altLang="en-US" sz="1800" i="1" dirty="0">
                <a:ea typeface="ＭＳ Ｐゴシック" panose="020B0600070205080204" pitchFamily="34" charset="-128"/>
              </a:rPr>
              <a:t>Walsh v Lonsdale</a:t>
            </a:r>
            <a:r>
              <a:rPr lang="en-AU" altLang="en-US" sz="1800" dirty="0">
                <a:ea typeface="ＭＳ Ｐゴシック" panose="020B0600070205080204" pitchFamily="34" charset="-128"/>
              </a:rPr>
              <a:t> (1882) 21 Ch D 9.</a:t>
            </a:r>
          </a:p>
          <a:p>
            <a:pPr algn="just">
              <a:spcBef>
                <a:spcPts val="900"/>
              </a:spcBef>
              <a:buNone/>
              <a:tabLst>
                <a:tab pos="535781" algn="l"/>
                <a:tab pos="872729" algn="l"/>
              </a:tabLst>
            </a:pPr>
            <a:r>
              <a:rPr lang="en-AU" altLang="en-US" sz="1800" dirty="0">
                <a:ea typeface="ＭＳ Ｐゴシック" panose="020B0600070205080204" pitchFamily="34" charset="-128"/>
              </a:rPr>
              <a:t>Facts: Lonsdale entered into a written agreement for grant of a lease of a weaving shed and other machinery to Walsh for 7 years. Walsh was to put the shed into working order, and pay rent yearly in advance However, no deed was executed for this as required. Walsh went into possession of shed, used his own steam power for running machinery and paid rent quarterly. Lonsdale sought immediate payment of yearly rent in advance and put in a distress claim (landlord’s right to sell tenant’s goods to cover arrears of rent, which is now no longer legal).</a:t>
            </a:r>
          </a:p>
          <a:p>
            <a:pPr algn="just">
              <a:spcBef>
                <a:spcPts val="900"/>
              </a:spcBef>
              <a:buNone/>
              <a:tabLst>
                <a:tab pos="535781" algn="l"/>
                <a:tab pos="872729" algn="l"/>
              </a:tabLst>
            </a:pPr>
            <a:r>
              <a:rPr lang="en-AU" altLang="en-US" sz="1800" dirty="0">
                <a:ea typeface="ＭＳ Ｐゴシック" panose="020B0600070205080204" pitchFamily="34" charset="-128"/>
              </a:rPr>
              <a:t>Held: Equity prevailed in this case. Lonsdale had the right to distress. Walsh had to pay a year in advance as if the lease had been in a signed document (</a:t>
            </a:r>
            <a:r>
              <a:rPr lang="en-AU" altLang="en-US" sz="1800" dirty="0" err="1">
                <a:ea typeface="ＭＳ Ｐゴシック" panose="020B0600070205080204" pitchFamily="34" charset="-128"/>
              </a:rPr>
              <a:t>ie</a:t>
            </a:r>
            <a:r>
              <a:rPr lang="en-AU" altLang="en-US" sz="1800" dirty="0">
                <a:ea typeface="ＭＳ Ｐゴシック" panose="020B0600070205080204" pitchFamily="34" charset="-128"/>
              </a:rPr>
              <a:t> a legal lease). Equity deems as done that which ought to be done.</a:t>
            </a:r>
          </a:p>
          <a:p>
            <a:pPr algn="just">
              <a:spcBef>
                <a:spcPts val="900"/>
              </a:spcBef>
              <a:buNone/>
              <a:tabLst>
                <a:tab pos="535781" algn="l"/>
                <a:tab pos="872729" algn="l"/>
              </a:tabLst>
            </a:pPr>
            <a:r>
              <a:rPr lang="en-AU" altLang="en-US" sz="1800" dirty="0">
                <a:ea typeface="ＭＳ Ｐゴシック" panose="020B0600070205080204" pitchFamily="34" charset="-128"/>
              </a:rPr>
              <a:t>More about leases next semester – leases are not examinable in Property Law 1.</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interests in land: leasehold</a:t>
            </a:r>
          </a:p>
        </p:txBody>
      </p:sp>
    </p:spTree>
    <p:extLst>
      <p:ext uri="{BB962C8B-B14F-4D97-AF65-F5344CB8AC3E}">
        <p14:creationId xmlns:p14="http://schemas.microsoft.com/office/powerpoint/2010/main" val="17038069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a:bodyPr>
          <a:lstStyle/>
          <a:p>
            <a:pPr algn="just">
              <a:spcBef>
                <a:spcPts val="900"/>
              </a:spcBef>
              <a:buNone/>
              <a:defRPr/>
            </a:pPr>
            <a:r>
              <a:rPr lang="en-AU" sz="1800" dirty="0">
                <a:solidFill>
                  <a:srgbClr val="000000"/>
                </a:solidFill>
              </a:rPr>
              <a:t>Where formal requirements under the </a:t>
            </a:r>
            <a:r>
              <a:rPr lang="en-AU" sz="1800" i="1" dirty="0">
                <a:solidFill>
                  <a:srgbClr val="000000"/>
                </a:solidFill>
              </a:rPr>
              <a:t>Statute of Frauds</a:t>
            </a:r>
            <a:r>
              <a:rPr lang="en-AU" sz="1800" dirty="0">
                <a:solidFill>
                  <a:srgbClr val="000000"/>
                </a:solidFill>
              </a:rPr>
              <a:t> and PLA are not met (</a:t>
            </a:r>
            <a:r>
              <a:rPr lang="en-AU" sz="1800" dirty="0" err="1">
                <a:solidFill>
                  <a:srgbClr val="000000"/>
                </a:solidFill>
              </a:rPr>
              <a:t>ie</a:t>
            </a:r>
            <a:r>
              <a:rPr lang="en-AU" sz="1800" dirty="0">
                <a:solidFill>
                  <a:srgbClr val="000000"/>
                </a:solidFill>
              </a:rPr>
              <a:t> contract for sale of land not in writing and signed), parties can still be bound in equity under doctrine of part performance.</a:t>
            </a:r>
          </a:p>
          <a:p>
            <a:pPr algn="just">
              <a:spcBef>
                <a:spcPts val="900"/>
              </a:spcBef>
              <a:buNone/>
              <a:defRPr/>
            </a:pPr>
            <a:r>
              <a:rPr lang="en-AU" sz="1800" dirty="0">
                <a:solidFill>
                  <a:srgbClr val="000000"/>
                </a:solidFill>
              </a:rPr>
              <a:t>The doctrine of part performance is very old (300 years).</a:t>
            </a:r>
          </a:p>
          <a:p>
            <a:pPr algn="just">
              <a:spcBef>
                <a:spcPts val="900"/>
              </a:spcBef>
              <a:buNone/>
              <a:defRPr/>
            </a:pPr>
            <a:r>
              <a:rPr lang="en-AU" sz="1800" dirty="0">
                <a:solidFill>
                  <a:srgbClr val="000000"/>
                </a:solidFill>
              </a:rPr>
              <a:t>Note: s 36(d) </a:t>
            </a:r>
            <a:r>
              <a:rPr lang="en-AU" sz="1800" i="1" dirty="0">
                <a:solidFill>
                  <a:srgbClr val="000000"/>
                </a:solidFill>
              </a:rPr>
              <a:t>Property Law Act 1969 </a:t>
            </a:r>
            <a:r>
              <a:rPr lang="en-AU" sz="1800" dirty="0">
                <a:solidFill>
                  <a:srgbClr val="000000"/>
                </a:solidFill>
              </a:rPr>
              <a:t>(WA):</a:t>
            </a:r>
          </a:p>
          <a:p>
            <a:pPr marL="342900" lvl="2" indent="0" algn="just">
              <a:spcBef>
                <a:spcPts val="900"/>
              </a:spcBef>
              <a:buNone/>
              <a:defRPr/>
            </a:pPr>
            <a:r>
              <a:rPr lang="en-US" sz="1800" dirty="0">
                <a:solidFill>
                  <a:srgbClr val="000000"/>
                </a:solidFill>
              </a:rPr>
              <a:t>36. Savings in regard to sections 34 and 35</a:t>
            </a:r>
          </a:p>
          <a:p>
            <a:pPr marL="342900" lvl="2" indent="0" algn="just">
              <a:spcBef>
                <a:spcPts val="900"/>
              </a:spcBef>
              <a:buNone/>
              <a:defRPr/>
            </a:pPr>
            <a:r>
              <a:rPr lang="en-US" sz="1800" dirty="0">
                <a:solidFill>
                  <a:srgbClr val="000000"/>
                </a:solidFill>
              </a:rPr>
              <a:t>Nothing in sections 34 and 35 [need for instrument to be in writing]—</a:t>
            </a:r>
          </a:p>
          <a:p>
            <a:pPr marL="342900" lvl="2" indent="0" algn="just">
              <a:spcBef>
                <a:spcPts val="900"/>
              </a:spcBef>
              <a:buNone/>
              <a:defRPr/>
            </a:pPr>
            <a:r>
              <a:rPr lang="en-US" sz="1800" dirty="0">
                <a:solidFill>
                  <a:srgbClr val="000000"/>
                </a:solidFill>
              </a:rPr>
              <a:t>… </a:t>
            </a:r>
          </a:p>
          <a:p>
            <a:pPr marL="342900" lvl="2" indent="0" algn="just">
              <a:spcBef>
                <a:spcPts val="900"/>
              </a:spcBef>
              <a:buNone/>
              <a:defRPr/>
            </a:pPr>
            <a:r>
              <a:rPr lang="en-US" sz="1800" dirty="0">
                <a:solidFill>
                  <a:srgbClr val="000000"/>
                </a:solidFill>
              </a:rPr>
              <a:t>(d) affects the operation of the law relating to part performance.</a:t>
            </a:r>
            <a:endParaRPr lang="en-AU" sz="1800" dirty="0">
              <a:solidFill>
                <a:srgbClr val="000000"/>
              </a:solidFill>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Doctrine of Part Performance</a:t>
            </a:r>
          </a:p>
        </p:txBody>
      </p:sp>
    </p:spTree>
    <p:extLst>
      <p:ext uri="{BB962C8B-B14F-4D97-AF65-F5344CB8AC3E}">
        <p14:creationId xmlns:p14="http://schemas.microsoft.com/office/powerpoint/2010/main" val="11582806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fontScale="92500" lnSpcReduction="10000"/>
          </a:bodyPr>
          <a:lstStyle/>
          <a:p>
            <a:pPr algn="just">
              <a:spcBef>
                <a:spcPts val="900"/>
              </a:spcBef>
              <a:buNone/>
              <a:tabLst>
                <a:tab pos="267891" algn="l"/>
              </a:tabLst>
              <a:defRPr/>
            </a:pPr>
            <a:r>
              <a:rPr lang="en-AU" sz="1800" dirty="0"/>
              <a:t>The elements of the doctrine of part performance:</a:t>
            </a:r>
          </a:p>
          <a:p>
            <a:pPr marL="355600" indent="-177800" algn="just">
              <a:spcBef>
                <a:spcPts val="900"/>
              </a:spcBef>
              <a:buFont typeface="Arial" panose="020B0604020202020204" pitchFamily="34" charset="0"/>
              <a:buChar char="•"/>
              <a:tabLst>
                <a:tab pos="267891" algn="l"/>
              </a:tabLst>
              <a:defRPr/>
            </a:pPr>
            <a:r>
              <a:rPr lang="en-AU" altLang="en-US" sz="1800" dirty="0">
                <a:ea typeface="ＭＳ Ｐゴシック" pitchFamily="34" charset="-128"/>
              </a:rPr>
              <a:t>The parties must have arrived at a concluded agreement.</a:t>
            </a:r>
          </a:p>
          <a:p>
            <a:pPr marL="355600" indent="-177800" algn="just">
              <a:spcBef>
                <a:spcPts val="900"/>
              </a:spcBef>
              <a:buFont typeface="Arial" panose="020B0604020202020204" pitchFamily="34" charset="0"/>
              <a:buChar char="•"/>
              <a:tabLst>
                <a:tab pos="267891" algn="l"/>
              </a:tabLst>
              <a:defRPr/>
            </a:pPr>
            <a:r>
              <a:rPr lang="en-AU" altLang="en-US" sz="1800" dirty="0">
                <a:ea typeface="ＭＳ Ｐゴシック" pitchFamily="34" charset="-128"/>
              </a:rPr>
              <a:t>The plaintiff on faith of the agreement, must have performed acts that were either required by the agreement or else both permitted by it or encouraged by the defendant; and in consequence, the plaintiff must have altered his position to such an extent that it would be inequitable to allow the defendant to plead that the contract was not evidenced in writing.</a:t>
            </a:r>
          </a:p>
          <a:p>
            <a:pPr marL="355600" indent="-177800" algn="just">
              <a:spcBef>
                <a:spcPts val="900"/>
              </a:spcBef>
              <a:buFont typeface="Arial" panose="020B0604020202020204" pitchFamily="34" charset="0"/>
              <a:buChar char="•"/>
              <a:tabLst>
                <a:tab pos="267891" algn="l"/>
              </a:tabLst>
              <a:defRPr/>
            </a:pPr>
            <a:r>
              <a:rPr lang="en-AU" altLang="en-US" sz="1800" dirty="0">
                <a:ea typeface="ＭＳ Ｐゴシック" pitchFamily="34" charset="-128"/>
              </a:rPr>
              <a:t>The acts performed must point plainly and not merely in an equivocal fashion to the existence of an agreement between the parties.</a:t>
            </a:r>
          </a:p>
          <a:p>
            <a:pPr marL="355600" indent="-177800" algn="just">
              <a:spcBef>
                <a:spcPts val="900"/>
              </a:spcBef>
              <a:buFont typeface="Arial" panose="020B0604020202020204" pitchFamily="34" charset="0"/>
              <a:buChar char="•"/>
              <a:tabLst>
                <a:tab pos="267891" algn="l"/>
              </a:tabLst>
              <a:defRPr/>
            </a:pPr>
            <a:r>
              <a:rPr lang="en-AU" altLang="en-US" sz="1800" dirty="0">
                <a:ea typeface="ＭＳ Ｐゴシック" pitchFamily="34" charset="-128"/>
              </a:rPr>
              <a:t>Circumstances must be such that were contract in writing to exist, equity would decree specific performance.</a:t>
            </a:r>
          </a:p>
          <a:p>
            <a:pPr algn="just">
              <a:spcBef>
                <a:spcPts val="900"/>
              </a:spcBef>
              <a:buNone/>
              <a:tabLst>
                <a:tab pos="267891" algn="l"/>
              </a:tabLst>
              <a:defRPr/>
            </a:pPr>
            <a:r>
              <a:rPr lang="en-AU" altLang="en-US" sz="1800" dirty="0">
                <a:ea typeface="ＭＳ Ｐゴシック" pitchFamily="34" charset="-128"/>
              </a:rPr>
              <a:t>See </a:t>
            </a:r>
            <a:r>
              <a:rPr lang="en-AU" altLang="en-US" sz="1800" i="1" dirty="0">
                <a:ea typeface="ＭＳ Ｐゴシック" pitchFamily="34" charset="-128"/>
              </a:rPr>
              <a:t>McBride v </a:t>
            </a:r>
            <a:r>
              <a:rPr lang="en-AU" altLang="en-US" sz="1800" i="1" dirty="0" err="1">
                <a:ea typeface="ＭＳ Ｐゴシック" pitchFamily="34" charset="-128"/>
              </a:rPr>
              <a:t>Sandland</a:t>
            </a:r>
            <a:r>
              <a:rPr lang="en-AU" altLang="en-US" sz="1800" dirty="0">
                <a:ea typeface="ＭＳ Ｐゴシック" pitchFamily="34" charset="-128"/>
              </a:rPr>
              <a:t> (1918) 25 CLR 69</a:t>
            </a:r>
            <a:endParaRPr lang="en-AU" altLang="en-US" sz="1800" i="1" dirty="0">
              <a:ea typeface="ＭＳ Ｐゴシック" panose="020B0600070205080204" pitchFamily="34" charset="-128"/>
            </a:endParaRP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Doctrine of Part Performance</a:t>
            </a:r>
          </a:p>
        </p:txBody>
      </p:sp>
    </p:spTree>
    <p:extLst>
      <p:ext uri="{BB962C8B-B14F-4D97-AF65-F5344CB8AC3E}">
        <p14:creationId xmlns:p14="http://schemas.microsoft.com/office/powerpoint/2010/main" val="2930306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173819" cy="4237771"/>
          </a:xfrm>
        </p:spPr>
        <p:txBody>
          <a:bodyPr>
            <a:normAutofit/>
          </a:bodyPr>
          <a:lstStyle/>
          <a:p>
            <a:pPr algn="just">
              <a:spcBef>
                <a:spcPts val="900"/>
              </a:spcBef>
              <a:buNone/>
              <a:defRPr/>
            </a:pPr>
            <a:r>
              <a:rPr lang="en-AU" sz="1800" dirty="0"/>
              <a:t>Practical aspects of the doctrine of part performance. The following seen to be PP:</a:t>
            </a:r>
          </a:p>
          <a:p>
            <a:pPr marL="355600" lvl="1" indent="-355600" algn="just">
              <a:spcBef>
                <a:spcPts val="900"/>
              </a:spcBef>
              <a:buNone/>
              <a:defRPr/>
            </a:pPr>
            <a:r>
              <a:rPr lang="en-AU" sz="1800" dirty="0"/>
              <a:t>-	mortgage by deposit/taking of title deeds by mortgagee/lender=seen as evidence of an oral agreement to enter into a mortgage=part performance by both parties.</a:t>
            </a:r>
          </a:p>
          <a:p>
            <a:pPr marL="355600" lvl="2" indent="-355600" algn="just">
              <a:spcBef>
                <a:spcPts val="900"/>
              </a:spcBef>
              <a:buFontTx/>
              <a:buChar char="-"/>
              <a:defRPr/>
            </a:pPr>
            <a:r>
              <a:rPr lang="en-AU" sz="1800" dirty="0"/>
              <a:t>Improvements made to property by lessor at the request of lessee.</a:t>
            </a:r>
          </a:p>
          <a:p>
            <a:pPr marL="355600" lvl="2" indent="-355600" algn="just">
              <a:spcBef>
                <a:spcPts val="900"/>
              </a:spcBef>
              <a:buFontTx/>
              <a:buChar char="-"/>
              <a:defRPr/>
            </a:pPr>
            <a:r>
              <a:rPr lang="en-AU" sz="1800" dirty="0"/>
              <a:t>Payment of purchase price and making improvements.</a:t>
            </a:r>
          </a:p>
          <a:p>
            <a:pPr marL="355600" lvl="2" indent="-355600" algn="just">
              <a:spcBef>
                <a:spcPts val="900"/>
              </a:spcBef>
              <a:buFontTx/>
              <a:buChar char="-"/>
              <a:defRPr/>
            </a:pPr>
            <a:r>
              <a:rPr lang="en-AU" sz="1800" dirty="0"/>
              <a:t>Taking possession of land.</a:t>
            </a:r>
          </a:p>
          <a:p>
            <a:pPr marL="355600" lvl="2" indent="-355600" algn="just">
              <a:spcBef>
                <a:spcPts val="900"/>
              </a:spcBef>
              <a:buFontTx/>
              <a:buChar char="-"/>
              <a:defRPr/>
            </a:pPr>
            <a:r>
              <a:rPr lang="en-AU" sz="1800" dirty="0"/>
              <a:t>But not: making an application for planning permission.</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Doctrine of Part Performance</a:t>
            </a:r>
          </a:p>
        </p:txBody>
      </p:sp>
    </p:spTree>
    <p:extLst>
      <p:ext uri="{BB962C8B-B14F-4D97-AF65-F5344CB8AC3E}">
        <p14:creationId xmlns:p14="http://schemas.microsoft.com/office/powerpoint/2010/main" val="1537340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8" y="725214"/>
            <a:ext cx="6238555" cy="4237771"/>
          </a:xfrm>
        </p:spPr>
        <p:txBody>
          <a:bodyPr>
            <a:normAutofit/>
          </a:bodyPr>
          <a:lstStyle/>
          <a:p>
            <a:pPr marL="535781" indent="-535781" algn="just">
              <a:spcBef>
                <a:spcPts val="900"/>
              </a:spcBef>
              <a:buNone/>
              <a:defRPr/>
            </a:pPr>
            <a:r>
              <a:rPr lang="en-AU" sz="1800" dirty="0"/>
              <a:t>The 5 requirements for specific performance:</a:t>
            </a:r>
          </a:p>
          <a:p>
            <a:pPr marL="285750" indent="-285750" algn="just">
              <a:spcBef>
                <a:spcPts val="900"/>
              </a:spcBef>
              <a:buFont typeface="Arial" panose="020B0604020202020204" pitchFamily="34" charset="0"/>
              <a:buChar char="•"/>
              <a:defRPr/>
            </a:pPr>
            <a:r>
              <a:rPr lang="en-AU" sz="1800" dirty="0"/>
              <a:t>The contract must be binding, either because it is in writing, or because of a sufficient act of part performance.</a:t>
            </a:r>
          </a:p>
          <a:p>
            <a:pPr marL="285750" indent="-285750" algn="just">
              <a:spcBef>
                <a:spcPts val="900"/>
              </a:spcBef>
              <a:buFont typeface="Arial" panose="020B0604020202020204" pitchFamily="34" charset="0"/>
              <a:buChar char="•"/>
              <a:defRPr/>
            </a:pPr>
            <a:r>
              <a:rPr lang="en-AU" sz="1800" dirty="0"/>
              <a:t>The obligation to transfer property must be unconditional and not subject to the approval of a third party.</a:t>
            </a:r>
          </a:p>
          <a:p>
            <a:pPr marL="285750" indent="-285750" algn="just">
              <a:spcBef>
                <a:spcPts val="900"/>
              </a:spcBef>
              <a:buFont typeface="Arial" panose="020B0604020202020204" pitchFamily="34" charset="0"/>
              <a:buChar char="•"/>
              <a:defRPr/>
            </a:pPr>
            <a:r>
              <a:rPr lang="en-AU" sz="1800" dirty="0"/>
              <a:t>The vendor must be able to give good title, or the purchaser must be prepared to accept title defects.</a:t>
            </a:r>
          </a:p>
          <a:p>
            <a:pPr marL="285750" indent="-285750" algn="just">
              <a:spcBef>
                <a:spcPts val="900"/>
              </a:spcBef>
              <a:buFont typeface="Arial" panose="020B0604020202020204" pitchFamily="34" charset="0"/>
              <a:buChar char="•"/>
              <a:defRPr/>
            </a:pPr>
            <a:r>
              <a:rPr lang="en-AU" altLang="en-US" sz="1800" dirty="0">
                <a:ea typeface="ＭＳ Ｐゴシック" pitchFamily="34" charset="-128"/>
              </a:rPr>
              <a:t>The contract must not be unconscionable or inequitable.</a:t>
            </a:r>
          </a:p>
          <a:p>
            <a:pPr marL="285750" indent="-285750" algn="just">
              <a:spcBef>
                <a:spcPts val="900"/>
              </a:spcBef>
              <a:buFont typeface="Arial" panose="020B0604020202020204" pitchFamily="34" charset="0"/>
              <a:buChar char="•"/>
              <a:defRPr/>
            </a:pPr>
            <a:r>
              <a:rPr lang="en-AU" altLang="en-US" sz="1800" dirty="0">
                <a:ea typeface="ＭＳ Ｐゴシック" pitchFamily="34" charset="-128"/>
              </a:rPr>
              <a:t>The purchaser must not have breached any essential term.</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fontScale="90000"/>
          </a:bodyPr>
          <a:lstStyle/>
          <a:p>
            <a:r>
              <a:rPr lang="en-AU" sz="1800" b="0" dirty="0">
                <a:solidFill>
                  <a:schemeClr val="bg1"/>
                </a:solidFill>
              </a:rPr>
              <a:t>Remedies to enforce equitable interest in land: </a:t>
            </a:r>
            <a:br>
              <a:rPr lang="en-AU" sz="1800" b="0" dirty="0">
                <a:solidFill>
                  <a:schemeClr val="bg1"/>
                </a:solidFill>
              </a:rPr>
            </a:br>
            <a:r>
              <a:rPr lang="en-AU" sz="1800" b="0" dirty="0">
                <a:solidFill>
                  <a:schemeClr val="bg1"/>
                </a:solidFill>
              </a:rPr>
              <a:t>Specific Performance</a:t>
            </a:r>
          </a:p>
        </p:txBody>
      </p:sp>
    </p:spTree>
    <p:extLst>
      <p:ext uri="{BB962C8B-B14F-4D97-AF65-F5344CB8AC3E}">
        <p14:creationId xmlns:p14="http://schemas.microsoft.com/office/powerpoint/2010/main" val="434746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4547320" cy="4237771"/>
          </a:xfrm>
        </p:spPr>
        <p:txBody>
          <a:bodyPr>
            <a:normAutofit/>
          </a:bodyPr>
          <a:lstStyle/>
          <a:p>
            <a:pPr algn="just">
              <a:spcBef>
                <a:spcPts val="900"/>
              </a:spcBef>
              <a:defRPr/>
            </a:pPr>
            <a:r>
              <a:rPr lang="en-AU" sz="1800" dirty="0"/>
              <a:t>What if there is no contract? Nothing evidenced in writing nor part performance? Equity can still help via Equitable estoppel. </a:t>
            </a:r>
            <a:endParaRPr lang="en-AU" sz="1800" i="1" dirty="0"/>
          </a:p>
          <a:p>
            <a:pPr algn="just">
              <a:spcBef>
                <a:spcPts val="900"/>
              </a:spcBef>
              <a:defRPr/>
            </a:pPr>
            <a:r>
              <a:rPr lang="en-AU" sz="1800" i="1" dirty="0"/>
              <a:t>Waltons Stores (Interstate) Ltd v Maher </a:t>
            </a:r>
            <a:r>
              <a:rPr lang="en-AU" sz="1800" dirty="0"/>
              <a:t>(1998) 164 CLR 387 – the leading case.</a:t>
            </a:r>
          </a:p>
          <a:p>
            <a:pPr algn="just">
              <a:spcBef>
                <a:spcPts val="900"/>
              </a:spcBef>
              <a:defRPr/>
            </a:pPr>
            <a:r>
              <a:rPr lang="en-AU" sz="1800" i="1" dirty="0"/>
              <a:t>Giumelli v Giumelli </a:t>
            </a:r>
            <a:r>
              <a:rPr lang="en-AU" sz="1800" dirty="0"/>
              <a:t> (1999) 196 CLR 101 – WA case – Here, a son worked on his father’s farm in Dwellingup relying on the promise his father made to subdivide property and give him a lot (the promised lot) if he agreed to work without wages. No written agreement but sure as hell estoppel.</a:t>
            </a:r>
          </a:p>
          <a:p>
            <a:pPr algn="just">
              <a:spcBef>
                <a:spcPts val="900"/>
              </a:spcBef>
              <a:defRPr/>
            </a:pPr>
            <a:endParaRPr lang="en-AU" sz="1400" dirty="0"/>
          </a:p>
          <a:p>
            <a:pPr algn="just">
              <a:spcBef>
                <a:spcPts val="900"/>
              </a:spcBef>
              <a:defRPr/>
            </a:pPr>
            <a:endParaRPr lang="en-AU" sz="1800" dirty="0"/>
          </a:p>
          <a:p>
            <a:pPr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Estoppel</a:t>
            </a:r>
          </a:p>
        </p:txBody>
      </p:sp>
    </p:spTree>
    <p:extLst>
      <p:ext uri="{BB962C8B-B14F-4D97-AF65-F5344CB8AC3E}">
        <p14:creationId xmlns:p14="http://schemas.microsoft.com/office/powerpoint/2010/main" val="21224281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6046858" cy="4237771"/>
          </a:xfrm>
        </p:spPr>
        <p:txBody>
          <a:bodyPr>
            <a:normAutofit fontScale="92500" lnSpcReduction="10000"/>
          </a:bodyPr>
          <a:lstStyle/>
          <a:p>
            <a:pPr marL="535781" indent="-535781" algn="just">
              <a:spcBef>
                <a:spcPts val="900"/>
              </a:spcBef>
              <a:buFontTx/>
              <a:buAutoNum type="arabicPeriod"/>
              <a:defRPr/>
            </a:pPr>
            <a:r>
              <a:rPr lang="en-AU" sz="1800" dirty="0"/>
              <a:t>The plaintiff assumed that a particular legal relationship existed between the plaintiff and the defendant or expected that a particular legal relationship would exist between them and that the defendant would not be free to withdraw from the expected legal relationship.</a:t>
            </a:r>
          </a:p>
          <a:p>
            <a:pPr marL="535781" indent="-535781" algn="just">
              <a:spcBef>
                <a:spcPts val="900"/>
              </a:spcBef>
              <a:buFontTx/>
              <a:buAutoNum type="arabicPeriod"/>
              <a:defRPr/>
            </a:pPr>
            <a:r>
              <a:rPr lang="en-AU" sz="1800" dirty="0"/>
              <a:t>The defendant has induced the plaintiff to adopt that assumption or expectation.</a:t>
            </a:r>
          </a:p>
          <a:p>
            <a:pPr marL="535781" indent="-535781" algn="just">
              <a:spcBef>
                <a:spcPts val="900"/>
              </a:spcBef>
              <a:buFontTx/>
              <a:buAutoNum type="arabicPeriod"/>
              <a:defRPr/>
            </a:pPr>
            <a:r>
              <a:rPr lang="en-AU" sz="1800" dirty="0"/>
              <a:t>The plaintiff acts or abstains from acting in reliance on the assumption or expectation.</a:t>
            </a:r>
          </a:p>
          <a:p>
            <a:pPr marL="535781" indent="-535781" algn="just">
              <a:spcBef>
                <a:spcPts val="900"/>
              </a:spcBef>
              <a:buFontTx/>
              <a:buAutoNum type="arabicPeriod"/>
              <a:defRPr/>
            </a:pPr>
            <a:r>
              <a:rPr lang="en-AU" sz="1800" dirty="0"/>
              <a:t>The defendant knew or intended him/her to do so.</a:t>
            </a:r>
          </a:p>
          <a:p>
            <a:pPr marL="535781" indent="-535781" algn="just">
              <a:spcBef>
                <a:spcPts val="900"/>
              </a:spcBef>
              <a:buFontTx/>
              <a:buAutoNum type="arabicPeriod"/>
              <a:defRPr/>
            </a:pPr>
            <a:r>
              <a:rPr lang="en-AU" sz="1800" dirty="0"/>
              <a:t>The plaintiff’s action or inaction will occasion detriment to him/her if the assumption or expectation is not fulfilled.</a:t>
            </a:r>
          </a:p>
          <a:p>
            <a:pPr marL="535781" indent="-535781" algn="just">
              <a:spcBef>
                <a:spcPts val="900"/>
              </a:spcBef>
              <a:buFontTx/>
              <a:buAutoNum type="arabicPeriod"/>
              <a:defRPr/>
            </a:pPr>
            <a:r>
              <a:rPr lang="en-AU" sz="1800" dirty="0"/>
              <a:t>The defendant has failed to act to avoid that detriment to the plaintiff.</a:t>
            </a:r>
          </a:p>
          <a:p>
            <a:pPr marL="0" indent="0" algn="just">
              <a:spcBef>
                <a:spcPts val="900"/>
              </a:spcBef>
              <a:buNone/>
            </a:pPr>
            <a:endParaRPr lang="en-AU" altLang="en-US" sz="1800" i="1" dirty="0">
              <a:ea typeface="ＭＳ Ｐゴシック" panose="020B0600070205080204" pitchFamily="34" charset="-128"/>
            </a:endParaRP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Equitable Estoppel - Factors</a:t>
            </a:r>
          </a:p>
        </p:txBody>
      </p:sp>
    </p:spTree>
    <p:extLst>
      <p:ext uri="{BB962C8B-B14F-4D97-AF65-F5344CB8AC3E}">
        <p14:creationId xmlns:p14="http://schemas.microsoft.com/office/powerpoint/2010/main" val="494017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725214"/>
            <a:ext cx="3603991" cy="4237771"/>
          </a:xfrm>
        </p:spPr>
        <p:txBody>
          <a:bodyPr>
            <a:normAutofit fontScale="92500" lnSpcReduction="10000"/>
          </a:bodyPr>
          <a:lstStyle/>
          <a:p>
            <a:pPr algn="just">
              <a:spcBef>
                <a:spcPts val="1350"/>
              </a:spcBef>
              <a:buNone/>
              <a:defRPr/>
            </a:pPr>
            <a:r>
              <a:rPr lang="en-US" altLang="en-US" sz="1800" dirty="0">
                <a:ea typeface="ＭＳ Ｐゴシック" pitchFamily="34" charset="-128"/>
              </a:rPr>
              <a:t>Strategies – if section 4 </a:t>
            </a:r>
            <a:r>
              <a:rPr lang="en-US" altLang="en-US" sz="1800" i="1" dirty="0">
                <a:ea typeface="ＭＳ Ｐゴシック" pitchFamily="34" charset="-128"/>
              </a:rPr>
              <a:t>Statute of Frauds</a:t>
            </a:r>
            <a:r>
              <a:rPr lang="en-US" altLang="en-US" sz="1800" dirty="0">
                <a:ea typeface="ＭＳ Ｐゴシック" pitchFamily="34" charset="-128"/>
              </a:rPr>
              <a:t> is not satisfied (</a:t>
            </a:r>
            <a:r>
              <a:rPr lang="en-US" altLang="en-US" sz="1800" dirty="0" err="1">
                <a:ea typeface="ＭＳ Ｐゴシック" pitchFamily="34" charset="-128"/>
              </a:rPr>
              <a:t>ie</a:t>
            </a:r>
            <a:r>
              <a:rPr lang="en-US" altLang="en-US" sz="1800" dirty="0">
                <a:ea typeface="ＭＳ Ｐゴシック" pitchFamily="34" charset="-128"/>
              </a:rPr>
              <a:t> contract not in writing and signed), consider if there is relief via part performance or estoppel. </a:t>
            </a:r>
          </a:p>
          <a:p>
            <a:pPr algn="just">
              <a:spcBef>
                <a:spcPts val="1350"/>
              </a:spcBef>
              <a:buNone/>
              <a:defRPr/>
            </a:pPr>
            <a:r>
              <a:rPr lang="en-US" altLang="en-US" sz="1800" dirty="0">
                <a:ea typeface="ＭＳ Ｐゴシック" pitchFamily="34" charset="-128"/>
              </a:rPr>
              <a:t>However, remember part performance will not make a contract where none exists, and with equitable estoppel, the remedy necessary to address the detriment may not result in the plaintiff receiving an interest in land (specific performance will not lie).</a:t>
            </a:r>
          </a:p>
          <a:p>
            <a:pPr algn="just">
              <a:spcBef>
                <a:spcPts val="1350"/>
              </a:spcBef>
              <a:buNone/>
              <a:defRPr/>
            </a:pPr>
            <a:r>
              <a:rPr lang="en-US" altLang="en-US" sz="1800" dirty="0">
                <a:ea typeface="ＭＳ Ｐゴシック" pitchFamily="34" charset="-128"/>
              </a:rPr>
              <a:t>But could still mean a bag load of cash (equitable damages) so what’s not to like about that!</a:t>
            </a:r>
          </a:p>
          <a:p>
            <a:pPr algn="just">
              <a:spcBef>
                <a:spcPts val="900"/>
              </a:spcBef>
              <a:defRPr/>
            </a:pPr>
            <a:endParaRPr lang="en-AU" dirty="0"/>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Summary for Equitable Interests in Land</a:t>
            </a:r>
          </a:p>
        </p:txBody>
      </p:sp>
      <p:pic>
        <p:nvPicPr>
          <p:cNvPr id="5" name="Picture 4" descr="A collage of two people&#10;&#10;Description automatically generated">
            <a:extLst>
              <a:ext uri="{FF2B5EF4-FFF2-40B4-BE49-F238E27FC236}">
                <a16:creationId xmlns:a16="http://schemas.microsoft.com/office/drawing/2014/main" id="{D1A0533D-5D7A-49C5-8CD3-44E81CEB7E32}"/>
              </a:ext>
            </a:extLst>
          </p:cNvPr>
          <p:cNvPicPr>
            <a:picLocks noChangeAspect="1"/>
          </p:cNvPicPr>
          <p:nvPr/>
        </p:nvPicPr>
        <p:blipFill>
          <a:blip r:embed="rId2"/>
          <a:stretch>
            <a:fillRect/>
          </a:stretch>
        </p:blipFill>
        <p:spPr>
          <a:xfrm>
            <a:off x="4290060" y="725214"/>
            <a:ext cx="1842135" cy="4052526"/>
          </a:xfrm>
          <a:prstGeom prst="rect">
            <a:avLst/>
          </a:prstGeom>
        </p:spPr>
      </p:pic>
    </p:spTree>
    <p:extLst>
      <p:ext uri="{BB962C8B-B14F-4D97-AF65-F5344CB8AC3E}">
        <p14:creationId xmlns:p14="http://schemas.microsoft.com/office/powerpoint/2010/main" val="1200523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8EDD08-3339-417E-B964-C530E73E0120}"/>
              </a:ext>
            </a:extLst>
          </p:cNvPr>
          <p:cNvSpPr>
            <a:spLocks noGrp="1"/>
          </p:cNvSpPr>
          <p:nvPr>
            <p:ph sz="half" idx="1"/>
          </p:nvPr>
        </p:nvSpPr>
        <p:spPr>
          <a:xfrm>
            <a:off x="259349" y="889908"/>
            <a:ext cx="3946891" cy="3742815"/>
          </a:xfrm>
        </p:spPr>
        <p:txBody>
          <a:bodyPr>
            <a:normAutofit fontScale="62500" lnSpcReduction="20000"/>
          </a:bodyPr>
          <a:lstStyle/>
          <a:p>
            <a:pPr marL="342900" indent="-342900">
              <a:buAutoNum type="arabicPeriod"/>
            </a:pPr>
            <a:r>
              <a:rPr lang="en-AU" sz="1800" dirty="0"/>
              <a:t>Property can also be fragmented from a jurisdiction perspective into equitable and legal interests.</a:t>
            </a:r>
          </a:p>
          <a:p>
            <a:pPr marL="342900" indent="-342900">
              <a:buAutoNum type="arabicPeriod"/>
            </a:pPr>
            <a:r>
              <a:rPr lang="en-AU" sz="1800" dirty="0"/>
              <a:t>Equitable interests can come about in real property by purchasing a property pursuant to a contract of sale– the vendor holds the property on trust for the purchaser.</a:t>
            </a:r>
          </a:p>
          <a:p>
            <a:pPr marL="342900" indent="-342900">
              <a:buAutoNum type="arabicPeriod"/>
            </a:pPr>
            <a:r>
              <a:rPr lang="en-AU" sz="1800" dirty="0"/>
              <a:t>Acquiring an equitable interest by contract in real property involves formalities – contract must be evidenced in writing (s 4 </a:t>
            </a:r>
            <a:r>
              <a:rPr lang="en-AU" sz="1800" i="1" dirty="0"/>
              <a:t>Statute of Frauds</a:t>
            </a:r>
            <a:r>
              <a:rPr lang="en-AU" sz="1800" dirty="0"/>
              <a:t>) or there must be part performance.</a:t>
            </a:r>
          </a:p>
          <a:p>
            <a:pPr marL="342900" indent="-342900">
              <a:buAutoNum type="arabicPeriod"/>
            </a:pPr>
            <a:r>
              <a:rPr lang="en-AU" sz="1800" dirty="0"/>
              <a:t>If no contract, may be an interest arising from equitable estoppel on principles of W</a:t>
            </a:r>
            <a:r>
              <a:rPr lang="en-AU" sz="1800" i="1" dirty="0"/>
              <a:t>altons Stores </a:t>
            </a:r>
            <a:r>
              <a:rPr lang="en-AU" sz="1800" dirty="0"/>
              <a:t>case.</a:t>
            </a:r>
          </a:p>
          <a:p>
            <a:pPr marL="342900" indent="-342900">
              <a:buAutoNum type="arabicPeriod"/>
            </a:pPr>
            <a:r>
              <a:rPr lang="en-AU" sz="1800" dirty="0"/>
              <a:t>The actual conveyance of the property must be by written instrument (s 34 PLA) and also must be by deed (s 33(1) PLA). Transfer forms lodged at Landgate are deemed to be deeds. </a:t>
            </a:r>
          </a:p>
          <a:p>
            <a:pPr marL="342900" indent="-342900">
              <a:buAutoNum type="arabicPeriod"/>
            </a:pPr>
            <a:r>
              <a:rPr lang="en-AU" sz="1800" dirty="0"/>
              <a:t>A legal interest in real property is not is created in until registration at Landgate takes place: s 58 TLA. This confers indefeasibility of title: s 68(1</a:t>
            </a:r>
            <a:r>
              <a:rPr lang="en-AU" sz="1800"/>
              <a:t>) TLA, although </a:t>
            </a:r>
            <a:r>
              <a:rPr lang="en-AU" sz="1800" dirty="0"/>
              <a:t>some non registered interests enjoy an exception to indefeasibility of </a:t>
            </a:r>
            <a:r>
              <a:rPr lang="en-AU" sz="1800"/>
              <a:t>title rule: see </a:t>
            </a:r>
            <a:r>
              <a:rPr lang="en-AU" sz="1800" dirty="0"/>
              <a:t>s 68(1A) TLA.</a:t>
            </a:r>
          </a:p>
          <a:p>
            <a:pPr marL="342900" indent="-342900">
              <a:buAutoNum type="arabicPeriod"/>
            </a:pPr>
            <a:endParaRPr lang="en-AU" sz="1800" dirty="0"/>
          </a:p>
        </p:txBody>
      </p:sp>
      <p:sp>
        <p:nvSpPr>
          <p:cNvPr id="3" name="Title 2">
            <a:extLst>
              <a:ext uri="{FF2B5EF4-FFF2-40B4-BE49-F238E27FC236}">
                <a16:creationId xmlns:a16="http://schemas.microsoft.com/office/drawing/2014/main" id="{D020A3CC-A1D5-45D8-9366-0075D98E2532}"/>
              </a:ext>
            </a:extLst>
          </p:cNvPr>
          <p:cNvSpPr>
            <a:spLocks noGrp="1"/>
          </p:cNvSpPr>
          <p:nvPr>
            <p:ph type="title"/>
          </p:nvPr>
        </p:nvSpPr>
        <p:spPr/>
        <p:txBody>
          <a:bodyPr>
            <a:normAutofit/>
          </a:bodyPr>
          <a:lstStyle/>
          <a:p>
            <a:r>
              <a:rPr lang="en-AU" sz="1800" b="0" dirty="0">
                <a:solidFill>
                  <a:schemeClr val="bg1"/>
                </a:solidFill>
              </a:rPr>
              <a:t>Lessons Learned Today</a:t>
            </a:r>
          </a:p>
        </p:txBody>
      </p:sp>
      <p:pic>
        <p:nvPicPr>
          <p:cNvPr id="5" name="Picture 4" descr="A child in a white shirt and red tie&#10;&#10;Description automatically generated">
            <a:extLst>
              <a:ext uri="{FF2B5EF4-FFF2-40B4-BE49-F238E27FC236}">
                <a16:creationId xmlns:a16="http://schemas.microsoft.com/office/drawing/2014/main" id="{ECF60D10-0282-3F2B-AC69-6588D147A7AA}"/>
              </a:ext>
            </a:extLst>
          </p:cNvPr>
          <p:cNvPicPr>
            <a:picLocks noChangeAspect="1"/>
          </p:cNvPicPr>
          <p:nvPr/>
        </p:nvPicPr>
        <p:blipFill>
          <a:blip r:embed="rId2"/>
          <a:stretch>
            <a:fillRect/>
          </a:stretch>
        </p:blipFill>
        <p:spPr>
          <a:xfrm>
            <a:off x="4206239" y="967740"/>
            <a:ext cx="2044065" cy="3285852"/>
          </a:xfrm>
          <a:prstGeom prst="rect">
            <a:avLst/>
          </a:prstGeom>
        </p:spPr>
      </p:pic>
    </p:spTree>
    <p:extLst>
      <p:ext uri="{BB962C8B-B14F-4D97-AF65-F5344CB8AC3E}">
        <p14:creationId xmlns:p14="http://schemas.microsoft.com/office/powerpoint/2010/main" val="877732478"/>
      </p:ext>
    </p:extLst>
  </p:cSld>
  <p:clrMapOvr>
    <a:masterClrMapping/>
  </p:clrMapOvr>
</p:sld>
</file>

<file path=ppt/theme/theme1.xml><?xml version="1.0" encoding="utf-8"?>
<a:theme xmlns:a="http://schemas.openxmlformats.org/drawingml/2006/main" name="Office Theme">
  <a:themeElements>
    <a:clrScheme name="World Ready B&amp;L">
      <a:dk1>
        <a:srgbClr val="101920"/>
      </a:dk1>
      <a:lt1>
        <a:srgbClr val="FFFFFF"/>
      </a:lt1>
      <a:dk2>
        <a:srgbClr val="404140"/>
      </a:dk2>
      <a:lt2>
        <a:srgbClr val="FFFFFF"/>
      </a:lt2>
      <a:accent1>
        <a:srgbClr val="004B85"/>
      </a:accent1>
      <a:accent2>
        <a:srgbClr val="BE2F36"/>
      </a:accent2>
      <a:accent3>
        <a:srgbClr val="FFC658"/>
      </a:accent3>
      <a:accent4>
        <a:srgbClr val="7E71B3"/>
      </a:accent4>
      <a:accent5>
        <a:srgbClr val="F26122"/>
      </a:accent5>
      <a:accent6>
        <a:srgbClr val="EFECE5"/>
      </a:accent6>
      <a:hlink>
        <a:srgbClr val="004B85"/>
      </a:hlink>
      <a:folHlink>
        <a:srgbClr val="F2612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perty law 1 Lecture 1 2022" id="{E7BE7D35-74D4-45FB-AD1E-42753974E9E7}" vid="{DB914E17-A141-4B07-AD21-1298645D11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Property law 1 Lecture 1 2022</Template>
  <TotalTime>1610</TotalTime>
  <Words>4962</Words>
  <Application>Microsoft Office PowerPoint</Application>
  <PresentationFormat>Custom</PresentationFormat>
  <Paragraphs>256</Paragraphs>
  <Slides>37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3" baseType="lpstr">
      <vt:lpstr>Calibri</vt:lpstr>
      <vt:lpstr>Arial</vt:lpstr>
      <vt:lpstr>ＭＳ Ｐゴシック</vt:lpstr>
      <vt:lpstr>Wingdings</vt:lpstr>
      <vt:lpstr>Office Theme</vt:lpstr>
      <vt:lpstr>Packager Shell Object</vt:lpstr>
      <vt:lpstr>LAW2102 PROPERTY LAW 1 </vt:lpstr>
      <vt:lpstr>Today’s Agenda/Learning Goals</vt:lpstr>
      <vt:lpstr>Legal and Equitable Interests</vt:lpstr>
      <vt:lpstr>A brief history of Equity</vt:lpstr>
      <vt:lpstr>Maxims of Equity</vt:lpstr>
      <vt:lpstr>Law and Equity: Family Resemblances </vt:lpstr>
      <vt:lpstr>Law and Equity: Differences </vt:lpstr>
      <vt:lpstr>Legal and Equitable Interests - Example</vt:lpstr>
      <vt:lpstr>Legal and Equitable Interests – Another Example</vt:lpstr>
      <vt:lpstr>Types of Disposal of Property Interests (1) </vt:lpstr>
      <vt:lpstr>Types of Disposal of Property Interests (2)</vt:lpstr>
      <vt:lpstr>Requirements for creating or disposing of a  legal interest in land</vt:lpstr>
      <vt:lpstr>Requirements for a legal interest in land</vt:lpstr>
      <vt:lpstr>Requirements for a  legal interest in land</vt:lpstr>
      <vt:lpstr>Requirements for a legal interest in land</vt:lpstr>
      <vt:lpstr>Requirements  for a  legal interest in land</vt:lpstr>
      <vt:lpstr>Indefeasibility of Title: 68(1) TLA</vt:lpstr>
      <vt:lpstr>Exceptions to Indefeasibility – s 68(1A) TLA</vt:lpstr>
      <vt:lpstr>Creating or disposing of an Equitable interest in land</vt:lpstr>
      <vt:lpstr>Equitable interests in land</vt:lpstr>
      <vt:lpstr>Equitable interests in land</vt:lpstr>
      <vt:lpstr>Equitable Interests in Land</vt:lpstr>
      <vt:lpstr>Equitable interests in land</vt:lpstr>
      <vt:lpstr>Equitable interests in Land</vt:lpstr>
      <vt:lpstr>Equitable interests in land</vt:lpstr>
      <vt:lpstr>Equitable interests in land</vt:lpstr>
      <vt:lpstr>Equitable interests in land</vt:lpstr>
      <vt:lpstr>Equitable interests in land</vt:lpstr>
      <vt:lpstr>Equitable interests in land: leasehold</vt:lpstr>
      <vt:lpstr>Doctrine of Part Performance</vt:lpstr>
      <vt:lpstr>Doctrine of Part Performance</vt:lpstr>
      <vt:lpstr>Doctrine of Part Performance</vt:lpstr>
      <vt:lpstr>Remedies to enforce equitable interest in land:  Specific Performance</vt:lpstr>
      <vt:lpstr>Equitable Estoppel</vt:lpstr>
      <vt:lpstr>Equitable Estoppel - Factors</vt:lpstr>
      <vt:lpstr>Summary for Equitable Interests in Land</vt:lpstr>
      <vt:lpstr>Lessons Learned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LAW2102 PROPERTY 1</dc:title>
  <dc:creator>Haydn RIGBY</dc:creator>
  <cp:lastModifiedBy>Joshua FORRESTER</cp:lastModifiedBy>
  <cp:revision>38</cp:revision>
  <dcterms:created xsi:type="dcterms:W3CDTF">2022-02-06T13:04:31Z</dcterms:created>
  <dcterms:modified xsi:type="dcterms:W3CDTF">2026-03-31T06:49:59Z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081eab-cc3f-49a2-9582-7dfc12a01625_Enabled">
    <vt:lpwstr>true</vt:lpwstr>
  </property>
  <property fmtid="{D5CDD505-2E9C-101B-9397-08002B2CF9AE}" pid="3" name="MSIP_Label_03081eab-cc3f-49a2-9582-7dfc12a01625_SetDate">
    <vt:lpwstr>2026-03-19T04:16:36Z</vt:lpwstr>
  </property>
  <property fmtid="{D5CDD505-2E9C-101B-9397-08002B2CF9AE}" pid="4" name="MSIP_Label_03081eab-cc3f-49a2-9582-7dfc12a01625_Method">
    <vt:lpwstr>Standard</vt:lpwstr>
  </property>
  <property fmtid="{D5CDD505-2E9C-101B-9397-08002B2CF9AE}" pid="5" name="MSIP_Label_03081eab-cc3f-49a2-9582-7dfc12a01625_Name">
    <vt:lpwstr>Internal</vt:lpwstr>
  </property>
  <property fmtid="{D5CDD505-2E9C-101B-9397-08002B2CF9AE}" pid="6" name="MSIP_Label_03081eab-cc3f-49a2-9582-7dfc12a01625_SiteId">
    <vt:lpwstr>9bcb323d-7fa3-45e7-a36f-6d9cfdbcc272</vt:lpwstr>
  </property>
  <property fmtid="{D5CDD505-2E9C-101B-9397-08002B2CF9AE}" pid="7" name="MSIP_Label_03081eab-cc3f-49a2-9582-7dfc12a01625_ActionId">
    <vt:lpwstr>8b9d95dc-1b75-4bb1-9486-8f2a6d46842f</vt:lpwstr>
  </property>
  <property fmtid="{D5CDD505-2E9C-101B-9397-08002B2CF9AE}" pid="8" name="MSIP_Label_03081eab-cc3f-49a2-9582-7dfc12a01625_ContentBits">
    <vt:lpwstr>2</vt:lpwstr>
  </property>
  <property fmtid="{D5CDD505-2E9C-101B-9397-08002B2CF9AE}" pid="9" name="MSIP_Label_03081eab-cc3f-49a2-9582-7dfc12a01625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ECU Internal Information</vt:lpwstr>
  </property>
</Properties>
</file>