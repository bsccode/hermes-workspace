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2">
  <p:sldMasterIdLst>
    <p:sldMasterId id="2147483677" r:id="rId1"/>
  </p:sldMasterIdLst>
  <p:notesMasterIdLst>
    <p:notesMasterId r:id="rId18"/>
  </p:notesMasterIdLst>
  <p:handoutMasterIdLst>
    <p:handoutMasterId r:id="rId19"/>
  </p:handoutMasterIdLst>
  <p:sldIdLst>
    <p:sldId id="258" r:id="rId2"/>
    <p:sldId id="417" r:id="rId3"/>
    <p:sldId id="495" r:id="rId4"/>
    <p:sldId id="514" r:id="rId5"/>
    <p:sldId id="289" r:id="rId6"/>
    <p:sldId id="498" r:id="rId7"/>
    <p:sldId id="500" r:id="rId8"/>
    <p:sldId id="501" r:id="rId9"/>
    <p:sldId id="515" r:id="rId10"/>
    <p:sldId id="517" r:id="rId11"/>
    <p:sldId id="516" r:id="rId12"/>
    <p:sldId id="504" r:id="rId13"/>
    <p:sldId id="506" r:id="rId14"/>
    <p:sldId id="505" r:id="rId15"/>
    <p:sldId id="511" r:id="rId16"/>
    <p:sldId id="512" r:id="rId17"/>
  </p:sldIdLst>
  <p:sldSz cx="6858000" cy="5143500"/>
  <p:notesSz cx="6858000" cy="9144000"/>
  <p:embeddedFontLst>
    <p:embeddedFont>
      <p:font typeface="ＭＳ Ｐゴシック" panose="020B0600070205080204" pitchFamily="34" charset="-128"/>
      <p:regular r:id="rId20"/>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8B4C3"/>
    <a:srgbClr val="FCED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7" autoAdjust="0"/>
    <p:restoredTop sz="78840" autoAdjust="0"/>
  </p:normalViewPr>
  <p:slideViewPr>
    <p:cSldViewPr snapToGrid="0" snapToObjects="1">
      <p:cViewPr varScale="1">
        <p:scale>
          <a:sx n="76" d="100"/>
          <a:sy n="76" d="100"/>
        </p:scale>
        <p:origin x="1364" y="48"/>
      </p:cViewPr>
      <p:guideLst/>
    </p:cSldViewPr>
  </p:slid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126" d="100"/>
          <a:sy n="126" d="100"/>
        </p:scale>
        <p:origin x="2512"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4/12/2026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4/12/2026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C08C1BFC-DA97-41A8-B18D-6F25E8775E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82CA4F4-CE5A-485D-9BE7-DCF52D4E2C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0244" name="Slide Number Placeholder 3">
            <a:extLst>
              <a:ext uri="{FF2B5EF4-FFF2-40B4-BE49-F238E27FC236}">
                <a16:creationId xmlns:a16="http://schemas.microsoft.com/office/drawing/2014/main" id="{9D94F1EA-AE4B-48FD-A835-6CA0D1100E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B44E610-2F5F-4B2A-A898-6F4D64BA8BAD}" type="slidenum">
              <a:rPr lang="en-US" altLang="en-US" smtClean="0">
                <a:latin typeface="Arial" panose="020B0604020202020204" pitchFamily="34" charset="0"/>
              </a:rPr>
              <a:pPr>
                <a:spcBef>
                  <a:spcPct val="0"/>
                </a:spcBef>
              </a:pPr>
              <a:t>5</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Cover Option A">
    <p:spTree>
      <p:nvGrpSpPr>
        <p:cNvPr id="1" name=""/>
        <p:cNvGrpSpPr/>
        <p:nvPr/>
      </p:nvGrpSpPr>
      <p:grpSpPr>
        <a:xfrm>
          <a:off x="0" y="0"/>
          <a:ext cx="0" cy="0"/>
          <a:chOff x="0" y="0"/>
          <a:chExt cx="0" cy="0"/>
        </a:xfrm>
      </p:grpSpPr>
      <p:sp>
        <p:nvSpPr>
          <p:cNvPr id="9" name="Rectangle 8"/>
          <p:cNvSpPr/>
          <p:nvPr userDrawn="1"/>
        </p:nvSpPr>
        <p:spPr>
          <a:xfrm>
            <a:off x="0" y="0"/>
            <a:ext cx="6858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6" name="Title 1"/>
          <p:cNvSpPr>
            <a:spLocks noGrp="1"/>
          </p:cNvSpPr>
          <p:nvPr>
            <p:ph type="ctrTitle" hasCustomPrompt="1"/>
          </p:nvPr>
        </p:nvSpPr>
        <p:spPr>
          <a:xfrm>
            <a:off x="385277" y="3511275"/>
            <a:ext cx="3362928" cy="1348199"/>
          </a:xfrm>
        </p:spPr>
        <p:txBody>
          <a:bodyPr anchor="ctr">
            <a:normAutofit/>
          </a:bodyPr>
          <a:lstStyle>
            <a:lvl1pPr algn="l">
              <a:lnSpc>
                <a:spcPct val="100000"/>
              </a:lnSpc>
              <a:spcAft>
                <a:spcPts val="338"/>
              </a:spcAft>
              <a:defRPr sz="1575" b="1" baseline="0">
                <a:solidFill>
                  <a:schemeClr val="tx1"/>
                </a:solidFill>
                <a:latin typeface="Arial" charset="0"/>
                <a:ea typeface="Arial" charset="0"/>
                <a:cs typeface="Arial" charset="0"/>
              </a:defRPr>
            </a:lvl1pPr>
          </a:lstStyle>
          <a:p>
            <a:r>
              <a:rPr lang="en-US" dirty="0"/>
              <a:t>Cover Option A: Click to add heading</a:t>
            </a:r>
          </a:p>
        </p:txBody>
      </p:sp>
      <p:pic>
        <p:nvPicPr>
          <p:cNvPr id="7" name="Picture 6"/>
          <p:cNvPicPr>
            <a:picLocks noChangeAspect="1"/>
          </p:cNvPicPr>
          <p:nvPr userDrawn="1"/>
        </p:nvPicPr>
        <p:blipFill>
          <a:blip r:embed="rId2"/>
          <a:stretch>
            <a:fillRect/>
          </a:stretch>
        </p:blipFill>
        <p:spPr>
          <a:xfrm>
            <a:off x="4340577" y="77164"/>
            <a:ext cx="2427111" cy="557336"/>
          </a:xfrm>
          <a:prstGeom prst="rect">
            <a:avLst/>
          </a:prstGeom>
        </p:spPr>
      </p:pic>
    </p:spTree>
    <p:extLst>
      <p:ext uri="{BB962C8B-B14F-4D97-AF65-F5344CB8AC3E}">
        <p14:creationId xmlns:p14="http://schemas.microsoft.com/office/powerpoint/2010/main" val="204498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Main Cover Option C">
    <p:spTree>
      <p:nvGrpSpPr>
        <p:cNvPr id="1" name=""/>
        <p:cNvGrpSpPr/>
        <p:nvPr/>
      </p:nvGrpSpPr>
      <p:grpSpPr>
        <a:xfrm>
          <a:off x="0" y="0"/>
          <a:ext cx="0" cy="0"/>
          <a:chOff x="0" y="0"/>
          <a:chExt cx="0" cy="0"/>
        </a:xfrm>
      </p:grpSpPr>
      <p:sp>
        <p:nvSpPr>
          <p:cNvPr id="6" name="Picture Placeholder 5"/>
          <p:cNvSpPr>
            <a:spLocks noGrp="1" noChangeAspect="1"/>
          </p:cNvSpPr>
          <p:nvPr>
            <p:ph type="pic" sz="quarter" idx="10" hasCustomPrompt="1"/>
          </p:nvPr>
        </p:nvSpPr>
        <p:spPr>
          <a:xfrm>
            <a:off x="0" y="0"/>
            <a:ext cx="3800294" cy="5143500"/>
          </a:xfrm>
          <a:solidFill>
            <a:schemeClr val="tx2">
              <a:lumMod val="20000"/>
              <a:lumOff val="80000"/>
            </a:schemeClr>
          </a:solidFill>
        </p:spPr>
        <p:txBody>
          <a:bodyPr anchor="ctr">
            <a:normAutofit/>
          </a:bodyPr>
          <a:lstStyle>
            <a:lvl1pPr marL="0" indent="0" algn="ctr">
              <a:buNone/>
              <a:defRPr sz="900" b="0" baseline="0"/>
            </a:lvl1pPr>
          </a:lstStyle>
          <a:p>
            <a:r>
              <a:rPr lang="en-US" dirty="0"/>
              <a:t>Click this icon to insert image</a:t>
            </a:r>
          </a:p>
        </p:txBody>
      </p:sp>
      <p:sp>
        <p:nvSpPr>
          <p:cNvPr id="14" name="Title 1"/>
          <p:cNvSpPr>
            <a:spLocks noGrp="1"/>
          </p:cNvSpPr>
          <p:nvPr>
            <p:ph type="ctrTitle" hasCustomPrompt="1"/>
          </p:nvPr>
        </p:nvSpPr>
        <p:spPr>
          <a:xfrm>
            <a:off x="3964463" y="2254510"/>
            <a:ext cx="2706179" cy="928217"/>
          </a:xfrm>
        </p:spPr>
        <p:txBody>
          <a:bodyPr anchor="b">
            <a:normAutofit/>
          </a:bodyPr>
          <a:lstStyle>
            <a:lvl1pPr algn="l">
              <a:lnSpc>
                <a:spcPct val="100000"/>
              </a:lnSpc>
              <a:spcAft>
                <a:spcPts val="338"/>
              </a:spcAft>
              <a:defRPr sz="1600" b="1" baseline="0">
                <a:solidFill>
                  <a:schemeClr val="accent4"/>
                </a:solidFill>
                <a:latin typeface="Arial" charset="0"/>
                <a:ea typeface="Arial" charset="0"/>
                <a:cs typeface="Arial" charset="0"/>
              </a:defRPr>
            </a:lvl1pPr>
          </a:lstStyle>
          <a:p>
            <a:r>
              <a:rPr lang="en-US" dirty="0"/>
              <a:t>Cover Option C:</a:t>
            </a:r>
            <a:br>
              <a:rPr lang="en-US" dirty="0"/>
            </a:br>
            <a:r>
              <a:rPr lang="en-US" dirty="0"/>
              <a:t>Click to add heading</a:t>
            </a:r>
          </a:p>
        </p:txBody>
      </p:sp>
      <p:sp>
        <p:nvSpPr>
          <p:cNvPr id="5" name="Text Placeholder 4"/>
          <p:cNvSpPr>
            <a:spLocks noGrp="1"/>
          </p:cNvSpPr>
          <p:nvPr>
            <p:ph type="body" sz="quarter" idx="11" hasCustomPrompt="1"/>
          </p:nvPr>
        </p:nvSpPr>
        <p:spPr>
          <a:xfrm>
            <a:off x="3964843" y="3219451"/>
            <a:ext cx="2705873" cy="646113"/>
          </a:xfrm>
        </p:spPr>
        <p:txBody>
          <a:bodyPr>
            <a:normAutofit/>
          </a:bodyPr>
          <a:lstStyle>
            <a:lvl1pPr marL="0" indent="0">
              <a:lnSpc>
                <a:spcPct val="100000"/>
              </a:lnSpc>
              <a:buNone/>
              <a:defRPr sz="1400">
                <a:solidFill>
                  <a:schemeClr val="tx1"/>
                </a:solidFill>
              </a:defRPr>
            </a:lvl1pPr>
          </a:lstStyle>
          <a:p>
            <a:pPr lvl="0"/>
            <a:r>
              <a:rPr lang="en-US" dirty="0"/>
              <a:t>Click to add sub heading</a:t>
            </a:r>
          </a:p>
        </p:txBody>
      </p:sp>
      <p:pic>
        <p:nvPicPr>
          <p:cNvPr id="8" name="Picture 7"/>
          <p:cNvPicPr>
            <a:picLocks noChangeAspect="1"/>
          </p:cNvPicPr>
          <p:nvPr userDrawn="1"/>
        </p:nvPicPr>
        <p:blipFill>
          <a:blip r:embed="rId2"/>
          <a:stretch>
            <a:fillRect/>
          </a:stretch>
        </p:blipFill>
        <p:spPr>
          <a:xfrm>
            <a:off x="4340578" y="80586"/>
            <a:ext cx="2427111" cy="557336"/>
          </a:xfrm>
          <a:prstGeom prst="rect">
            <a:avLst/>
          </a:prstGeom>
        </p:spPr>
      </p:pic>
    </p:spTree>
    <p:extLst>
      <p:ext uri="{BB962C8B-B14F-4D97-AF65-F5344CB8AC3E}">
        <p14:creationId xmlns:p14="http://schemas.microsoft.com/office/powerpoint/2010/main" val="81935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 col text only">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9349" y="889908"/>
            <a:ext cx="4648755" cy="3742815"/>
          </a:xfrm>
        </p:spPr>
        <p:txBody>
          <a:bodyPr>
            <a:normAutofit/>
          </a:bodyPr>
          <a:lstStyle>
            <a:lvl1pPr marL="0" indent="0">
              <a:lnSpc>
                <a:spcPct val="100000"/>
              </a:lnSpc>
              <a:buNone/>
              <a:defRPr sz="900"/>
            </a:lvl1pPr>
            <a:lvl2pPr>
              <a:lnSpc>
                <a:spcPct val="100000"/>
              </a:lnSpc>
              <a:defRPr sz="900"/>
            </a:lvl2pPr>
            <a:lvl3pPr>
              <a:lnSpc>
                <a:spcPct val="100000"/>
              </a:lnSpc>
              <a:defRPr sz="900"/>
            </a:lvl3pPr>
          </a:lstStyle>
          <a:p>
            <a:pPr lvl="0"/>
            <a:r>
              <a:rPr lang="en-US"/>
              <a:t>Click to edit Master text styles</a:t>
            </a:r>
          </a:p>
          <a:p>
            <a:pPr lvl="1"/>
            <a:r>
              <a:rPr lang="en-US"/>
              <a:t>Second level</a:t>
            </a:r>
          </a:p>
          <a:p>
            <a:pPr lvl="2"/>
            <a:r>
              <a:rPr lang="en-US"/>
              <a:t>Third level</a:t>
            </a:r>
          </a:p>
        </p:txBody>
      </p:sp>
      <p:sp>
        <p:nvSpPr>
          <p:cNvPr id="9" name="Rectangle 8"/>
          <p:cNvSpPr>
            <a:spLocks noChangeArrowheads="1"/>
          </p:cNvSpPr>
          <p:nvPr userDrawn="1"/>
        </p:nvSpPr>
        <p:spPr bwMode="auto">
          <a:xfrm>
            <a:off x="0" y="0"/>
            <a:ext cx="6094304" cy="562369"/>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013">
              <a:solidFill>
                <a:schemeClr val="accent5"/>
              </a:solidFill>
            </a:endParaRPr>
          </a:p>
        </p:txBody>
      </p:sp>
      <p:sp>
        <p:nvSpPr>
          <p:cNvPr id="10" name="Title 1"/>
          <p:cNvSpPr>
            <a:spLocks noGrp="1"/>
          </p:cNvSpPr>
          <p:nvPr>
            <p:ph type="title" hasCustomPrompt="1"/>
          </p:nvPr>
        </p:nvSpPr>
        <p:spPr>
          <a:xfrm>
            <a:off x="259350" y="-2380"/>
            <a:ext cx="5667318" cy="564749"/>
          </a:xfrm>
        </p:spPr>
        <p:txBody>
          <a:bodyPr>
            <a:normAutofit/>
          </a:bodyPr>
          <a:lstStyle>
            <a:lvl1pPr>
              <a:defRPr sz="1350" b="1" baseline="0">
                <a:solidFill>
                  <a:schemeClr val="tx1"/>
                </a:solidFill>
              </a:defRPr>
            </a:lvl1pPr>
          </a:lstStyle>
          <a:p>
            <a:r>
              <a:rPr lang="en-US" dirty="0"/>
              <a:t>1 column text only slide. Click to add title. </a:t>
            </a:r>
          </a:p>
        </p:txBody>
      </p:sp>
      <p:pic>
        <p:nvPicPr>
          <p:cNvPr id="2" name="Picture 1"/>
          <p:cNvPicPr>
            <a:picLocks noChangeAspect="1"/>
          </p:cNvPicPr>
          <p:nvPr userDrawn="1"/>
        </p:nvPicPr>
        <p:blipFill>
          <a:blip r:embed="rId2"/>
          <a:stretch>
            <a:fillRect/>
          </a:stretch>
        </p:blipFill>
        <p:spPr>
          <a:xfrm>
            <a:off x="6094304" y="-2380"/>
            <a:ext cx="763695" cy="564749"/>
          </a:xfrm>
          <a:prstGeom prst="rect">
            <a:avLst/>
          </a:prstGeom>
        </p:spPr>
      </p:pic>
    </p:spTree>
    <p:extLst>
      <p:ext uri="{BB962C8B-B14F-4D97-AF65-F5344CB8AC3E}">
        <p14:creationId xmlns:p14="http://schemas.microsoft.com/office/powerpoint/2010/main" val="1283366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17198554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4/12/2026</a:t>
            </a:fld>
            <a:endParaRPr lang="en-US" dirty="0"/>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50542115"/>
      </p:ext>
    </p:extLst>
  </p:cSld>
  <p:clrMap bg1="lt1" tx1="dk1" bg2="lt2" tx2="dk2" accent1="accent1" accent2="accent2" accent3="accent3" accent4="accent4" accent5="accent5" accent6="accent6" hlink="hlink" folHlink="folHlink"/>
  <p:sldLayoutIdLst>
    <p:sldLayoutId id="2147483676" r:id="rId1"/>
    <p:sldLayoutId id="2147483691" r:id="rId2"/>
    <p:sldLayoutId id="2147483692" r:id="rId3"/>
    <p:sldLayoutId id="2147483694" r:id="rId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Acacia_Ridge"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ctrTitle"/>
          </p:nvPr>
        </p:nvSpPr>
        <p:spPr>
          <a:xfrm>
            <a:off x="3611881" y="845821"/>
            <a:ext cx="3058762" cy="1242060"/>
          </a:xfrm>
        </p:spPr>
        <p:txBody>
          <a:bodyPr>
            <a:normAutofit/>
          </a:bodyPr>
          <a:lstStyle/>
          <a:p>
            <a:r>
              <a:rPr lang="en-US" altLang="en-US" sz="2400" b="1" dirty="0">
                <a:ea typeface="ＭＳ Ｐゴシック" panose="020B0600070205080204" pitchFamily="34" charset="-128"/>
              </a:rPr>
              <a:t>LAW2102</a:t>
            </a:r>
            <a:br>
              <a:rPr lang="en-US" altLang="en-US" sz="2400" b="1" dirty="0">
                <a:ea typeface="ＭＳ Ｐゴシック" panose="020B0600070205080204" pitchFamily="34" charset="-128"/>
              </a:rPr>
            </a:br>
            <a:r>
              <a:rPr lang="en-US" altLang="en-US" sz="2400" b="1" dirty="0">
                <a:ea typeface="ＭＳ Ｐゴシック" panose="020B0600070205080204" pitchFamily="34" charset="-128"/>
              </a:rPr>
              <a:t>PROPERTY </a:t>
            </a:r>
            <a:r>
              <a:rPr lang="en-US" altLang="en-US" sz="2400" dirty="0">
                <a:ea typeface="ＭＳ Ｐゴシック" panose="020B0600070205080204" pitchFamily="34" charset="-128"/>
              </a:rPr>
              <a:t>LAW </a:t>
            </a:r>
            <a:r>
              <a:rPr lang="en-US" altLang="en-US" sz="2400" b="1" dirty="0">
                <a:ea typeface="ＭＳ Ｐゴシック" panose="020B0600070205080204" pitchFamily="34" charset="-128"/>
              </a:rPr>
              <a:t>1</a:t>
            </a:r>
            <a:br>
              <a:rPr lang="en-US" altLang="en-US" sz="2400" b="1" dirty="0">
                <a:ea typeface="ＭＳ Ｐゴシック" panose="020B0600070205080204" pitchFamily="34" charset="-128"/>
              </a:rPr>
            </a:br>
            <a:endParaRPr lang="en-US" dirty="0"/>
          </a:p>
        </p:txBody>
      </p:sp>
      <p:sp>
        <p:nvSpPr>
          <p:cNvPr id="19" name="Text Placeholder 18"/>
          <p:cNvSpPr>
            <a:spLocks noGrp="1"/>
          </p:cNvSpPr>
          <p:nvPr>
            <p:ph type="body" sz="quarter" idx="11"/>
          </p:nvPr>
        </p:nvSpPr>
        <p:spPr>
          <a:xfrm>
            <a:off x="655845" y="2888243"/>
            <a:ext cx="6148552" cy="1668889"/>
          </a:xfrm>
        </p:spPr>
        <p:txBody>
          <a:bodyPr>
            <a:normAutofit fontScale="85000" lnSpcReduction="20000"/>
          </a:bodyPr>
          <a:lstStyle/>
          <a:p>
            <a:r>
              <a:rPr lang="en-US" altLang="en-US" b="1" dirty="0">
                <a:ea typeface="ＭＳ Ｐゴシック" panose="020B0600070205080204" pitchFamily="34" charset="-128"/>
              </a:rPr>
              <a:t>					Week 9</a:t>
            </a: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a:p>
            <a:endParaRPr lang="en-US" altLang="en-US" b="1" dirty="0">
              <a:ea typeface="ＭＳ Ｐゴシック" panose="020B0600070205080204" pitchFamily="34" charset="-128"/>
            </a:endParaRPr>
          </a:p>
          <a:p>
            <a:r>
              <a:rPr lang="en-US" altLang="en-US" b="1" dirty="0">
                <a:ea typeface="ＭＳ Ｐゴシック" panose="020B0600070205080204" pitchFamily="34" charset="-128"/>
              </a:rPr>
              <a:t>					Torrens System</a:t>
            </a:r>
          </a:p>
          <a:p>
            <a:r>
              <a:rPr lang="en-US" dirty="0"/>
              <a:t>					Semester 1, 2026</a:t>
            </a:r>
          </a:p>
          <a:p>
            <a:r>
              <a:rPr lang="en-US" dirty="0"/>
              <a:t>Godzilla? No. It’s Sir Robert Richard Torrens. 	Presented by Joshua Forrester</a:t>
            </a:r>
          </a:p>
          <a:p>
            <a:r>
              <a:rPr lang="en-US" dirty="0"/>
              <a:t>            (Also known as </a:t>
            </a:r>
            <a:r>
              <a:rPr lang="en-US" dirty="0" err="1"/>
              <a:t>Torrenzilla</a:t>
            </a:r>
            <a:r>
              <a:rPr lang="en-US" dirty="0"/>
              <a:t>)					</a:t>
            </a:r>
          </a:p>
        </p:txBody>
      </p:sp>
      <p:graphicFrame>
        <p:nvGraphicFramePr>
          <p:cNvPr id="2" name="Picture Placeholder 1">
            <a:extLst>
              <a:ext uri="{FF2B5EF4-FFF2-40B4-BE49-F238E27FC236}">
                <a16:creationId xmlns:a16="http://schemas.microsoft.com/office/drawing/2014/main" id="{8DA06D4B-1117-4DEC-9AEC-206D30368E09}"/>
              </a:ext>
            </a:extLst>
          </p:cNvPr>
          <p:cNvGraphicFramePr>
            <a:graphicFrameLocks noGrp="1" noChangeAspect="1"/>
          </p:cNvGraphicFramePr>
          <p:nvPr>
            <p:ph type="pic" sz="quarter" idx="10"/>
            <p:extLst>
              <p:ext uri="{D42A27DB-BD31-4B8C-83A1-F6EECF244321}">
                <p14:modId xmlns:p14="http://schemas.microsoft.com/office/powerpoint/2010/main" val="3853471683"/>
              </p:ext>
            </p:extLst>
          </p:nvPr>
        </p:nvGraphicFramePr>
        <p:xfrm>
          <a:off x="655845" y="1368448"/>
          <a:ext cx="2468629" cy="1406283"/>
        </p:xfrm>
        <a:graphic>
          <a:graphicData uri="http://schemas.openxmlformats.org/presentationml/2006/ole">
            <mc:AlternateContent xmlns:mc="http://schemas.openxmlformats.org/markup-compatibility/2006">
              <mc:Choice xmlns:v="urn:schemas-microsoft-com:vml" Requires="v">
                <p:oleObj name="Packager Shell Object" showAsIcon="1" r:id="rId2" imgW="2549160" imgH="481320" progId="Package">
                  <p:embed/>
                </p:oleObj>
              </mc:Choice>
              <mc:Fallback>
                <p:oleObj name="Packager Shell Object" showAsIcon="1" r:id="rId2" imgW="2549160" imgH="481320" progId="Package">
                  <p:embed/>
                  <p:pic>
                    <p:nvPicPr>
                      <p:cNvPr id="2" name="Picture Placeholder 1">
                        <a:extLst>
                          <a:ext uri="{FF2B5EF4-FFF2-40B4-BE49-F238E27FC236}">
                            <a16:creationId xmlns:a16="http://schemas.microsoft.com/office/drawing/2014/main" id="{8DA06D4B-1117-4DEC-9AEC-206D30368E09}"/>
                          </a:ext>
                        </a:extLst>
                      </p:cNvPr>
                      <p:cNvPicPr/>
                      <p:nvPr/>
                    </p:nvPicPr>
                    <p:blipFill>
                      <a:blip r:embed="rId3"/>
                      <a:stretch>
                        <a:fillRect/>
                      </a:stretch>
                    </p:blipFill>
                    <p:spPr>
                      <a:xfrm>
                        <a:off x="655845" y="1368448"/>
                        <a:ext cx="2468629" cy="1406283"/>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AC88C7F7-D169-4409-BC42-95DFDDFF3FA5}"/>
              </a:ext>
            </a:extLst>
          </p:cNvPr>
          <p:cNvPicPr>
            <a:picLocks noChangeAspect="1"/>
          </p:cNvPicPr>
          <p:nvPr/>
        </p:nvPicPr>
        <p:blipFill>
          <a:blip r:embed="rId4"/>
          <a:stretch>
            <a:fillRect/>
          </a:stretch>
        </p:blipFill>
        <p:spPr>
          <a:xfrm>
            <a:off x="962025" y="1013460"/>
            <a:ext cx="2466975" cy="2788920"/>
          </a:xfrm>
          <a:prstGeom prst="rect">
            <a:avLst/>
          </a:prstGeom>
        </p:spPr>
      </p:pic>
    </p:spTree>
    <p:extLst>
      <p:ext uri="{BB962C8B-B14F-4D97-AF65-F5344CB8AC3E}">
        <p14:creationId xmlns:p14="http://schemas.microsoft.com/office/powerpoint/2010/main" val="113310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4929871" cy="3742815"/>
          </a:xfrm>
        </p:spPr>
        <p:txBody>
          <a:bodyPr>
            <a:normAutofit/>
          </a:bodyPr>
          <a:lstStyle/>
          <a:p>
            <a:pPr marL="535781" indent="-535781" algn="just">
              <a:spcBef>
                <a:spcPts val="900"/>
              </a:spcBef>
              <a:buNone/>
              <a:defRPr/>
            </a:pPr>
            <a:r>
              <a:rPr lang="en-US" altLang="en-US" sz="1600" dirty="0">
                <a:ea typeface="ＭＳ Ｐゴシック" pitchFamily="34" charset="-128"/>
              </a:rPr>
              <a:t>From this lecture you should be able to understand:</a:t>
            </a:r>
          </a:p>
          <a:p>
            <a:pPr marL="342900" indent="-342900" algn="just">
              <a:spcBef>
                <a:spcPts val="900"/>
              </a:spcBef>
              <a:buFont typeface="+mj-lt"/>
              <a:buAutoNum type="arabicPeriod"/>
              <a:defRPr/>
            </a:pPr>
            <a:r>
              <a:rPr lang="en-US" altLang="en-US" sz="1600" dirty="0">
                <a:ea typeface="ＭＳ Ｐゴシック" pitchFamily="34" charset="-128"/>
              </a:rPr>
              <a:t>The purpose and objectives of the Torrens system.</a:t>
            </a:r>
          </a:p>
          <a:p>
            <a:pPr marL="342900" indent="-342900" algn="just">
              <a:spcBef>
                <a:spcPts val="900"/>
              </a:spcBef>
              <a:buFont typeface="+mj-lt"/>
              <a:buAutoNum type="arabicPeriod"/>
              <a:defRPr/>
            </a:pPr>
            <a:r>
              <a:rPr lang="en-US" altLang="en-US" sz="1600" dirty="0">
                <a:ea typeface="ＭＳ Ｐゴシック" pitchFamily="34" charset="-128"/>
              </a:rPr>
              <a:t>How the system of deeds registration operates.</a:t>
            </a:r>
          </a:p>
          <a:p>
            <a:pPr marL="342900" indent="-342900" algn="just">
              <a:spcBef>
                <a:spcPts val="900"/>
              </a:spcBef>
              <a:buFont typeface="+mj-lt"/>
              <a:buAutoNum type="arabicPeriod"/>
              <a:defRPr/>
            </a:pPr>
            <a:r>
              <a:rPr lang="en-US" altLang="en-US" sz="1600" dirty="0">
                <a:ea typeface="ＭＳ Ｐゴシック" pitchFamily="34" charset="-128"/>
              </a:rPr>
              <a:t>The effect of registration on the laws on priorities.</a:t>
            </a:r>
          </a:p>
          <a:p>
            <a:pPr marL="342900" indent="-342900" algn="just">
              <a:spcBef>
                <a:spcPts val="900"/>
              </a:spcBef>
              <a:buFont typeface="+mj-lt"/>
              <a:buAutoNum type="arabicPeriod"/>
              <a:defRPr/>
            </a:pPr>
            <a:r>
              <a:rPr lang="en-US" altLang="en-US" sz="1600" dirty="0">
                <a:ea typeface="ＭＳ Ｐゴシック" pitchFamily="34" charset="-128"/>
              </a:rPr>
              <a:t>The effect of unregistered instruments.</a:t>
            </a:r>
          </a:p>
          <a:p>
            <a:pPr marL="342900" indent="-342900" algn="just">
              <a:spcBef>
                <a:spcPts val="900"/>
              </a:spcBef>
              <a:buFont typeface="+mj-lt"/>
              <a:buAutoNum type="arabicPeriod"/>
              <a:defRPr/>
            </a:pPr>
            <a:r>
              <a:rPr lang="en-US" altLang="en-US" sz="1600" dirty="0">
                <a:ea typeface="ＭＳ Ｐゴシック" pitchFamily="34" charset="-128"/>
              </a:rPr>
              <a:t>The concept of deferred and immediate indefeasibility of title and exceptions to indefeasibility under the TLA.</a:t>
            </a:r>
          </a:p>
          <a:p>
            <a:pPr marL="342900" indent="-342900" algn="just">
              <a:spcBef>
                <a:spcPts val="900"/>
              </a:spcBef>
              <a:buFont typeface="+mj-lt"/>
              <a:buAutoNum type="arabicPeriod"/>
              <a:defRPr/>
            </a:pPr>
            <a:r>
              <a:rPr lang="en-US" altLang="en-US" sz="1600" dirty="0">
                <a:ea typeface="ＭＳ Ｐゴシック" pitchFamily="34" charset="-128"/>
              </a:rPr>
              <a:t>Relevant sections of the </a:t>
            </a:r>
            <a:r>
              <a:rPr lang="en-US" altLang="en-US" sz="1600" i="1" dirty="0">
                <a:ea typeface="ＭＳ Ｐゴシック" pitchFamily="34" charset="-128"/>
              </a:rPr>
              <a:t>Transfer of Land Act 1893 </a:t>
            </a:r>
            <a:r>
              <a:rPr lang="en-US" altLang="en-US" sz="1600" dirty="0">
                <a:ea typeface="ＭＳ Ｐゴシック" pitchFamily="34" charset="-128"/>
              </a:rPr>
              <a:t>(</a:t>
            </a:r>
            <a:r>
              <a:rPr lang="en-US" altLang="en-US" sz="1600">
                <a:ea typeface="ＭＳ Ｐゴシック" pitchFamily="34" charset="-128"/>
              </a:rPr>
              <a:t>WA).</a:t>
            </a:r>
            <a:endParaRPr lang="en-US" altLang="en-US" sz="1600" dirty="0">
              <a:ea typeface="ＭＳ Ｐゴシック" pitchFamily="34" charset="-128"/>
            </a:endParaRPr>
          </a:p>
          <a:p>
            <a:pPr algn="just">
              <a:spcBef>
                <a:spcPts val="900"/>
              </a:spcBef>
              <a:defRPr/>
            </a:pPr>
            <a:endParaRPr lang="en-US" altLang="en-US" sz="1600" i="1" dirty="0">
              <a:ea typeface="ＭＳ Ｐゴシック" pitchFamily="34" charset="-128"/>
            </a:endParaRPr>
          </a:p>
          <a:p>
            <a:pPr algn="just">
              <a:spcBef>
                <a:spcPts val="900"/>
              </a:spcBef>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2000" dirty="0">
                <a:solidFill>
                  <a:schemeClr val="bg1"/>
                </a:solidFill>
              </a:rPr>
              <a:t>Today’s Agenda/Learning Objectives</a:t>
            </a:r>
          </a:p>
        </p:txBody>
      </p:sp>
    </p:spTree>
    <p:extLst>
      <p:ext uri="{BB962C8B-B14F-4D97-AF65-F5344CB8AC3E}">
        <p14:creationId xmlns:p14="http://schemas.microsoft.com/office/powerpoint/2010/main" val="3656083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0" y="647700"/>
            <a:ext cx="6484690" cy="4416184"/>
          </a:xfrm>
        </p:spPr>
        <p:txBody>
          <a:bodyPr>
            <a:normAutofit fontScale="40000" lnSpcReduction="20000"/>
          </a:bodyPr>
          <a:lstStyle/>
          <a:p>
            <a:pPr marL="360363" algn="just">
              <a:spcBef>
                <a:spcPts val="900"/>
              </a:spcBef>
              <a:buNone/>
              <a:defRPr/>
            </a:pPr>
            <a:r>
              <a:rPr lang="en-US" altLang="en-US" sz="4000" b="1" i="1" spc="23" dirty="0">
                <a:ea typeface="ＭＳ Ｐゴシック" pitchFamily="34" charset="-128"/>
              </a:rPr>
              <a:t>Transfer of Land Act 1893 </a:t>
            </a:r>
            <a:r>
              <a:rPr lang="en-US" altLang="en-US" sz="4000" b="1" spc="23" dirty="0">
                <a:ea typeface="ＭＳ Ｐゴシック" pitchFamily="34" charset="-128"/>
              </a:rPr>
              <a:t>(WA)</a:t>
            </a:r>
          </a:p>
          <a:p>
            <a:pPr marL="360363" algn="just">
              <a:spcBef>
                <a:spcPts val="900"/>
              </a:spcBef>
              <a:buNone/>
              <a:defRPr/>
            </a:pPr>
            <a:r>
              <a:rPr lang="en-US" altLang="en-US" sz="4000" spc="23" dirty="0">
                <a:ea typeface="ＭＳ Ｐゴシック" pitchFamily="34" charset="-128"/>
              </a:rPr>
              <a:t>An Act to consolidate the law relating to the simplification of the title to and the dealing with estates in land.</a:t>
            </a:r>
            <a:endParaRPr lang="en-US" altLang="en-US" sz="4000" i="1" dirty="0">
              <a:ea typeface="ＭＳ Ｐゴシック" pitchFamily="34" charset="-128"/>
            </a:endParaRPr>
          </a:p>
          <a:p>
            <a:pPr marL="536575" algn="just">
              <a:spcBef>
                <a:spcPts val="900"/>
              </a:spcBef>
              <a:buNone/>
              <a:defRPr/>
            </a:pPr>
            <a:r>
              <a:rPr lang="en-US" altLang="en-US" sz="3800" dirty="0">
                <a:ea typeface="ＭＳ Ｐゴシック" pitchFamily="34" charset="-128"/>
              </a:rPr>
              <a:t>One of the cardinal objectives of the Torrens system is to </a:t>
            </a:r>
            <a:r>
              <a:rPr lang="en-US" altLang="en-US" sz="3800" b="1" dirty="0">
                <a:ea typeface="ＭＳ Ｐゴシック" pitchFamily="34" charset="-128"/>
              </a:rPr>
              <a:t>facilitate the proof of title </a:t>
            </a:r>
            <a:r>
              <a:rPr lang="en-US" altLang="en-US" sz="3800" dirty="0">
                <a:ea typeface="ＭＳ Ｐゴシック" pitchFamily="34" charset="-128"/>
              </a:rPr>
              <a:t>to estates in land. It was of the very essence of the scheme designated by Torrens that henceforth, the mere presence of the document of title in the register book should prove such title to all the world and against the world. Therefore, every bona fide purchaser without notice </a:t>
            </a:r>
            <a:r>
              <a:rPr lang="en-US" altLang="en-US" sz="3800" b="1" dirty="0">
                <a:ea typeface="ＭＳ Ｐゴシック" pitchFamily="34" charset="-128"/>
              </a:rPr>
              <a:t>can rely absolutely on the title appearing in the register book</a:t>
            </a:r>
            <a:r>
              <a:rPr lang="en-US" altLang="en-US" sz="3800" dirty="0">
                <a:ea typeface="ＭＳ Ｐゴシック" pitchFamily="34" charset="-128"/>
              </a:rPr>
              <a:t>, and on becoming registered in respect of such title, cannot be defeated in his purchase, notwithstanding whatsoever flaws there may have been in the title of his vendor.</a:t>
            </a:r>
          </a:p>
          <a:p>
            <a:pPr marL="360363" algn="just">
              <a:spcBef>
                <a:spcPts val="900"/>
              </a:spcBef>
              <a:buNone/>
              <a:defRPr/>
            </a:pPr>
            <a:r>
              <a:rPr lang="en-US" altLang="en-US" sz="4000" dirty="0">
                <a:ea typeface="ＭＳ Ｐゴシック" pitchFamily="34" charset="-128"/>
              </a:rPr>
              <a:t>Kerr, </a:t>
            </a:r>
            <a:r>
              <a:rPr lang="en-US" altLang="en-US" sz="4000" i="1" dirty="0">
                <a:ea typeface="ＭＳ Ｐゴシック" pitchFamily="34" charset="-128"/>
              </a:rPr>
              <a:t>The Principles of the Australian Land Titles (Torrens) System</a:t>
            </a:r>
            <a:r>
              <a:rPr lang="en-US" altLang="en-US" sz="4000" dirty="0">
                <a:ea typeface="ＭＳ Ｐゴシック" pitchFamily="34" charset="-128"/>
              </a:rPr>
              <a:t>, 1927, 165</a:t>
            </a:r>
          </a:p>
          <a:p>
            <a:pPr marL="535781" indent="-535781" algn="just">
              <a:spcBef>
                <a:spcPts val="900"/>
              </a:spcBef>
              <a:buNone/>
              <a:defRPr/>
            </a:pPr>
            <a:endParaRPr lang="en-US" altLang="en-US" sz="1900" dirty="0">
              <a:ea typeface="ＭＳ Ｐゴシック" pitchFamily="34" charset="-128"/>
            </a:endParaRPr>
          </a:p>
          <a:p>
            <a:pPr marL="535781" indent="-535781" algn="just">
              <a:spcBef>
                <a:spcPts val="900"/>
              </a:spcBef>
              <a:buNone/>
              <a:defRPr/>
            </a:pPr>
            <a:endParaRPr lang="en-US" altLang="en-US" sz="900" dirty="0">
              <a:ea typeface="ＭＳ Ｐゴシック" pitchFamily="34" charset="-128"/>
            </a:endParaRPr>
          </a:p>
          <a:p>
            <a:pPr marL="535781" indent="-535781" algn="just">
              <a:spcBef>
                <a:spcPts val="900"/>
              </a:spcBef>
              <a:buNone/>
              <a:defRPr/>
            </a:pPr>
            <a:endParaRPr lang="en-US" altLang="en-US" sz="900" dirty="0">
              <a:ea typeface="ＭＳ Ｐゴシック" pitchFamily="34" charset="-128"/>
            </a:endParaRPr>
          </a:p>
          <a:p>
            <a:pPr marL="535781" indent="-535781" algn="just">
              <a:spcBef>
                <a:spcPts val="900"/>
              </a:spcBef>
              <a:buNone/>
              <a:defRPr/>
            </a:pPr>
            <a:endParaRPr lang="en-US" altLang="en-US" dirty="0">
              <a:ea typeface="ＭＳ Ｐゴシック" pitchFamily="34" charset="-128"/>
            </a:endParaRPr>
          </a:p>
          <a:p>
            <a:pPr marL="535781" indent="-535781" algn="just">
              <a:spcBef>
                <a:spcPts val="900"/>
              </a:spcBef>
              <a:buNone/>
              <a:defRPr/>
            </a:pPr>
            <a:r>
              <a:rPr lang="en-AU" altLang="en-US" sz="900" spc="23" dirty="0">
                <a:ea typeface="ＭＳ Ｐゴシック" pitchFamily="34" charset="-128"/>
              </a:rPr>
              <a:t>	</a:t>
            </a:r>
            <a:endParaRPr lang="en-AU" altLang="en-US" sz="900" i="1" spc="23" dirty="0">
              <a:ea typeface="ＭＳ Ｐゴシック" pitchFamily="34" charset="-128"/>
            </a:endParaRPr>
          </a:p>
          <a:p>
            <a:pPr marL="535781" indent="-535781" algn="just">
              <a:spcBef>
                <a:spcPts val="900"/>
              </a:spcBef>
              <a:buNone/>
              <a:defRPr/>
            </a:pPr>
            <a:r>
              <a:rPr lang="en-AU" altLang="en-US" sz="900" i="1" spc="23" dirty="0">
                <a:ea typeface="ＭＳ Ｐゴシック" pitchFamily="34" charset="-128"/>
              </a:rPr>
              <a:t>	</a:t>
            </a:r>
            <a:endParaRPr lang="en-US" altLang="en-US" sz="900" dirty="0">
              <a:ea typeface="ＭＳ Ｐゴシック" pitchFamily="34" charset="-128"/>
            </a:endParaRPr>
          </a:p>
          <a:p>
            <a:pPr marL="535781" indent="-535781" algn="just">
              <a:spcBef>
                <a:spcPts val="900"/>
              </a:spcBef>
              <a:buNone/>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Purpose and Objectives of Torrens System</a:t>
            </a:r>
          </a:p>
        </p:txBody>
      </p:sp>
    </p:spTree>
    <p:extLst>
      <p:ext uri="{BB962C8B-B14F-4D97-AF65-F5344CB8AC3E}">
        <p14:creationId xmlns:p14="http://schemas.microsoft.com/office/powerpoint/2010/main" val="324186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0" y="675261"/>
            <a:ext cx="3834478" cy="4173976"/>
          </a:xfrm>
        </p:spPr>
        <p:txBody>
          <a:bodyPr>
            <a:normAutofit fontScale="40000" lnSpcReduction="20000"/>
          </a:bodyPr>
          <a:lstStyle/>
          <a:p>
            <a:pPr marL="535781" indent="-535781" algn="just">
              <a:spcBef>
                <a:spcPts val="900"/>
              </a:spcBef>
              <a:buNone/>
              <a:defRPr/>
            </a:pPr>
            <a:endParaRPr lang="en-US" altLang="en-US" sz="900" dirty="0">
              <a:ea typeface="ＭＳ Ｐゴシック" pitchFamily="34" charset="-128"/>
            </a:endParaRPr>
          </a:p>
          <a:p>
            <a:pPr>
              <a:buNone/>
            </a:pPr>
            <a:r>
              <a:rPr lang="en-AU" altLang="en-US" sz="4000" dirty="0">
                <a:ea typeface="ＭＳ Ｐゴシック" panose="020B0600070205080204" pitchFamily="34" charset="-128"/>
              </a:rPr>
              <a:t>The Torrens system priority is based on the date of registration, not the date of execution: s 53(2) TLA.</a:t>
            </a:r>
          </a:p>
          <a:p>
            <a:pPr>
              <a:buNone/>
            </a:pPr>
            <a:r>
              <a:rPr lang="en-AU" altLang="en-US" sz="4000" dirty="0">
                <a:ea typeface="ＭＳ Ｐゴシック" panose="020B0600070205080204" pitchFamily="34" charset="-128"/>
              </a:rPr>
              <a:t>Registration creates a legal interest in property or, as Barwick CJ once famously said, the Torrens system </a:t>
            </a:r>
            <a:r>
              <a:rPr lang="en-US" altLang="en-US" sz="4000" dirty="0">
                <a:ea typeface="ＭＳ Ｐゴシック" panose="020B0600070205080204" pitchFamily="34" charset="-128"/>
              </a:rPr>
              <a:t>‘</a:t>
            </a:r>
            <a:r>
              <a:rPr lang="en-US" sz="4000" dirty="0"/>
              <a:t>is not a system of registration of title but a system of title by registration’</a:t>
            </a:r>
            <a:r>
              <a:rPr lang="en-AU" sz="4000" dirty="0">
                <a:ea typeface="ＭＳ Ｐゴシック" panose="020B0600070205080204" pitchFamily="34" charset="-128"/>
              </a:rPr>
              <a:t>: </a:t>
            </a:r>
            <a:r>
              <a:rPr lang="en-AU" sz="4000" i="1" dirty="0" err="1">
                <a:ea typeface="ＭＳ Ｐゴシック" panose="020B0600070205080204" pitchFamily="34" charset="-128"/>
              </a:rPr>
              <a:t>Breskvar</a:t>
            </a:r>
            <a:r>
              <a:rPr lang="en-AU" sz="4000" i="1" dirty="0">
                <a:ea typeface="ＭＳ Ｐゴシック" panose="020B0600070205080204" pitchFamily="34" charset="-128"/>
              </a:rPr>
              <a:t> v Wall </a:t>
            </a:r>
            <a:r>
              <a:rPr lang="en-AU" sz="4000" dirty="0">
                <a:ea typeface="ＭＳ Ｐゴシック" panose="020B0600070205080204" pitchFamily="34" charset="-128"/>
              </a:rPr>
              <a:t>(1971) 126 CLR</a:t>
            </a:r>
            <a:r>
              <a:rPr lang="da-DK" sz="4000" dirty="0"/>
              <a:t> 376, 386.</a:t>
            </a:r>
          </a:p>
          <a:p>
            <a:pPr>
              <a:buNone/>
            </a:pPr>
            <a:r>
              <a:rPr lang="en-AU" altLang="en-US" sz="4000" dirty="0">
                <a:ea typeface="ＭＳ Ｐゴシック" panose="020B0600070205080204" pitchFamily="34" charset="-128"/>
              </a:rPr>
              <a:t>This legal interest takes </a:t>
            </a:r>
            <a:r>
              <a:rPr lang="en-AU" altLang="en-US" sz="4000" b="1" dirty="0">
                <a:ea typeface="ＭＳ Ｐゴシック" panose="020B0600070205080204" pitchFamily="34" charset="-128"/>
              </a:rPr>
              <a:t>priority</a:t>
            </a:r>
            <a:r>
              <a:rPr lang="en-AU" altLang="en-US" sz="4000" dirty="0">
                <a:ea typeface="ＭＳ Ｐゴシック" panose="020B0600070205080204" pitchFamily="34" charset="-128"/>
              </a:rPr>
              <a:t> over all later registered (legal) and all (earlier and later) unregistered (equitable) interests…</a:t>
            </a:r>
          </a:p>
          <a:p>
            <a:pPr>
              <a:buNone/>
            </a:pPr>
            <a:r>
              <a:rPr lang="en-AU" altLang="en-US" sz="4000" dirty="0">
                <a:ea typeface="ＭＳ Ｐゴシック" panose="020B0600070205080204" pitchFamily="34" charset="-128"/>
              </a:rPr>
              <a:t>UNLESS there are exceptions (discussed later).</a:t>
            </a:r>
            <a:endParaRPr lang="en-US" altLang="en-US" sz="4000" dirty="0">
              <a:ea typeface="ＭＳ Ｐゴシック" pitchFamily="34" charset="-128"/>
            </a:endParaRPr>
          </a:p>
          <a:p>
            <a:pPr marL="535781" indent="-535781" algn="just">
              <a:spcBef>
                <a:spcPts val="900"/>
              </a:spcBef>
              <a:buNone/>
              <a:defRPr/>
            </a:pPr>
            <a:endParaRPr lang="en-US" altLang="en-US" sz="2500" dirty="0">
              <a:ea typeface="ＭＳ Ｐゴシック" pitchFamily="34" charset="-128"/>
            </a:endParaRPr>
          </a:p>
          <a:p>
            <a:pPr marL="535781" indent="-535781" algn="just">
              <a:spcBef>
                <a:spcPts val="900"/>
              </a:spcBef>
              <a:buNone/>
              <a:defRPr/>
            </a:pPr>
            <a:r>
              <a:rPr lang="en-AU" altLang="en-US" sz="900" spc="23" dirty="0">
                <a:ea typeface="ＭＳ Ｐゴシック" pitchFamily="34" charset="-128"/>
              </a:rPr>
              <a:t>	</a:t>
            </a:r>
            <a:endParaRPr lang="en-AU" altLang="en-US" sz="900" i="1" spc="23" dirty="0">
              <a:ea typeface="ＭＳ Ｐゴシック" pitchFamily="34" charset="-128"/>
            </a:endParaRPr>
          </a:p>
          <a:p>
            <a:pPr marL="535781" indent="-535781" algn="just">
              <a:spcBef>
                <a:spcPts val="900"/>
              </a:spcBef>
              <a:buNone/>
              <a:defRPr/>
            </a:pPr>
            <a:r>
              <a:rPr lang="en-AU" altLang="en-US" sz="900" i="1" spc="23" dirty="0">
                <a:ea typeface="ＭＳ Ｐゴシック" pitchFamily="34" charset="-128"/>
              </a:rPr>
              <a:t>	</a:t>
            </a:r>
            <a:endParaRPr lang="en-US" altLang="en-US" sz="900" dirty="0">
              <a:ea typeface="ＭＳ Ｐゴシック" pitchFamily="34" charset="-128"/>
            </a:endParaRPr>
          </a:p>
          <a:p>
            <a:pPr marL="535781" indent="-535781" algn="just">
              <a:spcBef>
                <a:spcPts val="900"/>
              </a:spcBef>
              <a:buNone/>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Purpose and Objectives of Torrens System</a:t>
            </a:r>
          </a:p>
        </p:txBody>
      </p:sp>
      <p:pic>
        <p:nvPicPr>
          <p:cNvPr id="5" name="Picture 4" descr="A donkey and a bear in a pen&#10;&#10;Description automatically generated">
            <a:extLst>
              <a:ext uri="{FF2B5EF4-FFF2-40B4-BE49-F238E27FC236}">
                <a16:creationId xmlns:a16="http://schemas.microsoft.com/office/drawing/2014/main" id="{C77B3640-AAFB-510B-267F-5EBD7CA97E58}"/>
              </a:ext>
            </a:extLst>
          </p:cNvPr>
          <p:cNvPicPr>
            <a:picLocks noChangeAspect="1"/>
          </p:cNvPicPr>
          <p:nvPr/>
        </p:nvPicPr>
        <p:blipFill>
          <a:blip r:embed="rId2"/>
          <a:stretch>
            <a:fillRect/>
          </a:stretch>
        </p:blipFill>
        <p:spPr>
          <a:xfrm>
            <a:off x="4287882" y="873203"/>
            <a:ext cx="2310768" cy="3631684"/>
          </a:xfrm>
          <a:prstGeom prst="rect">
            <a:avLst/>
          </a:prstGeom>
        </p:spPr>
      </p:pic>
    </p:spTree>
    <p:extLst>
      <p:ext uri="{BB962C8B-B14F-4D97-AF65-F5344CB8AC3E}">
        <p14:creationId xmlns:p14="http://schemas.microsoft.com/office/powerpoint/2010/main" val="18712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6FFF16A2-6917-4A51-9E6C-CBF1048D187D}"/>
              </a:ext>
            </a:extLst>
          </p:cNvPr>
          <p:cNvSpPr>
            <a:spLocks noGrp="1" noChangeArrowheads="1"/>
          </p:cNvSpPr>
          <p:nvPr>
            <p:ph type="title"/>
          </p:nvPr>
        </p:nvSpPr>
        <p:spPr>
          <a:xfrm>
            <a:off x="134541" y="126125"/>
            <a:ext cx="6326386" cy="348936"/>
          </a:xfrm>
        </p:spPr>
        <p:txBody>
          <a:bodyPr>
            <a:noAutofit/>
          </a:bodyPr>
          <a:lstStyle/>
          <a:p>
            <a:r>
              <a:rPr lang="en-US" altLang="en-US" sz="2000" b="1" dirty="0">
                <a:latin typeface="Arial" panose="020B0604020202020204" pitchFamily="34" charset="0"/>
                <a:ea typeface="ＭＳ Ｐゴシック" panose="020B0600070205080204" pitchFamily="34" charset="-128"/>
                <a:cs typeface="Arial" panose="020B0604020202020204" pitchFamily="34" charset="0"/>
              </a:rPr>
              <a:t>Torrens registration process</a:t>
            </a:r>
            <a:endParaRPr lang="en-AU" altLang="en-US" sz="2000" b="1"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5123" name="Content Placeholder 2">
            <a:extLst>
              <a:ext uri="{FF2B5EF4-FFF2-40B4-BE49-F238E27FC236}">
                <a16:creationId xmlns:a16="http://schemas.microsoft.com/office/drawing/2014/main" id="{C3BDD786-0904-42E3-ACF7-B897E564F9DC}"/>
              </a:ext>
            </a:extLst>
          </p:cNvPr>
          <p:cNvSpPr>
            <a:spLocks noGrp="1"/>
          </p:cNvSpPr>
          <p:nvPr>
            <p:ph idx="1"/>
          </p:nvPr>
        </p:nvSpPr>
        <p:spPr>
          <a:xfrm>
            <a:off x="134541" y="475061"/>
            <a:ext cx="6723459" cy="4668440"/>
          </a:xfrm>
        </p:spPr>
        <p:txBody>
          <a:bodyPr/>
          <a:lstStyle/>
          <a:p>
            <a:pPr marL="0" indent="0" algn="just">
              <a:spcBef>
                <a:spcPts val="1350"/>
              </a:spcBef>
              <a:buNone/>
              <a:defRPr/>
            </a:pPr>
            <a:endParaRPr lang="en-AU" altLang="en-US" sz="1400" b="1" dirty="0">
              <a:ea typeface="ＭＳ Ｐゴシック" panose="020B0600070205080204" pitchFamily="34" charset="-128"/>
            </a:endParaRPr>
          </a:p>
          <a:p>
            <a:pPr marL="0" indent="0" algn="just">
              <a:spcBef>
                <a:spcPts val="1350"/>
              </a:spcBef>
              <a:buNone/>
              <a:defRPr/>
            </a:pPr>
            <a:r>
              <a:rPr lang="en-AU" altLang="en-US" sz="1400" b="1" dirty="0">
                <a:ea typeface="ＭＳ Ｐゴシック" panose="020B0600070205080204" pitchFamily="34" charset="-128"/>
              </a:rPr>
              <a:t>Part III Certificates of Title &amp; Registration ss 48-52 TLA</a:t>
            </a:r>
          </a:p>
          <a:p>
            <a:pPr marL="0" indent="0" algn="just">
              <a:spcBef>
                <a:spcPts val="900"/>
              </a:spcBef>
              <a:buNone/>
              <a:defRPr/>
            </a:pPr>
            <a:r>
              <a:rPr lang="en-AU" altLang="en-US" sz="1400" dirty="0">
                <a:ea typeface="ＭＳ Ｐゴシック" panose="020B0600070205080204" pitchFamily="34" charset="-128"/>
              </a:rPr>
              <a:t>Registrar maintains a register book which comprises certificates of title representing parcels of land (s 48)</a:t>
            </a: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r>
              <a:rPr lang="en-AU" altLang="en-US" sz="1400" dirty="0">
                <a:ea typeface="ＭＳ Ｐゴシック" panose="020B0600070205080204" pitchFamily="34" charset="-128"/>
              </a:rPr>
              <a:t>New certificate of title created in approved form (s 48A)</a:t>
            </a: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r>
              <a:rPr lang="en-AU" altLang="en-US" sz="1400" dirty="0">
                <a:ea typeface="ＭＳ Ｐゴシック" panose="020B0600070205080204" pitchFamily="34" charset="-128"/>
              </a:rPr>
              <a:t>Registrar </a:t>
            </a:r>
            <a:r>
              <a:rPr lang="en-AU" altLang="en-US" sz="1400" b="1" dirty="0">
                <a:ea typeface="ＭＳ Ｐゴシック" panose="020B0600070205080204" pitchFamily="34" charset="-128"/>
              </a:rPr>
              <a:t>must not issue</a:t>
            </a:r>
            <a:r>
              <a:rPr lang="en-AU" altLang="en-US" sz="1400" dirty="0">
                <a:ea typeface="ＭＳ Ｐゴシック" panose="020B0600070205080204" pitchFamily="34" charset="-128"/>
              </a:rPr>
              <a:t> duplicate certificate of title (s 48B) (since 2022) </a:t>
            </a: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r>
              <a:rPr lang="en-AU" altLang="en-US" sz="1400" dirty="0">
                <a:ea typeface="ＭＳ Ｐゴシック" panose="020B0600070205080204" pitchFamily="34" charset="-128"/>
              </a:rPr>
              <a:t>CT registered in book when given a reference number and has been sealed (s 52)</a:t>
            </a: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endParaRPr lang="en-AU" altLang="en-US" sz="1400" dirty="0">
              <a:ea typeface="ＭＳ Ｐゴシック" panose="020B0600070205080204" pitchFamily="34" charset="-128"/>
            </a:endParaRPr>
          </a:p>
          <a:p>
            <a:pPr marL="535781" indent="-535781" algn="just">
              <a:spcBef>
                <a:spcPts val="900"/>
              </a:spcBef>
              <a:buNone/>
              <a:defRPr/>
            </a:pPr>
            <a:r>
              <a:rPr lang="en-AU" altLang="en-US" sz="1400" dirty="0">
                <a:ea typeface="ＭＳ Ｐゴシック" panose="020B0600070205080204" pitchFamily="34" charset="-128"/>
              </a:rPr>
              <a:t>CT instruments registered in the order in which they are lodged (s 53) </a:t>
            </a:r>
          </a:p>
          <a:p>
            <a:pPr marL="535781" indent="-535781" algn="just">
              <a:spcBef>
                <a:spcPts val="900"/>
              </a:spcBef>
              <a:buNone/>
              <a:defRPr/>
            </a:pPr>
            <a:endParaRPr lang="en-AU" altLang="en-US" sz="1650" dirty="0">
              <a:ea typeface="ＭＳ Ｐゴシック" panose="020B0600070205080204" pitchFamily="34" charset="-128"/>
            </a:endParaRPr>
          </a:p>
        </p:txBody>
      </p:sp>
      <p:sp>
        <p:nvSpPr>
          <p:cNvPr id="2" name="Arrow: Down 1">
            <a:extLst>
              <a:ext uri="{FF2B5EF4-FFF2-40B4-BE49-F238E27FC236}">
                <a16:creationId xmlns:a16="http://schemas.microsoft.com/office/drawing/2014/main" id="{275623EF-64D6-40C9-9C81-9756AAAF06D2}"/>
              </a:ext>
            </a:extLst>
          </p:cNvPr>
          <p:cNvSpPr/>
          <p:nvPr/>
        </p:nvSpPr>
        <p:spPr>
          <a:xfrm>
            <a:off x="2970610" y="1610738"/>
            <a:ext cx="363141" cy="406241"/>
          </a:xfrm>
          <a:prstGeom prst="down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AU" sz="1013"/>
          </a:p>
        </p:txBody>
      </p:sp>
      <p:sp>
        <p:nvSpPr>
          <p:cNvPr id="5" name="Arrow: Down 4">
            <a:extLst>
              <a:ext uri="{FF2B5EF4-FFF2-40B4-BE49-F238E27FC236}">
                <a16:creationId xmlns:a16="http://schemas.microsoft.com/office/drawing/2014/main" id="{B24A7EA2-1688-4E49-A8E0-D80AE45368C0}"/>
              </a:ext>
            </a:extLst>
          </p:cNvPr>
          <p:cNvSpPr/>
          <p:nvPr/>
        </p:nvSpPr>
        <p:spPr>
          <a:xfrm>
            <a:off x="2989660" y="2210097"/>
            <a:ext cx="364331" cy="540544"/>
          </a:xfrm>
          <a:prstGeom prst="down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AU" sz="1013"/>
          </a:p>
        </p:txBody>
      </p:sp>
      <p:sp>
        <p:nvSpPr>
          <p:cNvPr id="6" name="Arrow: Down 5">
            <a:extLst>
              <a:ext uri="{FF2B5EF4-FFF2-40B4-BE49-F238E27FC236}">
                <a16:creationId xmlns:a16="http://schemas.microsoft.com/office/drawing/2014/main" id="{FC0FDE92-12C0-4545-A32E-0C84A2274016}"/>
              </a:ext>
            </a:extLst>
          </p:cNvPr>
          <p:cNvSpPr/>
          <p:nvPr/>
        </p:nvSpPr>
        <p:spPr>
          <a:xfrm>
            <a:off x="2970610" y="3132118"/>
            <a:ext cx="364331" cy="539354"/>
          </a:xfrm>
          <a:prstGeom prst="down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AU" sz="1013" dirty="0"/>
          </a:p>
        </p:txBody>
      </p:sp>
      <p:sp>
        <p:nvSpPr>
          <p:cNvPr id="7" name="Arrow: Down 6">
            <a:extLst>
              <a:ext uri="{FF2B5EF4-FFF2-40B4-BE49-F238E27FC236}">
                <a16:creationId xmlns:a16="http://schemas.microsoft.com/office/drawing/2014/main" id="{F0D15B4F-41D2-49F4-B099-AB33A62D483D}"/>
              </a:ext>
            </a:extLst>
          </p:cNvPr>
          <p:cNvSpPr/>
          <p:nvPr/>
        </p:nvSpPr>
        <p:spPr>
          <a:xfrm>
            <a:off x="2979660" y="4052949"/>
            <a:ext cx="364331" cy="539353"/>
          </a:xfrm>
          <a:prstGeom prst="down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AU" sz="101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348075" y="806018"/>
            <a:ext cx="5826222" cy="4078332"/>
          </a:xfrm>
        </p:spPr>
        <p:txBody>
          <a:bodyPr>
            <a:normAutofit fontScale="85000" lnSpcReduction="10000"/>
          </a:bodyPr>
          <a:lstStyle/>
          <a:p>
            <a:pPr algn="just">
              <a:spcBef>
                <a:spcPts val="900"/>
              </a:spcBef>
              <a:buNone/>
            </a:pPr>
            <a:r>
              <a:rPr lang="en-US" altLang="en-US" sz="2000" dirty="0">
                <a:solidFill>
                  <a:srgbClr val="FF0000"/>
                </a:solidFill>
                <a:ea typeface="ＭＳ Ｐゴシック" panose="020B0600070205080204" pitchFamily="34" charset="-128"/>
              </a:rPr>
              <a:t>The act of registration of an interest not only records the title but </a:t>
            </a:r>
            <a:r>
              <a:rPr lang="en-US" altLang="en-US" sz="2000" b="1" dirty="0">
                <a:solidFill>
                  <a:srgbClr val="FF0000"/>
                </a:solidFill>
                <a:ea typeface="ＭＳ Ｐゴシック" panose="020B0600070205080204" pitchFamily="34" charset="-128"/>
              </a:rPr>
              <a:t>registration itself creates legal title</a:t>
            </a:r>
            <a:r>
              <a:rPr lang="en-US" altLang="en-US" sz="2000" dirty="0">
                <a:solidFill>
                  <a:srgbClr val="FF0000"/>
                </a:solidFill>
                <a:ea typeface="ＭＳ Ｐゴシック" panose="020B0600070205080204" pitchFamily="34" charset="-128"/>
              </a:rPr>
              <a:t>.</a:t>
            </a:r>
            <a:endParaRPr lang="en-US" altLang="en-US" sz="2000" dirty="0">
              <a:ea typeface="ＭＳ Ｐゴシック" panose="020B0600070205080204" pitchFamily="34" charset="-128"/>
            </a:endParaRPr>
          </a:p>
          <a:p>
            <a:pPr algn="just">
              <a:spcBef>
                <a:spcPts val="900"/>
              </a:spcBef>
              <a:buNone/>
            </a:pPr>
            <a:r>
              <a:rPr lang="en-US" altLang="en-US" sz="2000" dirty="0">
                <a:ea typeface="ＭＳ Ｐゴシック" panose="020B0600070205080204" pitchFamily="34" charset="-128"/>
              </a:rPr>
              <a:t>Upon registration the instrument forms part of the register and has effect as a deed: s 85 TLA. It acquires protection under the principle of indefeasibility </a:t>
            </a:r>
          </a:p>
          <a:p>
            <a:pPr algn="just">
              <a:spcBef>
                <a:spcPts val="900"/>
              </a:spcBef>
              <a:buNone/>
            </a:pPr>
            <a:r>
              <a:rPr lang="en-US" altLang="en-US" sz="2000" dirty="0">
                <a:ea typeface="ＭＳ Ｐゴシック" panose="020B0600070205080204" pitchFamily="34" charset="-128"/>
              </a:rPr>
              <a:t>Registration generally creates a </a:t>
            </a:r>
            <a:r>
              <a:rPr lang="en-US" altLang="en-US" sz="2000" i="1" dirty="0">
                <a:ea typeface="ＭＳ Ｐゴシック" panose="020B0600070205080204" pitchFamily="34" charset="-128"/>
              </a:rPr>
              <a:t>legal</a:t>
            </a:r>
            <a:r>
              <a:rPr lang="en-US" altLang="en-US" sz="2000" dirty="0">
                <a:ea typeface="ＭＳ Ｐゴシック" panose="020B0600070205080204" pitchFamily="34" charset="-128"/>
              </a:rPr>
              <a:t> interest: s 58. </a:t>
            </a:r>
          </a:p>
          <a:p>
            <a:pPr algn="just">
              <a:spcBef>
                <a:spcPts val="900"/>
              </a:spcBef>
              <a:buNone/>
            </a:pPr>
            <a:r>
              <a:rPr lang="en-US" altLang="en-US" sz="2000" dirty="0">
                <a:ea typeface="ＭＳ Ｐゴシック" panose="020B0600070205080204" pitchFamily="34" charset="-128"/>
              </a:rPr>
              <a:t>Unregistered instruments can still give rise to an </a:t>
            </a:r>
            <a:r>
              <a:rPr lang="en-US" altLang="en-US" sz="2000" i="1" dirty="0">
                <a:ea typeface="ＭＳ Ｐゴシック" panose="020B0600070205080204" pitchFamily="34" charset="-128"/>
              </a:rPr>
              <a:t>equitable</a:t>
            </a:r>
            <a:r>
              <a:rPr lang="en-US" altLang="en-US" sz="2000" dirty="0">
                <a:ea typeface="ＭＳ Ｐゴシック" panose="020B0600070205080204" pitchFamily="34" charset="-128"/>
              </a:rPr>
              <a:t> interest: </a:t>
            </a:r>
            <a:r>
              <a:rPr lang="en-US" altLang="en-US" sz="2000" i="1" dirty="0">
                <a:ea typeface="ＭＳ Ｐゴシック" panose="020B0600070205080204" pitchFamily="34" charset="-128"/>
              </a:rPr>
              <a:t>Barry v Heider</a:t>
            </a:r>
            <a:r>
              <a:rPr lang="en-US" altLang="en-US" sz="2000" dirty="0">
                <a:ea typeface="ＭＳ Ｐゴシック" panose="020B0600070205080204" pitchFamily="34" charset="-128"/>
              </a:rPr>
              <a:t> (1914) 19 CLR 197, 216. </a:t>
            </a:r>
          </a:p>
          <a:p>
            <a:pPr algn="just">
              <a:spcBef>
                <a:spcPts val="900"/>
              </a:spcBef>
              <a:buNone/>
            </a:pPr>
            <a:r>
              <a:rPr lang="en-US" altLang="en-US" sz="2000" dirty="0">
                <a:ea typeface="ＭＳ Ｐゴシック" panose="020B0600070205080204" pitchFamily="34" charset="-128"/>
              </a:rPr>
              <a:t>Note: registration of a caveat does </a:t>
            </a:r>
            <a:r>
              <a:rPr lang="en-US" altLang="en-US" sz="2000" i="1" dirty="0">
                <a:ea typeface="ＭＳ Ｐゴシック" panose="020B0600070205080204" pitchFamily="34" charset="-128"/>
              </a:rPr>
              <a:t>not</a:t>
            </a:r>
            <a:r>
              <a:rPr lang="en-US" altLang="en-US" sz="2000" dirty="0">
                <a:ea typeface="ＭＳ Ｐゴシック" panose="020B0600070205080204" pitchFamily="34" charset="-128"/>
              </a:rPr>
              <a:t> create an interest – it is only a notice or ‘warning’ of it.</a:t>
            </a:r>
          </a:p>
          <a:p>
            <a:pPr marL="535781" indent="-535781" algn="just">
              <a:spcBef>
                <a:spcPts val="900"/>
              </a:spcBef>
              <a:buNone/>
            </a:pPr>
            <a:r>
              <a:rPr lang="en-US" altLang="en-US" sz="2000" dirty="0">
                <a:ea typeface="ＭＳ Ｐゴシック" panose="020B0600070205080204" pitchFamily="34" charset="-128"/>
              </a:rPr>
              <a:t>The </a:t>
            </a:r>
            <a:r>
              <a:rPr lang="en-US" altLang="en-US" sz="2000" b="1" dirty="0">
                <a:ea typeface="ＭＳ Ｐゴシック" panose="020B0600070205080204" pitchFamily="34" charset="-128"/>
              </a:rPr>
              <a:t>two</a:t>
            </a:r>
            <a:r>
              <a:rPr lang="en-US" altLang="en-US" sz="2000" dirty="0">
                <a:ea typeface="ＭＳ Ｐゴシック" panose="020B0600070205080204" pitchFamily="34" charset="-128"/>
              </a:rPr>
              <a:t> most important concepts of Torrens are:</a:t>
            </a:r>
          </a:p>
          <a:p>
            <a:pPr marL="535781" indent="-535781" algn="just">
              <a:spcBef>
                <a:spcPts val="900"/>
              </a:spcBef>
              <a:buFontTx/>
              <a:buAutoNum type="arabicPeriod"/>
            </a:pPr>
            <a:r>
              <a:rPr lang="en-US" altLang="en-US" sz="2000" dirty="0">
                <a:ea typeface="ＭＳ Ｐゴシック" panose="020B0600070205080204" pitchFamily="34" charset="-128"/>
              </a:rPr>
              <a:t>Title created by registration: s 58 TLA; and </a:t>
            </a:r>
          </a:p>
          <a:p>
            <a:pPr marL="535781" indent="-535781" algn="just">
              <a:spcBef>
                <a:spcPts val="900"/>
              </a:spcBef>
              <a:buFontTx/>
              <a:buAutoNum type="arabicPeriod"/>
            </a:pPr>
            <a:r>
              <a:rPr lang="en-US" altLang="en-US" sz="2000" dirty="0">
                <a:ea typeface="ＭＳ Ｐゴシック" panose="020B0600070205080204" pitchFamily="34" charset="-128"/>
              </a:rPr>
              <a:t>Indefeasibility of title: s 68.</a:t>
            </a:r>
          </a:p>
          <a:p>
            <a:pPr marL="535781" indent="-535781" algn="just">
              <a:spcBef>
                <a:spcPts val="900"/>
              </a:spcBef>
              <a:buNone/>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Effect of Registration </a:t>
            </a:r>
          </a:p>
        </p:txBody>
      </p:sp>
    </p:spTree>
    <p:extLst>
      <p:ext uri="{BB962C8B-B14F-4D97-AF65-F5344CB8AC3E}">
        <p14:creationId xmlns:p14="http://schemas.microsoft.com/office/powerpoint/2010/main" val="2445989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182881" y="833152"/>
            <a:ext cx="4389119" cy="4089368"/>
          </a:xfrm>
        </p:spPr>
        <p:txBody>
          <a:bodyPr>
            <a:normAutofit/>
          </a:bodyPr>
          <a:lstStyle/>
          <a:p>
            <a:pPr algn="just">
              <a:spcBef>
                <a:spcPts val="900"/>
              </a:spcBef>
              <a:buNone/>
            </a:pPr>
            <a:r>
              <a:rPr lang="en-US" altLang="en-US" sz="1400" dirty="0">
                <a:solidFill>
                  <a:srgbClr val="000000"/>
                </a:solidFill>
                <a:ea typeface="ＭＳ Ｐゴシック" panose="020B0600070205080204" pitchFamily="34" charset="-128"/>
              </a:rPr>
              <a:t>Indefeasibility of title describes the protection afforded to a registered interest by registration.</a:t>
            </a:r>
          </a:p>
          <a:p>
            <a:pPr marL="176213" algn="just">
              <a:spcBef>
                <a:spcPts val="900"/>
              </a:spcBef>
              <a:buNone/>
            </a:pPr>
            <a:r>
              <a:rPr lang="en-US" altLang="en-US" sz="1300" dirty="0">
                <a:solidFill>
                  <a:srgbClr val="000000"/>
                </a:solidFill>
                <a:ea typeface="ＭＳ Ｐゴシック" panose="020B0600070205080204" pitchFamily="34" charset="-128"/>
              </a:rPr>
              <a:t>[A] convenient description of the immunity from attack by adverse claims to land or interest in respect of which he is registered, which a registered proprietor enjoys. </a:t>
            </a:r>
            <a:r>
              <a:rPr lang="en-US" altLang="en-US" sz="1300" b="1" dirty="0">
                <a:solidFill>
                  <a:srgbClr val="000000"/>
                </a:solidFill>
                <a:ea typeface="ＭＳ Ｐゴシック" panose="020B0600070205080204" pitchFamily="34" charset="-128"/>
              </a:rPr>
              <a:t>This concept is central in the system of registration. </a:t>
            </a:r>
            <a:r>
              <a:rPr lang="en-US" altLang="en-US" sz="1300" dirty="0">
                <a:solidFill>
                  <a:srgbClr val="000000"/>
                </a:solidFill>
                <a:ea typeface="ＭＳ Ｐゴシック" panose="020B0600070205080204" pitchFamily="34" charset="-128"/>
              </a:rPr>
              <a:t>It does not involve that the registered proprietor is protected against any claim whatsoever: as will be seen later, there are provisions by which the entry on which he relies may be cancelled or corrected, or he may be exposed to claims in personam. These are matters not to be overlooked when a total description of his rights is required. But as registered proprietor, and while he remains as such, no adverse claim (except as specifically admitted) may be brought against him.</a:t>
            </a:r>
          </a:p>
          <a:p>
            <a:pPr algn="just">
              <a:spcBef>
                <a:spcPts val="900"/>
              </a:spcBef>
              <a:buNone/>
            </a:pPr>
            <a:r>
              <a:rPr lang="en-US" altLang="en-US" sz="1400" i="1" dirty="0">
                <a:solidFill>
                  <a:srgbClr val="000000"/>
                </a:solidFill>
                <a:ea typeface="ＭＳ Ｐゴシック" panose="020B0600070205080204" pitchFamily="34" charset="-128"/>
              </a:rPr>
              <a:t>Frazer v Walker </a:t>
            </a:r>
            <a:r>
              <a:rPr lang="en-US" altLang="en-US" sz="1400" dirty="0">
                <a:solidFill>
                  <a:srgbClr val="000000"/>
                </a:solidFill>
                <a:ea typeface="ＭＳ Ｐゴシック" panose="020B0600070205080204" pitchFamily="34" charset="-128"/>
              </a:rPr>
              <a:t>[1967] 1 AC 569 (Privy Council).</a:t>
            </a:r>
          </a:p>
          <a:p>
            <a:pPr algn="just">
              <a:spcBef>
                <a:spcPts val="900"/>
              </a:spcBef>
              <a:buNone/>
            </a:pPr>
            <a:endParaRPr lang="en-US" altLang="en-US" sz="1200" dirty="0">
              <a:solidFill>
                <a:srgbClr val="000000"/>
              </a:solidFill>
              <a:ea typeface="ＭＳ Ｐゴシック" panose="020B0600070205080204" pitchFamily="34" charset="-128"/>
            </a:endParaRPr>
          </a:p>
          <a:p>
            <a:pPr marL="535781" indent="-535781" algn="just">
              <a:spcBef>
                <a:spcPts val="900"/>
              </a:spcBef>
              <a:buNone/>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Torrens Indefeasibility of Title</a:t>
            </a:r>
          </a:p>
        </p:txBody>
      </p:sp>
      <p:pic>
        <p:nvPicPr>
          <p:cNvPr id="5" name="Picture 4" descr="A group of people posing for a photo&#10;&#10;Description automatically generated">
            <a:extLst>
              <a:ext uri="{FF2B5EF4-FFF2-40B4-BE49-F238E27FC236}">
                <a16:creationId xmlns:a16="http://schemas.microsoft.com/office/drawing/2014/main" id="{B07F1B20-64E6-FAFD-C702-750DB4724DCE}"/>
              </a:ext>
            </a:extLst>
          </p:cNvPr>
          <p:cNvPicPr>
            <a:picLocks noChangeAspect="1"/>
          </p:cNvPicPr>
          <p:nvPr/>
        </p:nvPicPr>
        <p:blipFill>
          <a:blip r:embed="rId2"/>
          <a:stretch>
            <a:fillRect/>
          </a:stretch>
        </p:blipFill>
        <p:spPr>
          <a:xfrm>
            <a:off x="4691849" y="1101600"/>
            <a:ext cx="1983270" cy="3243898"/>
          </a:xfrm>
          <a:prstGeom prst="rect">
            <a:avLst/>
          </a:prstGeom>
        </p:spPr>
      </p:pic>
      <p:sp>
        <p:nvSpPr>
          <p:cNvPr id="4" name="TextBox 3">
            <a:extLst>
              <a:ext uri="{FF2B5EF4-FFF2-40B4-BE49-F238E27FC236}">
                <a16:creationId xmlns:a16="http://schemas.microsoft.com/office/drawing/2014/main" id="{1E7324D4-CFF0-1A75-2839-18CDFAA188C5}"/>
              </a:ext>
            </a:extLst>
          </p:cNvPr>
          <p:cNvSpPr txBox="1"/>
          <p:nvPr/>
        </p:nvSpPr>
        <p:spPr>
          <a:xfrm>
            <a:off x="4691849" y="4462943"/>
            <a:ext cx="1983270" cy="400110"/>
          </a:xfrm>
          <a:prstGeom prst="rect">
            <a:avLst/>
          </a:prstGeom>
          <a:noFill/>
        </p:spPr>
        <p:txBody>
          <a:bodyPr wrap="square" rtlCol="0">
            <a:spAutoFit/>
          </a:bodyPr>
          <a:lstStyle/>
          <a:p>
            <a:pPr algn="just">
              <a:spcBef>
                <a:spcPts val="900"/>
              </a:spcBef>
              <a:buNone/>
            </a:pPr>
            <a:r>
              <a:rPr lang="en-US" altLang="en-US" sz="1000" dirty="0">
                <a:solidFill>
                  <a:srgbClr val="000000"/>
                </a:solidFill>
                <a:ea typeface="ＭＳ Ｐゴシック" panose="020B0600070205080204" pitchFamily="34" charset="-128"/>
              </a:rPr>
              <a:t>Privy Council circa 1967 (give or take a couple of years).</a:t>
            </a:r>
          </a:p>
        </p:txBody>
      </p:sp>
    </p:spTree>
    <p:extLst>
      <p:ext uri="{BB962C8B-B14F-4D97-AF65-F5344CB8AC3E}">
        <p14:creationId xmlns:p14="http://schemas.microsoft.com/office/powerpoint/2010/main" val="110019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0" y="667029"/>
            <a:ext cx="3859643" cy="4091960"/>
          </a:xfrm>
        </p:spPr>
        <p:txBody>
          <a:bodyPr>
            <a:noAutofit/>
          </a:bodyPr>
          <a:lstStyle/>
          <a:p>
            <a:pPr algn="just">
              <a:spcBef>
                <a:spcPts val="900"/>
              </a:spcBef>
              <a:buNone/>
              <a:tabLst>
                <a:tab pos="176213" algn="l"/>
                <a:tab pos="871538" algn="l"/>
              </a:tabLst>
            </a:pPr>
            <a:r>
              <a:rPr lang="en-US" altLang="en-US" sz="1500" dirty="0">
                <a:ea typeface="ＭＳ Ｐゴシック" panose="020B0600070205080204" pitchFamily="34" charset="-128"/>
              </a:rPr>
              <a:t>The construction of indefeasibility of title out of sometimes incomplete and overlapping TLA provisions: see ss 63, 53, 68, 134, 199, 202.</a:t>
            </a:r>
          </a:p>
          <a:p>
            <a:pPr marL="535781" indent="-535781" algn="just">
              <a:spcBef>
                <a:spcPts val="900"/>
              </a:spcBef>
              <a:buNone/>
              <a:tabLst>
                <a:tab pos="535781" algn="l"/>
                <a:tab pos="872729" algn="l"/>
              </a:tabLst>
            </a:pPr>
            <a:r>
              <a:rPr lang="en-US" altLang="en-US" sz="1500" dirty="0">
                <a:ea typeface="ＭＳ Ｐゴシック" panose="020B0600070205080204" pitchFamily="34" charset="-128"/>
              </a:rPr>
              <a:t>The </a:t>
            </a:r>
            <a:r>
              <a:rPr lang="en-US" altLang="en-US" sz="1500" b="1" dirty="0">
                <a:ea typeface="ＭＳ Ｐゴシック" panose="020B0600070205080204" pitchFamily="34" charset="-128"/>
              </a:rPr>
              <a:t>four </a:t>
            </a:r>
            <a:r>
              <a:rPr lang="en-US" altLang="en-US" sz="1500" dirty="0">
                <a:ea typeface="ＭＳ Ｐゴシック" panose="020B0600070205080204" pitchFamily="34" charset="-128"/>
              </a:rPr>
              <a:t>elements of indefeasibility are:</a:t>
            </a:r>
          </a:p>
          <a:p>
            <a:pPr marL="360363" indent="-360363" algn="just">
              <a:spcBef>
                <a:spcPts val="900"/>
              </a:spcBef>
              <a:buFontTx/>
              <a:buAutoNum type="arabicPeriod"/>
              <a:tabLst>
                <a:tab pos="360363" algn="l"/>
                <a:tab pos="871538" algn="l"/>
              </a:tabLst>
            </a:pPr>
            <a:r>
              <a:rPr lang="en-US" altLang="en-US" sz="1500" dirty="0">
                <a:ea typeface="ＭＳ Ｐゴシック" panose="020B0600070205080204" pitchFamily="34" charset="-128"/>
              </a:rPr>
              <a:t>A registered title is </a:t>
            </a:r>
            <a:r>
              <a:rPr lang="en-US" altLang="en-US" sz="1500" i="1" dirty="0">
                <a:ea typeface="ＭＳ Ｐゴシック" panose="020B0600070205080204" pitchFamily="34" charset="-128"/>
              </a:rPr>
              <a:t>conclusive</a:t>
            </a:r>
            <a:r>
              <a:rPr lang="en-US" altLang="en-US" sz="1500" dirty="0">
                <a:ea typeface="ＭＳ Ｐゴシック" panose="020B0600070205080204" pitchFamily="34" charset="-128"/>
              </a:rPr>
              <a:t> regardless of defects;</a:t>
            </a:r>
          </a:p>
          <a:p>
            <a:pPr marL="360363" indent="-360363" algn="just">
              <a:spcBef>
                <a:spcPts val="900"/>
              </a:spcBef>
              <a:buFontTx/>
              <a:buAutoNum type="arabicPeriod"/>
              <a:tabLst>
                <a:tab pos="360363" algn="l"/>
                <a:tab pos="871538" algn="l"/>
              </a:tabLst>
            </a:pPr>
            <a:r>
              <a:rPr lang="en-US" altLang="en-US" sz="1500" dirty="0">
                <a:ea typeface="ＭＳ Ｐゴシック" panose="020B0600070205080204" pitchFamily="34" charset="-128"/>
              </a:rPr>
              <a:t>Registration gives </a:t>
            </a:r>
            <a:r>
              <a:rPr lang="en-US" altLang="en-US" sz="1500" i="1" dirty="0">
                <a:ea typeface="ＭＳ Ｐゴシック" panose="020B0600070205080204" pitchFamily="34" charset="-128"/>
              </a:rPr>
              <a:t>priority</a:t>
            </a:r>
            <a:r>
              <a:rPr lang="en-US" altLang="en-US" sz="1500" dirty="0">
                <a:ea typeface="ＭＳ Ｐゴシック" panose="020B0600070205080204" pitchFamily="34" charset="-128"/>
              </a:rPr>
              <a:t> against all, except exceptions that are </a:t>
            </a:r>
            <a:r>
              <a:rPr lang="en-US" altLang="en-US" sz="1500" dirty="0" err="1">
                <a:ea typeface="ＭＳ Ｐゴシック" panose="020B0600070205080204" pitchFamily="34" charset="-128"/>
              </a:rPr>
              <a:t>recognised</a:t>
            </a:r>
            <a:r>
              <a:rPr lang="en-US" altLang="en-US" sz="1500" dirty="0">
                <a:ea typeface="ＭＳ Ｐゴシック" panose="020B0600070205080204" pitchFamily="34" charset="-128"/>
              </a:rPr>
              <a:t>;</a:t>
            </a:r>
          </a:p>
          <a:p>
            <a:pPr marL="360363" indent="-360363" algn="just">
              <a:spcBef>
                <a:spcPts val="900"/>
              </a:spcBef>
              <a:buFontTx/>
              <a:buAutoNum type="arabicPeriod"/>
              <a:tabLst>
                <a:tab pos="360363" algn="l"/>
                <a:tab pos="871538" algn="l"/>
              </a:tabLst>
            </a:pPr>
            <a:r>
              <a:rPr lang="en-US" altLang="en-US" sz="1500" dirty="0">
                <a:ea typeface="ＭＳ Ｐゴシック" panose="020B0600070205080204" pitchFamily="34" charset="-128"/>
              </a:rPr>
              <a:t>A registered proprietor is </a:t>
            </a:r>
            <a:r>
              <a:rPr lang="en-US" altLang="en-US" sz="1500" i="1" dirty="0">
                <a:ea typeface="ＭＳ Ｐゴシック" panose="020B0600070205080204" pitchFamily="34" charset="-128"/>
              </a:rPr>
              <a:t>not affected by actual or constructive notice</a:t>
            </a:r>
            <a:r>
              <a:rPr lang="en-US" altLang="en-US" sz="1500" dirty="0">
                <a:ea typeface="ＭＳ Ｐゴシック" panose="020B0600070205080204" pitchFamily="34" charset="-128"/>
              </a:rPr>
              <a:t> of an unregistered interest and has no obligation to inquire into quality of title;</a:t>
            </a:r>
          </a:p>
          <a:p>
            <a:pPr marL="360363" indent="-360363" algn="just">
              <a:spcBef>
                <a:spcPts val="900"/>
              </a:spcBef>
              <a:buFontTx/>
              <a:buAutoNum type="arabicPeriod"/>
              <a:tabLst>
                <a:tab pos="360363" algn="l"/>
                <a:tab pos="871538" algn="l"/>
              </a:tabLst>
            </a:pPr>
            <a:r>
              <a:rPr lang="en-US" altLang="en-US" sz="1500" dirty="0">
                <a:ea typeface="ＭＳ Ｐゴシック" panose="020B0600070205080204" pitchFamily="34" charset="-128"/>
              </a:rPr>
              <a:t>Only exceptions in the TLA</a:t>
            </a:r>
            <a:r>
              <a:rPr lang="en-US" altLang="en-US" sz="1500" i="1" dirty="0">
                <a:ea typeface="ＭＳ Ｐゴシック" panose="020B0600070205080204" pitchFamily="34" charset="-128"/>
              </a:rPr>
              <a:t> </a:t>
            </a:r>
            <a:r>
              <a:rPr lang="en-US" altLang="en-US" sz="1500" dirty="0">
                <a:ea typeface="ＭＳ Ｐゴシック" panose="020B0600070205080204" pitchFamily="34" charset="-128"/>
              </a:rPr>
              <a:t>affect a registered interest.</a:t>
            </a:r>
          </a:p>
          <a:p>
            <a:pPr algn="just">
              <a:spcBef>
                <a:spcPts val="900"/>
              </a:spcBef>
              <a:tabLst>
                <a:tab pos="535781" algn="l"/>
                <a:tab pos="872729" algn="l"/>
              </a:tabLst>
            </a:pPr>
            <a:endParaRPr lang="en-US" altLang="en-US" sz="1200" dirty="0">
              <a:ea typeface="ＭＳ Ｐゴシック" panose="020B0600070205080204"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Torrens Indefeasibility of Title</a:t>
            </a:r>
          </a:p>
        </p:txBody>
      </p:sp>
      <p:pic>
        <p:nvPicPr>
          <p:cNvPr id="7" name="Picture 6" descr="A person holding glowing lights&#10;&#10;Description automatically generated">
            <a:extLst>
              <a:ext uri="{FF2B5EF4-FFF2-40B4-BE49-F238E27FC236}">
                <a16:creationId xmlns:a16="http://schemas.microsoft.com/office/drawing/2014/main" id="{557DC3FB-E1E6-3CBF-2C15-5A0AEA627CCD}"/>
              </a:ext>
            </a:extLst>
          </p:cNvPr>
          <p:cNvPicPr>
            <a:picLocks noChangeAspect="1"/>
          </p:cNvPicPr>
          <p:nvPr/>
        </p:nvPicPr>
        <p:blipFill>
          <a:blip r:embed="rId2"/>
          <a:stretch>
            <a:fillRect/>
          </a:stretch>
        </p:blipFill>
        <p:spPr>
          <a:xfrm>
            <a:off x="4239182" y="914400"/>
            <a:ext cx="1826337" cy="3431097"/>
          </a:xfrm>
          <a:prstGeom prst="rect">
            <a:avLst/>
          </a:prstGeom>
        </p:spPr>
      </p:pic>
      <p:sp>
        <p:nvSpPr>
          <p:cNvPr id="4" name="TextBox 3">
            <a:extLst>
              <a:ext uri="{FF2B5EF4-FFF2-40B4-BE49-F238E27FC236}">
                <a16:creationId xmlns:a16="http://schemas.microsoft.com/office/drawing/2014/main" id="{0B4F087C-AE14-33E4-2D1E-CD99A97717B7}"/>
              </a:ext>
            </a:extLst>
          </p:cNvPr>
          <p:cNvSpPr txBox="1"/>
          <p:nvPr/>
        </p:nvSpPr>
        <p:spPr>
          <a:xfrm>
            <a:off x="4239182" y="4451212"/>
            <a:ext cx="1826337" cy="307777"/>
          </a:xfrm>
          <a:prstGeom prst="rect">
            <a:avLst/>
          </a:prstGeom>
          <a:noFill/>
        </p:spPr>
        <p:txBody>
          <a:bodyPr wrap="square" rtlCol="0">
            <a:spAutoFit/>
          </a:bodyPr>
          <a:lstStyle/>
          <a:p>
            <a:pPr algn="ctr"/>
            <a:r>
              <a:rPr lang="en-US" altLang="en-US" sz="1400" dirty="0">
                <a:ea typeface="ＭＳ Ｐゴシック" pitchFamily="34" charset="-128"/>
              </a:rPr>
              <a:t>I am Four!</a:t>
            </a:r>
          </a:p>
        </p:txBody>
      </p:sp>
    </p:spTree>
    <p:extLst>
      <p:ext uri="{BB962C8B-B14F-4D97-AF65-F5344CB8AC3E}">
        <p14:creationId xmlns:p14="http://schemas.microsoft.com/office/powerpoint/2010/main" val="410010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189587" y="704675"/>
            <a:ext cx="4465115" cy="4438825"/>
          </a:xfrm>
        </p:spPr>
        <p:txBody>
          <a:bodyPr>
            <a:normAutofit fontScale="85000" lnSpcReduction="20000"/>
          </a:bodyPr>
          <a:lstStyle/>
          <a:p>
            <a:pPr algn="just">
              <a:spcBef>
                <a:spcPts val="900"/>
              </a:spcBef>
              <a:buNone/>
              <a:defRPr/>
            </a:pPr>
            <a:r>
              <a:rPr lang="en-AU" altLang="en-US" sz="1600" dirty="0">
                <a:solidFill>
                  <a:srgbClr val="FF0000"/>
                </a:solidFill>
                <a:ea typeface="ＭＳ Ｐゴシック" pitchFamily="34" charset="-128"/>
              </a:rPr>
              <a:t>Immediate indefeasibility </a:t>
            </a:r>
            <a:r>
              <a:rPr lang="en-AU" altLang="en-US" sz="1600" dirty="0">
                <a:ea typeface="ＭＳ Ｐゴシック" pitchFamily="34" charset="-128"/>
              </a:rPr>
              <a:t>– gives good title immediately upon registration, so that upon registration of even a forged transfer the registered transferee is entitled to protection, provided this person was not fraudulent (in the broad sense of not having engaged in any wrong doing) and was a bona fide purchaser for value.</a:t>
            </a:r>
          </a:p>
          <a:p>
            <a:pPr algn="just">
              <a:spcBef>
                <a:spcPts val="900"/>
              </a:spcBef>
              <a:buNone/>
              <a:defRPr/>
            </a:pPr>
            <a:r>
              <a:rPr lang="en-AU" altLang="en-US" sz="1600" i="1" dirty="0">
                <a:ea typeface="ＭＳ Ｐゴシック" pitchFamily="34" charset="-128"/>
              </a:rPr>
              <a:t>Frazer v Walker </a:t>
            </a:r>
            <a:r>
              <a:rPr lang="en-US" altLang="en-US" sz="1600" dirty="0">
                <a:solidFill>
                  <a:srgbClr val="000000"/>
                </a:solidFill>
                <a:ea typeface="ＭＳ Ｐゴシック" pitchFamily="34" charset="-128"/>
              </a:rPr>
              <a:t>[1967] 1 AC 569</a:t>
            </a:r>
          </a:p>
          <a:p>
            <a:pPr algn="just">
              <a:spcBef>
                <a:spcPts val="900"/>
              </a:spcBef>
              <a:buNone/>
              <a:defRPr/>
            </a:pPr>
            <a:r>
              <a:rPr lang="en-US" altLang="en-US" sz="1600" dirty="0" err="1">
                <a:solidFill>
                  <a:srgbClr val="000000"/>
                </a:solidFill>
                <a:ea typeface="ＭＳ Ｐゴシック" pitchFamily="34" charset="-128"/>
              </a:rPr>
              <a:t>Mr</a:t>
            </a:r>
            <a:r>
              <a:rPr lang="en-US" altLang="en-US" sz="1600" dirty="0">
                <a:solidFill>
                  <a:srgbClr val="000000"/>
                </a:solidFill>
                <a:ea typeface="ＭＳ Ｐゴシック" pitchFamily="34" charset="-128"/>
              </a:rPr>
              <a:t> and </a:t>
            </a:r>
            <a:r>
              <a:rPr lang="en-US" altLang="en-US" sz="1600" dirty="0" err="1">
                <a:solidFill>
                  <a:srgbClr val="000000"/>
                </a:solidFill>
                <a:ea typeface="ＭＳ Ｐゴシック" pitchFamily="34" charset="-128"/>
              </a:rPr>
              <a:t>Mrs</a:t>
            </a:r>
            <a:r>
              <a:rPr lang="en-US" altLang="en-US" sz="1600" dirty="0">
                <a:solidFill>
                  <a:srgbClr val="000000"/>
                </a:solidFill>
                <a:ea typeface="ＭＳ Ｐゴシック" pitchFamily="34" charset="-128"/>
              </a:rPr>
              <a:t> Frazer owned a farm. </a:t>
            </a:r>
            <a:r>
              <a:rPr lang="en-US" altLang="en-US" sz="1600" dirty="0" err="1">
                <a:solidFill>
                  <a:srgbClr val="000000"/>
                </a:solidFill>
                <a:ea typeface="ＭＳ Ｐゴシック" pitchFamily="34" charset="-128"/>
              </a:rPr>
              <a:t>Mrs</a:t>
            </a:r>
            <a:r>
              <a:rPr lang="en-US" altLang="en-US" sz="1600" dirty="0">
                <a:solidFill>
                  <a:srgbClr val="000000"/>
                </a:solidFill>
                <a:ea typeface="ＭＳ Ｐゴシック" pitchFamily="34" charset="-128"/>
              </a:rPr>
              <a:t> Frazer forged </a:t>
            </a:r>
            <a:r>
              <a:rPr lang="en-US" altLang="en-US" sz="1600" dirty="0" err="1">
                <a:solidFill>
                  <a:srgbClr val="000000"/>
                </a:solidFill>
                <a:ea typeface="ＭＳ Ｐゴシック" pitchFamily="34" charset="-128"/>
              </a:rPr>
              <a:t>Mr</a:t>
            </a:r>
            <a:r>
              <a:rPr lang="en-US" altLang="en-US" sz="1600" dirty="0">
                <a:solidFill>
                  <a:srgbClr val="000000"/>
                </a:solidFill>
                <a:ea typeface="ＭＳ Ｐゴシック" pitchFamily="34" charset="-128"/>
              </a:rPr>
              <a:t> Frazer’s signature to obtain loan from </a:t>
            </a:r>
            <a:r>
              <a:rPr lang="en-US" altLang="en-US" sz="1600" dirty="0" err="1">
                <a:solidFill>
                  <a:srgbClr val="000000"/>
                </a:solidFill>
                <a:ea typeface="ＭＳ Ｐゴシック" pitchFamily="34" charset="-128"/>
              </a:rPr>
              <a:t>Mr</a:t>
            </a:r>
            <a:r>
              <a:rPr lang="en-US" altLang="en-US" sz="1600" dirty="0">
                <a:solidFill>
                  <a:srgbClr val="000000"/>
                </a:solidFill>
                <a:ea typeface="ＭＳ Ｐゴシック" pitchFamily="34" charset="-128"/>
              </a:rPr>
              <a:t> and </a:t>
            </a:r>
            <a:r>
              <a:rPr lang="en-US" altLang="en-US" sz="1600" dirty="0" err="1">
                <a:solidFill>
                  <a:srgbClr val="000000"/>
                </a:solidFill>
                <a:ea typeface="ＭＳ Ｐゴシック" pitchFamily="34" charset="-128"/>
              </a:rPr>
              <a:t>Mrs</a:t>
            </a:r>
            <a:r>
              <a:rPr lang="en-US" altLang="en-US" sz="1600" dirty="0">
                <a:solidFill>
                  <a:srgbClr val="000000"/>
                </a:solidFill>
                <a:ea typeface="ＭＳ Ｐゴシック" pitchFamily="34" charset="-128"/>
              </a:rPr>
              <a:t> Radomski (who didn’t know about the fraud). This loan was secured by </a:t>
            </a:r>
            <a:r>
              <a:rPr lang="en-US" altLang="en-US" sz="1600" dirty="0" err="1">
                <a:solidFill>
                  <a:srgbClr val="000000"/>
                </a:solidFill>
                <a:ea typeface="ＭＳ Ｐゴシック" pitchFamily="34" charset="-128"/>
              </a:rPr>
              <a:t>amortgage</a:t>
            </a:r>
            <a:r>
              <a:rPr lang="en-US" altLang="en-US" sz="1600" dirty="0">
                <a:solidFill>
                  <a:srgbClr val="000000"/>
                </a:solidFill>
                <a:ea typeface="ＭＳ Ｐゴシック" pitchFamily="34" charset="-128"/>
              </a:rPr>
              <a:t> in </a:t>
            </a:r>
            <a:r>
              <a:rPr lang="en-US" altLang="en-US" sz="1600" dirty="0" err="1">
                <a:solidFill>
                  <a:srgbClr val="000000"/>
                </a:solidFill>
                <a:ea typeface="ＭＳ Ｐゴシック" pitchFamily="34" charset="-128"/>
              </a:rPr>
              <a:t>favour</a:t>
            </a:r>
            <a:r>
              <a:rPr lang="en-US" altLang="en-US" sz="1600" dirty="0">
                <a:solidFill>
                  <a:srgbClr val="000000"/>
                </a:solidFill>
                <a:ea typeface="ＭＳ Ｐゴシック" pitchFamily="34" charset="-128"/>
              </a:rPr>
              <a:t> of the </a:t>
            </a:r>
            <a:r>
              <a:rPr lang="en-US" altLang="en-US" sz="1600" dirty="0" err="1">
                <a:solidFill>
                  <a:srgbClr val="000000"/>
                </a:solidFill>
                <a:ea typeface="ＭＳ Ｐゴシック" pitchFamily="34" charset="-128"/>
              </a:rPr>
              <a:t>Radomskis</a:t>
            </a:r>
            <a:r>
              <a:rPr lang="en-US" altLang="en-US" sz="1600" dirty="0">
                <a:solidFill>
                  <a:srgbClr val="000000"/>
                </a:solidFill>
                <a:ea typeface="ＭＳ Ｐゴシック" pitchFamily="34" charset="-128"/>
              </a:rPr>
              <a:t> over the farm. </a:t>
            </a:r>
            <a:r>
              <a:rPr lang="en-US" altLang="en-US" sz="1600" dirty="0" err="1">
                <a:solidFill>
                  <a:srgbClr val="000000"/>
                </a:solidFill>
                <a:ea typeface="ＭＳ Ｐゴシック" pitchFamily="34" charset="-128"/>
              </a:rPr>
              <a:t>Mrs</a:t>
            </a:r>
            <a:r>
              <a:rPr lang="en-US" altLang="en-US" sz="1600" dirty="0">
                <a:solidFill>
                  <a:srgbClr val="000000"/>
                </a:solidFill>
                <a:ea typeface="ＭＳ Ｐゴシック" pitchFamily="34" charset="-128"/>
              </a:rPr>
              <a:t> Frazer failed to repay loan so the </a:t>
            </a:r>
            <a:r>
              <a:rPr lang="en-US" altLang="en-US" sz="1600" dirty="0" err="1">
                <a:solidFill>
                  <a:srgbClr val="000000"/>
                </a:solidFill>
                <a:ea typeface="ＭＳ Ｐゴシック" pitchFamily="34" charset="-128"/>
              </a:rPr>
              <a:t>Radomskis</a:t>
            </a:r>
            <a:r>
              <a:rPr lang="en-US" altLang="en-US" sz="1600" dirty="0">
                <a:solidFill>
                  <a:srgbClr val="000000"/>
                </a:solidFill>
                <a:ea typeface="ＭＳ Ｐゴシック" pitchFamily="34" charset="-128"/>
              </a:rPr>
              <a:t> sold the property to Walker. When Walker tried to take possession, </a:t>
            </a:r>
            <a:r>
              <a:rPr lang="en-US" altLang="en-US" sz="1600" dirty="0" err="1">
                <a:solidFill>
                  <a:srgbClr val="000000"/>
                </a:solidFill>
                <a:ea typeface="ＭＳ Ｐゴシック" pitchFamily="34" charset="-128"/>
              </a:rPr>
              <a:t>Mr</a:t>
            </a:r>
            <a:r>
              <a:rPr lang="en-US" altLang="en-US" sz="1600" dirty="0">
                <a:solidFill>
                  <a:srgbClr val="000000"/>
                </a:solidFill>
                <a:ea typeface="ＭＳ Ｐゴシック" pitchFamily="34" charset="-128"/>
              </a:rPr>
              <a:t> Frazer refused and Walker took action for possession.</a:t>
            </a:r>
          </a:p>
          <a:p>
            <a:pPr algn="just">
              <a:spcBef>
                <a:spcPts val="900"/>
              </a:spcBef>
              <a:buNone/>
              <a:defRPr/>
            </a:pPr>
            <a:r>
              <a:rPr lang="en-US" altLang="en-US" sz="1600" dirty="0">
                <a:solidFill>
                  <a:srgbClr val="000000"/>
                </a:solidFill>
                <a:ea typeface="ＭＳ Ｐゴシック" pitchFamily="34" charset="-128"/>
              </a:rPr>
              <a:t>Held: Walker got good title because although title obtained by the </a:t>
            </a:r>
            <a:r>
              <a:rPr lang="en-US" altLang="en-US" sz="1600" dirty="0" err="1">
                <a:solidFill>
                  <a:srgbClr val="000000"/>
                </a:solidFill>
                <a:ea typeface="ＭＳ Ｐゴシック" pitchFamily="34" charset="-128"/>
              </a:rPr>
              <a:t>Radomskis</a:t>
            </a:r>
            <a:r>
              <a:rPr lang="en-US" altLang="en-US" sz="1600" dirty="0">
                <a:solidFill>
                  <a:srgbClr val="000000"/>
                </a:solidFill>
                <a:ea typeface="ＭＳ Ｐゴシック" pitchFamily="34" charset="-128"/>
              </a:rPr>
              <a:t> due to </a:t>
            </a:r>
            <a:r>
              <a:rPr lang="en-US" altLang="en-US" sz="1600" dirty="0" err="1">
                <a:solidFill>
                  <a:srgbClr val="000000"/>
                </a:solidFill>
                <a:ea typeface="ＭＳ Ｐゴシック" pitchFamily="34" charset="-128"/>
              </a:rPr>
              <a:t>Mrs</a:t>
            </a:r>
            <a:r>
              <a:rPr lang="en-US" altLang="en-US" sz="1600" dirty="0">
                <a:solidFill>
                  <a:srgbClr val="000000"/>
                </a:solidFill>
                <a:ea typeface="ＭＳ Ｐゴシック" pitchFamily="34" charset="-128"/>
              </a:rPr>
              <a:t> Frazer’s fraud, Walker was innocent purchaser for value (without notice). </a:t>
            </a:r>
          </a:p>
          <a:p>
            <a:pPr marL="535781" indent="-535781" algn="just">
              <a:spcBef>
                <a:spcPts val="900"/>
              </a:spcBef>
              <a:buNone/>
              <a:tabLst>
                <a:tab pos="267891" algn="l"/>
              </a:tabLst>
              <a:defRPr/>
            </a:pPr>
            <a:endParaRPr lang="en-US" altLang="en-US" sz="1400" dirty="0">
              <a:solidFill>
                <a:srgbClr val="000000"/>
              </a:solidFill>
              <a:ea typeface="ＭＳ Ｐゴシック" pitchFamily="34" charset="-128"/>
            </a:endParaRPr>
          </a:p>
          <a:p>
            <a:pPr marL="535781" indent="-535781" algn="just">
              <a:spcBef>
                <a:spcPts val="900"/>
              </a:spcBef>
              <a:buNone/>
              <a:tabLst>
                <a:tab pos="267891" algn="l"/>
              </a:tabLst>
              <a:defRPr/>
            </a:pPr>
            <a:r>
              <a:rPr lang="en-US" altLang="en-US" i="1" dirty="0">
                <a:solidFill>
                  <a:srgbClr val="000000"/>
                </a:solidFill>
                <a:ea typeface="ＭＳ Ｐゴシック" pitchFamily="34" charset="-128"/>
              </a:rPr>
              <a:t>		</a:t>
            </a: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Torrens Indefeasibility of Title</a:t>
            </a:r>
          </a:p>
        </p:txBody>
      </p:sp>
      <p:pic>
        <p:nvPicPr>
          <p:cNvPr id="5" name="Picture 4" descr="A person and person with a pitchfork&#10;&#10;Description automatically generated">
            <a:extLst>
              <a:ext uri="{FF2B5EF4-FFF2-40B4-BE49-F238E27FC236}">
                <a16:creationId xmlns:a16="http://schemas.microsoft.com/office/drawing/2014/main" id="{3B7D0BBA-6365-4F5E-F883-C1C03EB3F8C7}"/>
              </a:ext>
            </a:extLst>
          </p:cNvPr>
          <p:cNvPicPr>
            <a:picLocks noChangeAspect="1"/>
          </p:cNvPicPr>
          <p:nvPr/>
        </p:nvPicPr>
        <p:blipFill>
          <a:blip r:embed="rId2"/>
          <a:stretch>
            <a:fillRect/>
          </a:stretch>
        </p:blipFill>
        <p:spPr>
          <a:xfrm>
            <a:off x="4654702" y="833152"/>
            <a:ext cx="1877377" cy="2589556"/>
          </a:xfrm>
          <a:prstGeom prst="rect">
            <a:avLst/>
          </a:prstGeom>
        </p:spPr>
      </p:pic>
      <p:sp>
        <p:nvSpPr>
          <p:cNvPr id="4" name="TextBox 3">
            <a:extLst>
              <a:ext uri="{FF2B5EF4-FFF2-40B4-BE49-F238E27FC236}">
                <a16:creationId xmlns:a16="http://schemas.microsoft.com/office/drawing/2014/main" id="{D695655A-24B1-ADAE-01E5-BF6E1A817EF3}"/>
              </a:ext>
            </a:extLst>
          </p:cNvPr>
          <p:cNvSpPr txBox="1"/>
          <p:nvPr/>
        </p:nvSpPr>
        <p:spPr>
          <a:xfrm>
            <a:off x="4654702" y="3447875"/>
            <a:ext cx="1877377" cy="553998"/>
          </a:xfrm>
          <a:prstGeom prst="rect">
            <a:avLst/>
          </a:prstGeom>
          <a:noFill/>
        </p:spPr>
        <p:txBody>
          <a:bodyPr wrap="square" rtlCol="0">
            <a:spAutoFit/>
          </a:bodyPr>
          <a:lstStyle/>
          <a:p>
            <a:r>
              <a:rPr lang="en-US" altLang="en-US" sz="1000" dirty="0">
                <a:solidFill>
                  <a:srgbClr val="000000"/>
                </a:solidFill>
                <a:ea typeface="ＭＳ Ｐゴシック" pitchFamily="34" charset="-128"/>
              </a:rPr>
              <a:t>Disclaimer</a:t>
            </a:r>
            <a:r>
              <a:rPr lang="en-US" altLang="en-US" sz="1000" i="1" dirty="0">
                <a:solidFill>
                  <a:srgbClr val="000000"/>
                </a:solidFill>
                <a:ea typeface="ＭＳ Ｐゴシック" pitchFamily="34" charset="-128"/>
              </a:rPr>
              <a:t>: </a:t>
            </a:r>
            <a:r>
              <a:rPr lang="en-US" altLang="en-US" sz="1000" dirty="0">
                <a:solidFill>
                  <a:srgbClr val="000000"/>
                </a:solidFill>
                <a:ea typeface="ＭＳ Ｐゴシック" pitchFamily="34" charset="-128"/>
              </a:rPr>
              <a:t>The</a:t>
            </a:r>
            <a:r>
              <a:rPr lang="en-US" altLang="en-US" sz="1000" i="1" dirty="0">
                <a:solidFill>
                  <a:srgbClr val="000000"/>
                </a:solidFill>
                <a:ea typeface="ＭＳ Ｐゴシック" pitchFamily="34" charset="-128"/>
              </a:rPr>
              <a:t> i</a:t>
            </a:r>
            <a:r>
              <a:rPr lang="en-US" altLang="en-US" sz="1000" dirty="0">
                <a:solidFill>
                  <a:srgbClr val="000000"/>
                </a:solidFill>
                <a:ea typeface="ＭＳ Ｐゴシック" pitchFamily="34" charset="-128"/>
              </a:rPr>
              <a:t>ndividuals pictured may not be the real </a:t>
            </a:r>
            <a:r>
              <a:rPr lang="en-US" altLang="en-US" sz="1000" dirty="0" err="1">
                <a:solidFill>
                  <a:srgbClr val="000000"/>
                </a:solidFill>
                <a:ea typeface="ＭＳ Ｐゴシック" pitchFamily="34" charset="-128"/>
              </a:rPr>
              <a:t>Mr</a:t>
            </a:r>
            <a:r>
              <a:rPr lang="en-US" altLang="en-US" sz="1000" dirty="0">
                <a:solidFill>
                  <a:srgbClr val="000000"/>
                </a:solidFill>
                <a:ea typeface="ＭＳ Ｐゴシック" pitchFamily="34" charset="-128"/>
              </a:rPr>
              <a:t> and </a:t>
            </a:r>
            <a:r>
              <a:rPr lang="en-US" altLang="en-US" sz="1000" dirty="0" err="1">
                <a:solidFill>
                  <a:srgbClr val="000000"/>
                </a:solidFill>
                <a:ea typeface="ＭＳ Ｐゴシック" pitchFamily="34" charset="-128"/>
              </a:rPr>
              <a:t>Mrs</a:t>
            </a:r>
            <a:r>
              <a:rPr lang="en-US" altLang="en-US" sz="1000" dirty="0">
                <a:solidFill>
                  <a:srgbClr val="000000"/>
                </a:solidFill>
                <a:ea typeface="ＭＳ Ｐゴシック" pitchFamily="34" charset="-128"/>
              </a:rPr>
              <a:t> Frazer.</a:t>
            </a:r>
            <a:endParaRPr lang="en-AU" sz="1000" dirty="0"/>
          </a:p>
        </p:txBody>
      </p:sp>
    </p:spTree>
    <p:extLst>
      <p:ext uri="{BB962C8B-B14F-4D97-AF65-F5344CB8AC3E}">
        <p14:creationId xmlns:p14="http://schemas.microsoft.com/office/powerpoint/2010/main" val="1744647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320040" y="833152"/>
            <a:ext cx="5667317" cy="4310348"/>
          </a:xfrm>
        </p:spPr>
        <p:txBody>
          <a:bodyPr>
            <a:normAutofit lnSpcReduction="10000"/>
          </a:bodyPr>
          <a:lstStyle/>
          <a:p>
            <a:pPr marL="547688" indent="-547688" algn="just">
              <a:spcBef>
                <a:spcPts val="900"/>
              </a:spcBef>
              <a:buNone/>
              <a:tabLst>
                <a:tab pos="267891" algn="l"/>
              </a:tabLst>
              <a:defRPr/>
            </a:pPr>
            <a:r>
              <a:rPr lang="en-US" altLang="en-US" sz="1400" i="1" dirty="0" err="1">
                <a:ea typeface="ＭＳ Ｐゴシック" pitchFamily="34" charset="-128"/>
              </a:rPr>
              <a:t>Breskvar</a:t>
            </a:r>
            <a:r>
              <a:rPr lang="en-US" altLang="en-US" sz="1400" i="1" dirty="0">
                <a:ea typeface="ＭＳ Ｐゴシック" pitchFamily="34" charset="-128"/>
              </a:rPr>
              <a:t> v Wall </a:t>
            </a:r>
            <a:r>
              <a:rPr lang="en-US" altLang="en-US" sz="1400" dirty="0">
                <a:ea typeface="ＭＳ Ｐゴシック" pitchFamily="34" charset="-128"/>
              </a:rPr>
              <a:t>(1971) 126 CLR 376</a:t>
            </a:r>
          </a:p>
          <a:p>
            <a:pPr algn="just">
              <a:spcBef>
                <a:spcPts val="900"/>
              </a:spcBef>
              <a:buNone/>
              <a:tabLst>
                <a:tab pos="267891" algn="l"/>
              </a:tabLst>
              <a:defRPr/>
            </a:pPr>
            <a:r>
              <a:rPr lang="en-US" altLang="en-US" sz="1400" dirty="0">
                <a:ea typeface="ＭＳ Ｐゴシック" pitchFamily="34" charset="-128"/>
              </a:rPr>
              <a:t>Not just known for Barwick CJ’s pithy catchphrase (see previous slide) but for affirming the PC decision in Frazer v Walker</a:t>
            </a:r>
          </a:p>
          <a:p>
            <a:pPr algn="just">
              <a:spcBef>
                <a:spcPts val="900"/>
              </a:spcBef>
              <a:buNone/>
              <a:tabLst>
                <a:tab pos="267891" algn="l"/>
              </a:tabLst>
              <a:defRPr/>
            </a:pPr>
            <a:r>
              <a:rPr lang="en-US" altLang="en-US" sz="1400" dirty="0">
                <a:ea typeface="ＭＳ Ｐゴシック" pitchFamily="34" charset="-128"/>
              </a:rPr>
              <a:t>And, has its own Wikipedia entry (how cool is that!) as follows:</a:t>
            </a:r>
          </a:p>
          <a:p>
            <a:pPr algn="just">
              <a:spcBef>
                <a:spcPts val="900"/>
              </a:spcBef>
              <a:buNone/>
              <a:tabLst>
                <a:tab pos="267891" algn="l"/>
              </a:tabLst>
              <a:defRPr/>
            </a:pPr>
            <a:r>
              <a:rPr lang="en-AU" sz="1200" dirty="0"/>
              <a:t>Essentially this was a contest between two innocent parties, the </a:t>
            </a:r>
            <a:r>
              <a:rPr lang="en-AU" sz="1200" dirty="0" err="1"/>
              <a:t>Breskvars</a:t>
            </a:r>
            <a:r>
              <a:rPr lang="en-AU" sz="1200" dirty="0"/>
              <a:t> and Alban Pty Ltd in relation to the ownership of a two acre block of land at </a:t>
            </a:r>
            <a:r>
              <a:rPr lang="en-AU" sz="1200" dirty="0">
                <a:hlinkClick r:id="rId2" tooltip="Acacia Ridge"/>
              </a:rPr>
              <a:t>Acacia Ridge</a:t>
            </a:r>
            <a:r>
              <a:rPr lang="en-AU" sz="1200" dirty="0"/>
              <a:t>, Brisbane, each of who were victims of fraud by Petrie and Wall. Whoever succeeded would be the owner of the land, while the other party would be left to recovering damages against Petrie and Wall. Emilie &amp; Franc </a:t>
            </a:r>
            <a:r>
              <a:rPr lang="en-AU" sz="1200" dirty="0" err="1"/>
              <a:t>Breskvar</a:t>
            </a:r>
            <a:r>
              <a:rPr lang="en-AU" sz="1200" dirty="0"/>
              <a:t> were the registered owners of the land. They took a loan of $1,200 from Petrie and gave Petrie the title documents and transfer papers as collateral. Petrie fraudulently inserted the name of his grandson G.W. Wall onto transfer papers and had it registered with Titles Office. Petrie, on behalf of Wall sold the property for $3,500 to Alban Pty Ltd who were unaware of the fraud. The </a:t>
            </a:r>
            <a:r>
              <a:rPr lang="en-AU" sz="1200" dirty="0" err="1"/>
              <a:t>Breskvars</a:t>
            </a:r>
            <a:r>
              <a:rPr lang="en-AU" sz="1200" dirty="0"/>
              <a:t> were trying to sell the land and discovered that Wall had been registered on the title and lodged a caveat in an attempt to prevent the property from being sold. The caveat was lodged after the sale to Alban Pty Ltd had been completed, but before the transfer had been registered.</a:t>
            </a:r>
            <a:endParaRPr lang="en-US" altLang="en-US" sz="1100" dirty="0">
              <a:solidFill>
                <a:srgbClr val="000000"/>
              </a:solidFill>
              <a:ea typeface="ＭＳ Ｐゴシック" pitchFamily="34" charset="-128"/>
            </a:endParaRPr>
          </a:p>
          <a:p>
            <a:pPr algn="just">
              <a:spcBef>
                <a:spcPts val="900"/>
              </a:spcBef>
              <a:buNone/>
              <a:tabLst>
                <a:tab pos="267891" algn="l"/>
              </a:tabLst>
              <a:defRPr/>
            </a:pPr>
            <a:r>
              <a:rPr lang="en-US" altLang="en-US" sz="1100" dirty="0">
                <a:solidFill>
                  <a:srgbClr val="000000"/>
                </a:solidFill>
                <a:ea typeface="ＭＳ Ｐゴシック" pitchFamily="34" charset="-128"/>
              </a:rPr>
              <a:t>Note: The grandson, Wall, was ‘in on it’ so he didn’t get indefeasible title. (fraud = exception to indefeasibility). But Albans as innocent purchasers for value (without notice) did get indefeasible title.</a:t>
            </a:r>
            <a:r>
              <a:rPr lang="en-US" altLang="en-US" i="1" dirty="0">
                <a:solidFill>
                  <a:srgbClr val="000000"/>
                </a:solidFill>
                <a:ea typeface="ＭＳ Ｐゴシック" pitchFamily="34" charset="-128"/>
              </a:rPr>
              <a:t>	</a:t>
            </a: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Torrens Indefeasibility of Title</a:t>
            </a:r>
          </a:p>
        </p:txBody>
      </p:sp>
    </p:spTree>
    <p:extLst>
      <p:ext uri="{BB962C8B-B14F-4D97-AF65-F5344CB8AC3E}">
        <p14:creationId xmlns:p14="http://schemas.microsoft.com/office/powerpoint/2010/main" val="1715943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360866" y="833152"/>
            <a:ext cx="4034965" cy="4310348"/>
          </a:xfrm>
        </p:spPr>
        <p:txBody>
          <a:bodyPr>
            <a:normAutofit fontScale="92500" lnSpcReduction="20000"/>
          </a:bodyPr>
          <a:lstStyle/>
          <a:p>
            <a:pPr algn="just">
              <a:spcBef>
                <a:spcPts val="900"/>
              </a:spcBef>
              <a:buNone/>
              <a:defRPr/>
            </a:pPr>
            <a:r>
              <a:rPr lang="en-AU" altLang="en-US" sz="1800" dirty="0">
                <a:ea typeface="ＭＳ Ｐゴシック" pitchFamily="34" charset="-128"/>
              </a:rPr>
              <a:t>The Barwick dictum – let’s hear it again in all its glory!</a:t>
            </a:r>
          </a:p>
          <a:p>
            <a:pPr marL="176213" algn="just">
              <a:spcBef>
                <a:spcPts val="900"/>
              </a:spcBef>
              <a:buNone/>
              <a:defRPr/>
            </a:pPr>
            <a:r>
              <a:rPr lang="en-US" altLang="en-US" sz="1600" dirty="0">
                <a:ea typeface="ＭＳ Ｐゴシック" pitchFamily="34" charset="-128"/>
              </a:rPr>
              <a:t>The Torrens system of registered title … </a:t>
            </a:r>
            <a:r>
              <a:rPr lang="en-US" altLang="en-US" sz="1600" b="1" dirty="0">
                <a:ea typeface="ＭＳ Ｐゴシック" pitchFamily="34" charset="-128"/>
              </a:rPr>
              <a:t>is not a system of registration of title but a system of title by registration</a:t>
            </a:r>
            <a:r>
              <a:rPr lang="en-US" altLang="en-US" sz="1600" dirty="0">
                <a:ea typeface="ＭＳ Ｐゴシック" pitchFamily="34" charset="-128"/>
              </a:rPr>
              <a:t>. That which the certificate of title describes is not the title which the registered proprietor formerly had, or which but for registration would have had. The title it certifies is not historical or derivative. It is the title which registration itself has vested in the proprietor. Consequently, a registration which results from a void instrument is effective according to the terms of the registration. It matters not what the cause or reason for which the instrument is void.</a:t>
            </a:r>
          </a:p>
          <a:p>
            <a:pPr algn="just">
              <a:spcBef>
                <a:spcPts val="900"/>
              </a:spcBef>
              <a:buNone/>
              <a:defRPr/>
            </a:pPr>
            <a:r>
              <a:rPr lang="en-US" altLang="en-US" sz="1800" i="1" dirty="0" err="1">
                <a:ea typeface="ＭＳ Ｐゴシック" pitchFamily="34" charset="-128"/>
              </a:rPr>
              <a:t>Breskvar</a:t>
            </a:r>
            <a:r>
              <a:rPr lang="en-US" altLang="en-US" sz="1800" i="1" dirty="0">
                <a:ea typeface="ＭＳ Ｐゴシック" pitchFamily="34" charset="-128"/>
              </a:rPr>
              <a:t> v Wall </a:t>
            </a:r>
            <a:r>
              <a:rPr lang="en-US" altLang="en-US" sz="1800" dirty="0">
                <a:ea typeface="ＭＳ Ｐゴシック" pitchFamily="34" charset="-128"/>
              </a:rPr>
              <a:t>(1971) 126 CLR 376, 386 (Barwick CJ)</a:t>
            </a:r>
          </a:p>
          <a:p>
            <a:pPr marL="535781" indent="-535781" algn="just">
              <a:spcBef>
                <a:spcPts val="900"/>
              </a:spcBef>
              <a:buNone/>
              <a:tabLst>
                <a:tab pos="267891" algn="l"/>
              </a:tabLst>
              <a:defRPr/>
            </a:pPr>
            <a:r>
              <a:rPr lang="en-US" altLang="en-US" i="1" dirty="0">
                <a:solidFill>
                  <a:srgbClr val="000000"/>
                </a:solidFill>
                <a:ea typeface="ＭＳ Ｐゴシック" pitchFamily="34" charset="-128"/>
              </a:rPr>
              <a:t>		</a:t>
            </a: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Torrens Indefeasibility of Title</a:t>
            </a:r>
          </a:p>
        </p:txBody>
      </p:sp>
      <p:pic>
        <p:nvPicPr>
          <p:cNvPr id="4" name="Picture 3" descr="A group of people posing for a picture&#10;&#10;Description automatically generated">
            <a:extLst>
              <a:ext uri="{FF2B5EF4-FFF2-40B4-BE49-F238E27FC236}">
                <a16:creationId xmlns:a16="http://schemas.microsoft.com/office/drawing/2014/main" id="{01FB0B8B-E90C-1CD5-F909-B699C57827B6}"/>
              </a:ext>
            </a:extLst>
          </p:cNvPr>
          <p:cNvPicPr>
            <a:picLocks noChangeAspect="1"/>
          </p:cNvPicPr>
          <p:nvPr/>
        </p:nvPicPr>
        <p:blipFill>
          <a:blip r:embed="rId2"/>
          <a:stretch>
            <a:fillRect/>
          </a:stretch>
        </p:blipFill>
        <p:spPr>
          <a:xfrm>
            <a:off x="4508314" y="835424"/>
            <a:ext cx="1988820" cy="1736326"/>
          </a:xfrm>
          <a:prstGeom prst="rect">
            <a:avLst/>
          </a:prstGeom>
        </p:spPr>
      </p:pic>
      <p:sp>
        <p:nvSpPr>
          <p:cNvPr id="5" name="TextBox 4">
            <a:extLst>
              <a:ext uri="{FF2B5EF4-FFF2-40B4-BE49-F238E27FC236}">
                <a16:creationId xmlns:a16="http://schemas.microsoft.com/office/drawing/2014/main" id="{C4CF0968-F96F-C27F-577D-ABBBE254E47E}"/>
              </a:ext>
            </a:extLst>
          </p:cNvPr>
          <p:cNvSpPr txBox="1"/>
          <p:nvPr/>
        </p:nvSpPr>
        <p:spPr>
          <a:xfrm>
            <a:off x="4508314" y="2571750"/>
            <a:ext cx="1988820" cy="1762021"/>
          </a:xfrm>
          <a:prstGeom prst="rect">
            <a:avLst/>
          </a:prstGeom>
          <a:noFill/>
        </p:spPr>
        <p:txBody>
          <a:bodyPr wrap="square" rtlCol="0">
            <a:spAutoFit/>
          </a:bodyPr>
          <a:lstStyle/>
          <a:p>
            <a:pPr algn="just">
              <a:spcBef>
                <a:spcPts val="900"/>
              </a:spcBef>
              <a:buNone/>
              <a:defRPr/>
            </a:pPr>
            <a:r>
              <a:rPr lang="en-US" altLang="en-US" sz="1000" dirty="0">
                <a:ea typeface="ＭＳ Ｐゴシック" pitchFamily="34" charset="-128"/>
              </a:rPr>
              <a:t>Or, as put by the Backstreet Boys equally eloquently:</a:t>
            </a:r>
          </a:p>
          <a:p>
            <a:pPr algn="just">
              <a:spcBef>
                <a:spcPts val="900"/>
              </a:spcBef>
              <a:defRPr/>
            </a:pPr>
            <a:r>
              <a:rPr lang="en-US" altLang="en-US" sz="1000" dirty="0">
                <a:ea typeface="ＭＳ Ｐゴシック" pitchFamily="34" charset="-128"/>
              </a:rPr>
              <a:t>‘Don’t care who you are </a:t>
            </a:r>
            <a:r>
              <a:rPr lang="en-US" altLang="en-US" sz="1000" dirty="0" err="1">
                <a:ea typeface="ＭＳ Ｐゴシック" pitchFamily="34" charset="-128"/>
              </a:rPr>
              <a:t>are</a:t>
            </a:r>
            <a:r>
              <a:rPr lang="en-US" altLang="en-US" sz="1000" dirty="0">
                <a:ea typeface="ＭＳ Ｐゴシック" pitchFamily="34" charset="-128"/>
              </a:rPr>
              <a:t>, where you’re from, what you did, as long as you </a:t>
            </a:r>
            <a:r>
              <a:rPr lang="en-US" altLang="en-US" sz="1000" strike="sngStrike" dirty="0">
                <a:ea typeface="ＭＳ Ｐゴシック" panose="020B0600070205080204" pitchFamily="34" charset="-128"/>
              </a:rPr>
              <a:t>love me </a:t>
            </a:r>
            <a:r>
              <a:rPr lang="en-US" altLang="en-US" sz="1000" dirty="0">
                <a:ea typeface="ＭＳ Ｐゴシック" pitchFamily="34" charset="-128"/>
              </a:rPr>
              <a:t>are registered’.</a:t>
            </a:r>
          </a:p>
          <a:p>
            <a:pPr algn="just">
              <a:spcBef>
                <a:spcPts val="900"/>
              </a:spcBef>
              <a:defRPr/>
            </a:pPr>
            <a:r>
              <a:rPr lang="en-US" altLang="en-US" sz="1000" dirty="0">
                <a:solidFill>
                  <a:srgbClr val="000000"/>
                </a:solidFill>
                <a:ea typeface="ＭＳ Ｐゴシック" pitchFamily="34" charset="-128"/>
              </a:rPr>
              <a:t>(But does registration make you larger than life? Hmmm…</a:t>
            </a:r>
          </a:p>
          <a:p>
            <a:endParaRPr lang="en-AU" dirty="0"/>
          </a:p>
        </p:txBody>
      </p:sp>
    </p:spTree>
    <p:extLst>
      <p:ext uri="{BB962C8B-B14F-4D97-AF65-F5344CB8AC3E}">
        <p14:creationId xmlns:p14="http://schemas.microsoft.com/office/powerpoint/2010/main" val="3532765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371901" y="833152"/>
            <a:ext cx="5201884" cy="3742815"/>
          </a:xfrm>
        </p:spPr>
        <p:txBody>
          <a:bodyPr>
            <a:normAutofit lnSpcReduction="10000"/>
          </a:bodyPr>
          <a:lstStyle/>
          <a:p>
            <a:pPr marL="0" indent="0" algn="just">
              <a:spcBef>
                <a:spcPts val="900"/>
              </a:spcBef>
              <a:buNone/>
              <a:defRPr/>
            </a:pPr>
            <a:r>
              <a:rPr lang="en-AU" sz="1600" b="1" dirty="0"/>
              <a:t>Limits to indefeasibility</a:t>
            </a:r>
            <a:endParaRPr lang="en-AU" sz="1600" dirty="0"/>
          </a:p>
          <a:p>
            <a:pPr algn="just">
              <a:spcBef>
                <a:spcPts val="900"/>
              </a:spcBef>
              <a:buNone/>
              <a:defRPr/>
            </a:pPr>
            <a:r>
              <a:rPr lang="en-AU" sz="1600" dirty="0"/>
              <a:t>Indefeasibility under the Torrens system does not extend to </a:t>
            </a:r>
            <a:r>
              <a:rPr lang="en-AU" sz="1600" b="1" dirty="0"/>
              <a:t>personal rights</a:t>
            </a:r>
            <a:r>
              <a:rPr lang="en-AU" sz="1600" dirty="0"/>
              <a:t> unrelated to the land, even if the personal right is included in the registered instrument (in </a:t>
            </a:r>
            <a:r>
              <a:rPr lang="en-AU" sz="1600" dirty="0" err="1"/>
              <a:t>personam</a:t>
            </a:r>
            <a:r>
              <a:rPr lang="en-AU" sz="1600" dirty="0"/>
              <a:t> rights)</a:t>
            </a:r>
          </a:p>
          <a:p>
            <a:pPr algn="just">
              <a:spcBef>
                <a:spcPts val="900"/>
              </a:spcBef>
              <a:buNone/>
              <a:defRPr/>
            </a:pPr>
            <a:r>
              <a:rPr lang="en-AU" sz="1600" dirty="0"/>
              <a:t>Indefeasibility extends only to those </a:t>
            </a:r>
            <a:r>
              <a:rPr lang="en-AU" sz="1600" b="1" dirty="0"/>
              <a:t>covenants</a:t>
            </a:r>
            <a:r>
              <a:rPr lang="en-AU" sz="1600" dirty="0"/>
              <a:t> so closely connected as to be regarded as part of the interest obtained by the registered instrument: </a:t>
            </a:r>
            <a:r>
              <a:rPr lang="en-AU" sz="1600" i="1" dirty="0"/>
              <a:t>Mercantile Credits Ltd v Shell</a:t>
            </a:r>
            <a:r>
              <a:rPr lang="en-AU" sz="1600" dirty="0"/>
              <a:t> (1976) 136 CLR 329.</a:t>
            </a:r>
          </a:p>
          <a:p>
            <a:pPr algn="just">
              <a:spcBef>
                <a:spcPts val="900"/>
              </a:spcBef>
              <a:defRPr/>
            </a:pPr>
            <a:r>
              <a:rPr lang="en-AU" sz="1600" dirty="0"/>
              <a:t>Indefeasibility extends to option to renew in registered lease (but not to matters unconnected with lease such as option to purchase reversionary interest or a clause limiting the landlord from leasing out its adjacent parcels of land to competitors).</a:t>
            </a:r>
          </a:p>
          <a:p>
            <a:pPr marL="547688" indent="-547688" algn="just">
              <a:spcBef>
                <a:spcPts val="900"/>
              </a:spcBef>
              <a:buNone/>
              <a:tabLst>
                <a:tab pos="267891" algn="l"/>
              </a:tabLst>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2000" b="0" dirty="0">
                <a:solidFill>
                  <a:schemeClr val="bg1"/>
                </a:solidFill>
              </a:rPr>
              <a:t>Torrens Indefeasibility of Title</a:t>
            </a:r>
          </a:p>
        </p:txBody>
      </p:sp>
    </p:spTree>
    <p:extLst>
      <p:ext uri="{BB962C8B-B14F-4D97-AF65-F5344CB8AC3E}">
        <p14:creationId xmlns:p14="http://schemas.microsoft.com/office/powerpoint/2010/main" val="427734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13361" y="833152"/>
            <a:ext cx="6605771" cy="3883891"/>
          </a:xfrm>
        </p:spPr>
        <p:txBody>
          <a:bodyPr>
            <a:normAutofit lnSpcReduction="10000"/>
          </a:bodyPr>
          <a:lstStyle/>
          <a:p>
            <a:pPr marL="941785" indent="-406004">
              <a:spcBef>
                <a:spcPts val="900"/>
              </a:spcBef>
              <a:buNone/>
              <a:defRPr/>
            </a:pPr>
            <a:r>
              <a:rPr lang="en-AU" altLang="en-US" sz="1600" spc="-75" dirty="0">
                <a:ea typeface="ＭＳ Ｐゴシック" pitchFamily="34" charset="-128"/>
              </a:rPr>
              <a:t>s 68(1A) Despite subsection (1), the land which shall be included in any certificate of title or registered instrument shall be deemed to be </a:t>
            </a:r>
            <a:r>
              <a:rPr lang="en-AU" altLang="en-US" sz="1600" spc="-75" dirty="0">
                <a:solidFill>
                  <a:srgbClr val="FF0000"/>
                </a:solidFill>
                <a:ea typeface="ＭＳ Ｐゴシック" pitchFamily="34" charset="-128"/>
              </a:rPr>
              <a:t>subject to the reservations exceptions conditions and powers (if any) contained in the grant thereof or transfer of the fee simple or otherwise and to any rights subsisting under any </a:t>
            </a:r>
            <a:r>
              <a:rPr lang="en-AU" altLang="en-US" sz="1600" b="1" spc="-75" dirty="0">
                <a:solidFill>
                  <a:srgbClr val="FF0000"/>
                </a:solidFill>
                <a:ea typeface="ＭＳ Ｐゴシック" pitchFamily="34" charset="-128"/>
              </a:rPr>
              <a:t>adverse possession </a:t>
            </a:r>
            <a:r>
              <a:rPr lang="en-AU" altLang="en-US" sz="1600" spc="-75" dirty="0">
                <a:solidFill>
                  <a:srgbClr val="FF0000"/>
                </a:solidFill>
                <a:ea typeface="ＭＳ Ｐゴシック" pitchFamily="34" charset="-128"/>
              </a:rPr>
              <a:t>of such land and to </a:t>
            </a:r>
            <a:r>
              <a:rPr lang="en-AU" altLang="en-US" sz="1600" b="1" spc="-75" dirty="0">
                <a:solidFill>
                  <a:srgbClr val="FF0000"/>
                </a:solidFill>
                <a:ea typeface="ＭＳ Ｐゴシック" pitchFamily="34" charset="-128"/>
              </a:rPr>
              <a:t>any public rights of way </a:t>
            </a:r>
            <a:r>
              <a:rPr lang="en-AU" altLang="en-US" sz="1600" spc="-75" dirty="0">
                <a:solidFill>
                  <a:srgbClr val="FF0000"/>
                </a:solidFill>
                <a:ea typeface="ＭＳ Ｐゴシック" pitchFamily="34" charset="-128"/>
              </a:rPr>
              <a:t>and to any </a:t>
            </a:r>
            <a:r>
              <a:rPr lang="en-AU" altLang="en-US" sz="1600" b="1" spc="-75" dirty="0">
                <a:solidFill>
                  <a:srgbClr val="FF0000"/>
                </a:solidFill>
                <a:ea typeface="ＭＳ Ｐゴシック" pitchFamily="34" charset="-128"/>
              </a:rPr>
              <a:t>easements</a:t>
            </a:r>
            <a:r>
              <a:rPr lang="en-AU" altLang="en-US" sz="1600" spc="-75" dirty="0">
                <a:solidFill>
                  <a:srgbClr val="FF0000"/>
                </a:solidFill>
                <a:ea typeface="ＭＳ Ｐゴシック" pitchFamily="34" charset="-128"/>
              </a:rPr>
              <a:t> acquired by enjoyment or user or subsisting over or upon or affecting such land and to any </a:t>
            </a:r>
            <a:r>
              <a:rPr lang="en-AU" altLang="en-US" sz="1600" b="1" spc="-75" dirty="0">
                <a:solidFill>
                  <a:srgbClr val="FF0000"/>
                </a:solidFill>
                <a:ea typeface="ＭＳ Ｐゴシック" pitchFamily="34" charset="-128"/>
              </a:rPr>
              <a:t>unpaid rates </a:t>
            </a:r>
            <a:r>
              <a:rPr lang="en-AU" altLang="en-US" sz="1600" spc="-75" dirty="0">
                <a:solidFill>
                  <a:srgbClr val="FF0000"/>
                </a:solidFill>
                <a:ea typeface="ＭＳ Ｐゴシック" pitchFamily="34" charset="-128"/>
              </a:rPr>
              <a:t>and to any </a:t>
            </a:r>
            <a:r>
              <a:rPr lang="en-AU" altLang="en-US" sz="1600" b="1" spc="-75" dirty="0">
                <a:solidFill>
                  <a:srgbClr val="FF0000"/>
                </a:solidFill>
                <a:ea typeface="ＭＳ Ｐゴシック" pitchFamily="34" charset="-128"/>
              </a:rPr>
              <a:t>mining lease or licence </a:t>
            </a:r>
            <a:r>
              <a:rPr lang="en-AU" altLang="en-US" sz="1600" spc="-75" dirty="0">
                <a:solidFill>
                  <a:srgbClr val="FF0000"/>
                </a:solidFill>
                <a:ea typeface="ＭＳ Ｐゴシック" pitchFamily="34" charset="-128"/>
              </a:rPr>
              <a:t>issued under the provisions of any statute and to any </a:t>
            </a:r>
            <a:r>
              <a:rPr lang="en-AU" altLang="en-US" sz="1600" b="1" spc="-75" dirty="0">
                <a:solidFill>
                  <a:srgbClr val="FF0000"/>
                </a:solidFill>
                <a:ea typeface="ＭＳ Ｐゴシック" pitchFamily="34" charset="-128"/>
              </a:rPr>
              <a:t>prior unregistered lease </a:t>
            </a:r>
            <a:r>
              <a:rPr lang="en-AU" altLang="en-US" sz="1600" spc="-75" dirty="0">
                <a:solidFill>
                  <a:srgbClr val="FF0000"/>
                </a:solidFill>
                <a:ea typeface="ＭＳ Ｐゴシック" pitchFamily="34" charset="-128"/>
              </a:rPr>
              <a:t>or agreement for lease or for letting for a term </a:t>
            </a:r>
            <a:r>
              <a:rPr lang="en-AU" altLang="en-US" sz="1600" b="1" spc="-75" dirty="0">
                <a:solidFill>
                  <a:srgbClr val="FF0000"/>
                </a:solidFill>
                <a:ea typeface="ＭＳ Ｐゴシック" pitchFamily="34" charset="-128"/>
              </a:rPr>
              <a:t>not exceeding 5 years to a tenant in actual possession </a:t>
            </a:r>
            <a:r>
              <a:rPr lang="en-AU" altLang="en-US" sz="1600" spc="-75" dirty="0">
                <a:ea typeface="ＭＳ Ｐゴシック" pitchFamily="34" charset="-128"/>
              </a:rPr>
              <a:t>notwithstanding the same respectively may not be specially notified as encumbrances on such certificate or instrument but no option of purchase or renewal in any such lease or agreement shall be valid as against a subsequent registered interest unless such lease or agreement is registered or protected by caveat. </a:t>
            </a:r>
          </a:p>
          <a:p>
            <a:pPr marL="547688" indent="-547688" algn="just">
              <a:spcBef>
                <a:spcPts val="900"/>
              </a:spcBef>
              <a:buNone/>
              <a:tabLst>
                <a:tab pos="267891" algn="l"/>
              </a:tabLst>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r>
              <a:rPr lang="en-AU" sz="1800" b="0" dirty="0">
                <a:solidFill>
                  <a:schemeClr val="bg1"/>
                </a:solidFill>
              </a:rPr>
              <a:t>Torrens Indefeasibility of Title – exceptions within TLA – s68(1A). Here it is again!</a:t>
            </a:r>
            <a:endParaRPr lang="en-AU" sz="1800" b="0" dirty="0"/>
          </a:p>
        </p:txBody>
      </p:sp>
    </p:spTree>
    <p:extLst>
      <p:ext uri="{BB962C8B-B14F-4D97-AF65-F5344CB8AC3E}">
        <p14:creationId xmlns:p14="http://schemas.microsoft.com/office/powerpoint/2010/main" val="4267758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0" y="833152"/>
            <a:ext cx="4144869" cy="4049241"/>
          </a:xfrm>
        </p:spPr>
        <p:txBody>
          <a:bodyPr>
            <a:normAutofit/>
          </a:bodyPr>
          <a:lstStyle/>
          <a:p>
            <a:pPr algn="just">
              <a:spcBef>
                <a:spcPts val="900"/>
              </a:spcBef>
              <a:buNone/>
              <a:defRPr/>
            </a:pPr>
            <a:r>
              <a:rPr lang="en-AU" altLang="en-US" sz="1200" dirty="0">
                <a:ea typeface="ＭＳ Ｐゴシック" pitchFamily="34" charset="-128"/>
              </a:rPr>
              <a:t>s 68(1)</a:t>
            </a:r>
            <a:r>
              <a:rPr lang="en-AU" altLang="en-US" sz="1200" i="1" dirty="0">
                <a:ea typeface="ＭＳ Ｐゴシック" pitchFamily="34" charset="-128"/>
              </a:rPr>
              <a:t>TLA</a:t>
            </a:r>
            <a:r>
              <a:rPr lang="en-AU" altLang="en-US" sz="1200" dirty="0">
                <a:ea typeface="ＭＳ Ｐゴシック" pitchFamily="34" charset="-128"/>
              </a:rPr>
              <a:t>:</a:t>
            </a:r>
            <a:r>
              <a:rPr lang="en-US" altLang="en-US" sz="1200" spc="23" dirty="0">
                <a:ea typeface="ＭＳ Ｐゴシック" pitchFamily="34" charset="-128"/>
              </a:rPr>
              <a:t> </a:t>
            </a:r>
          </a:p>
          <a:p>
            <a:pPr algn="just">
              <a:spcBef>
                <a:spcPts val="900"/>
              </a:spcBef>
              <a:buNone/>
              <a:defRPr/>
            </a:pPr>
            <a:r>
              <a:rPr lang="en-US" altLang="en-US" sz="1200" spc="23" dirty="0">
                <a:ea typeface="ＭＳ Ｐゴシック" pitchFamily="34" charset="-128"/>
              </a:rPr>
              <a:t>Notwithstanding the existence in any other person of any estate or interest whether derived by grant or transfer of the fee simple from the Crown or otherwise which but for this Act might be held to be paramount or to have priority the proprietor of land or of any estate or interest in land under the operation of this Act shall except in case of fraud hold the same subject to such encumbrances as may be notified on the registered certificate of title for the land; but absolutely free from all other encumbrances whatsoever </a:t>
            </a:r>
            <a:r>
              <a:rPr lang="en-US" altLang="en-US" sz="1200" spc="23" dirty="0">
                <a:solidFill>
                  <a:srgbClr val="FF0000"/>
                </a:solidFill>
                <a:ea typeface="ＭＳ Ｐゴシック" pitchFamily="34" charset="-128"/>
              </a:rPr>
              <a:t>except the estate or interest of a proprietor claiming the same land under a prior registered certificate of title and </a:t>
            </a:r>
            <a:r>
              <a:rPr lang="en-US" altLang="en-US" sz="1200" b="1" spc="23" dirty="0">
                <a:solidFill>
                  <a:srgbClr val="FF0000"/>
                </a:solidFill>
                <a:ea typeface="ＭＳ Ｐゴシック" pitchFamily="34" charset="-128"/>
              </a:rPr>
              <a:t>except</a:t>
            </a:r>
            <a:r>
              <a:rPr lang="en-US" altLang="en-US" sz="1200" spc="23" dirty="0">
                <a:ea typeface="ＭＳ Ｐゴシック" pitchFamily="34" charset="-128"/>
              </a:rPr>
              <a:t> </a:t>
            </a:r>
            <a:r>
              <a:rPr lang="en-US" altLang="en-US" sz="1200" spc="23" dirty="0">
                <a:solidFill>
                  <a:srgbClr val="FF0000"/>
                </a:solidFill>
                <a:ea typeface="ＭＳ Ｐゴシック" pitchFamily="34" charset="-128"/>
              </a:rPr>
              <a:t>as regards any portion of land that may by wrong description of parcels or boundaries be included in the certificate of title or instrument evidencing the title of such proprietor not being a purchaser for valuable consideration or deriving from or through such a purchaser.</a:t>
            </a:r>
          </a:p>
          <a:p>
            <a:pPr algn="just">
              <a:spcBef>
                <a:spcPts val="900"/>
              </a:spcBef>
              <a:buNone/>
              <a:tabLst>
                <a:tab pos="267891" algn="l"/>
              </a:tabLst>
              <a:defRPr/>
            </a:pPr>
            <a:r>
              <a:rPr lang="en-US" altLang="en-US" sz="900" b="1" dirty="0">
                <a:ea typeface="ＭＳ Ｐゴシック" pitchFamily="34" charset="-128"/>
              </a:rPr>
              <a:t>               </a:t>
            </a:r>
          </a:p>
          <a:p>
            <a:pPr marL="547688" indent="-547688" algn="just">
              <a:spcBef>
                <a:spcPts val="900"/>
              </a:spcBef>
              <a:buNone/>
              <a:tabLst>
                <a:tab pos="267891" algn="l"/>
              </a:tabLst>
              <a:defRPr/>
            </a:pPr>
            <a:r>
              <a:rPr lang="en-US" altLang="en-US" sz="900" b="1" dirty="0">
                <a:ea typeface="ＭＳ Ｐゴシック" pitchFamily="34" charset="-128"/>
              </a:rPr>
              <a:t>		</a:t>
            </a: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r>
              <a:rPr lang="en-AU" sz="1800" b="0" dirty="0">
                <a:solidFill>
                  <a:schemeClr val="bg1"/>
                </a:solidFill>
              </a:rPr>
              <a:t>But there are exceptions to indefeasibility of title in section 68(1) itself? The ‘</a:t>
            </a:r>
            <a:r>
              <a:rPr lang="en-AU" sz="1800" b="0" dirty="0" err="1">
                <a:solidFill>
                  <a:schemeClr val="bg1"/>
                </a:solidFill>
              </a:rPr>
              <a:t>Oops’</a:t>
            </a:r>
            <a:r>
              <a:rPr lang="en-AU" sz="1800" b="0" dirty="0">
                <a:solidFill>
                  <a:schemeClr val="bg1"/>
                </a:solidFill>
              </a:rPr>
              <a:t> exceptions)</a:t>
            </a:r>
          </a:p>
        </p:txBody>
      </p:sp>
      <p:pic>
        <p:nvPicPr>
          <p:cNvPr id="5" name="Picture 4" descr="A cat lying on a window sill&#10;&#10;Description automatically generated">
            <a:extLst>
              <a:ext uri="{FF2B5EF4-FFF2-40B4-BE49-F238E27FC236}">
                <a16:creationId xmlns:a16="http://schemas.microsoft.com/office/drawing/2014/main" id="{63F606E1-2263-3E73-2A14-A5789B3FFD8F}"/>
              </a:ext>
            </a:extLst>
          </p:cNvPr>
          <p:cNvPicPr>
            <a:picLocks noChangeAspect="1"/>
          </p:cNvPicPr>
          <p:nvPr/>
        </p:nvPicPr>
        <p:blipFill>
          <a:blip r:embed="rId2"/>
          <a:stretch>
            <a:fillRect/>
          </a:stretch>
        </p:blipFill>
        <p:spPr>
          <a:xfrm>
            <a:off x="4628520" y="922021"/>
            <a:ext cx="1609402" cy="2743968"/>
          </a:xfrm>
          <a:prstGeom prst="rect">
            <a:avLst/>
          </a:prstGeom>
        </p:spPr>
      </p:pic>
      <p:sp>
        <p:nvSpPr>
          <p:cNvPr id="4" name="TextBox 3">
            <a:extLst>
              <a:ext uri="{FF2B5EF4-FFF2-40B4-BE49-F238E27FC236}">
                <a16:creationId xmlns:a16="http://schemas.microsoft.com/office/drawing/2014/main" id="{C0D192F5-4C60-E5F7-91E3-537B316527C4}"/>
              </a:ext>
            </a:extLst>
          </p:cNvPr>
          <p:cNvSpPr txBox="1"/>
          <p:nvPr/>
        </p:nvSpPr>
        <p:spPr>
          <a:xfrm>
            <a:off x="4628520" y="3833769"/>
            <a:ext cx="1609402" cy="553998"/>
          </a:xfrm>
          <a:prstGeom prst="rect">
            <a:avLst/>
          </a:prstGeom>
          <a:noFill/>
        </p:spPr>
        <p:txBody>
          <a:bodyPr wrap="square" rtlCol="0">
            <a:spAutoFit/>
          </a:bodyPr>
          <a:lstStyle/>
          <a:p>
            <a:r>
              <a:rPr lang="en-US" altLang="en-US" sz="1000" dirty="0">
                <a:ea typeface="ＭＳ Ｐゴシック" pitchFamily="34" charset="-128"/>
              </a:rPr>
              <a:t>In other words, someone at Landgate has stuffed up!</a:t>
            </a:r>
            <a:endParaRPr lang="en-AU" sz="1000" dirty="0"/>
          </a:p>
        </p:txBody>
      </p:sp>
    </p:spTree>
    <p:extLst>
      <p:ext uri="{BB962C8B-B14F-4D97-AF65-F5344CB8AC3E}">
        <p14:creationId xmlns:p14="http://schemas.microsoft.com/office/powerpoint/2010/main" val="4027645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665515" y="833152"/>
            <a:ext cx="5928231" cy="3883891"/>
          </a:xfrm>
        </p:spPr>
        <p:txBody>
          <a:bodyPr>
            <a:normAutofit lnSpcReduction="10000"/>
          </a:bodyPr>
          <a:lstStyle/>
          <a:p>
            <a:pPr marL="535781" indent="-535781" algn="just">
              <a:buNone/>
            </a:pPr>
            <a:r>
              <a:rPr lang="en-AU" altLang="en-US" sz="1400" dirty="0">
                <a:ea typeface="ＭＳ Ｐゴシック" panose="020B0600070205080204" pitchFamily="34" charset="-128"/>
              </a:rPr>
              <a:t>s 76(1) The Registrar’s power of correction </a:t>
            </a:r>
          </a:p>
          <a:p>
            <a:pPr marL="176213" algn="just">
              <a:buNone/>
            </a:pPr>
            <a:r>
              <a:rPr lang="en-AU" altLang="en-US" sz="1300" b="1" dirty="0">
                <a:ea typeface="ＭＳ Ｐゴシック" panose="020B0600070205080204" pitchFamily="34" charset="-128"/>
              </a:rPr>
              <a:t>In case it shall appear to the satisfaction of the Commissioner</a:t>
            </a:r>
            <a:r>
              <a:rPr lang="en-AU" altLang="en-US" sz="1300" dirty="0">
                <a:ea typeface="ＭＳ Ｐゴシック" panose="020B0600070205080204" pitchFamily="34" charset="-128"/>
              </a:rPr>
              <a:t> that any duplicate certificate of title or instrument has been issued in error or contains any misdescription of land or of boundaries or that any entry or endorsement has been made in error on any duplicate certificate of title or instrument or that any duplicate certificate instrument entry or endorsement has been fraudulently or wrongfully obtained or that any duplicate certificate or instrument is fraudulently or wrongfully retained </a:t>
            </a:r>
            <a:r>
              <a:rPr lang="en-AU" altLang="en-US" sz="1300" b="1" dirty="0">
                <a:ea typeface="ＭＳ Ｐゴシック" panose="020B0600070205080204" pitchFamily="34" charset="-128"/>
              </a:rPr>
              <a:t>he may by notice in writing </a:t>
            </a:r>
            <a:r>
              <a:rPr lang="en-AU" altLang="en-US" sz="1300" dirty="0">
                <a:ea typeface="ＭＳ Ｐゴシック" panose="020B0600070205080204" pitchFamily="34" charset="-128"/>
              </a:rPr>
              <a:t>require the person to whom such document has been so issued or by whom it has been so obtained or is retained to deliver up the same for the purpose of being </a:t>
            </a:r>
            <a:r>
              <a:rPr lang="en-AU" altLang="en-US" sz="1300" b="1" dirty="0">
                <a:ea typeface="ＭＳ Ｐゴシック" panose="020B0600070205080204" pitchFamily="34" charset="-128"/>
              </a:rPr>
              <a:t>cancelled or corrected </a:t>
            </a:r>
            <a:r>
              <a:rPr lang="en-AU" altLang="en-US" sz="1300" dirty="0">
                <a:ea typeface="ＭＳ Ｐゴシック" panose="020B0600070205080204" pitchFamily="34" charset="-128"/>
              </a:rPr>
              <a:t>…</a:t>
            </a:r>
          </a:p>
          <a:p>
            <a:pPr algn="just">
              <a:spcBef>
                <a:spcPts val="900"/>
              </a:spcBef>
              <a:buNone/>
            </a:pPr>
            <a:r>
              <a:rPr lang="en-AU" altLang="en-US" sz="1400" dirty="0">
                <a:ea typeface="ＭＳ Ｐゴシック" panose="020B0600070205080204" pitchFamily="34" charset="-128"/>
              </a:rPr>
              <a:t>Commentary on s 76 – </a:t>
            </a:r>
          </a:p>
          <a:p>
            <a:pPr marL="176213" algn="just">
              <a:spcBef>
                <a:spcPts val="900"/>
              </a:spcBef>
              <a:buNone/>
            </a:pPr>
            <a:r>
              <a:rPr lang="en-AU" altLang="en-US" sz="1300" dirty="0">
                <a:ea typeface="ＭＳ Ｐゴシック" panose="020B0600070205080204" pitchFamily="34" charset="-128"/>
              </a:rPr>
              <a:t>The Registrar can cancel or correct a document where fraud has occurred. However, s 76 has not been interpreted to create a further exception to indefeasibility. The power is used only in simple cases where there is no difficult question of law or fact to be resolved, and the power will not be used where a bona fide purchaser has acquired an interest.</a:t>
            </a:r>
          </a:p>
          <a:p>
            <a:pPr algn="just">
              <a:spcBef>
                <a:spcPts val="900"/>
              </a:spcBef>
              <a:buNone/>
            </a:pPr>
            <a:r>
              <a:rPr lang="en-AU" altLang="en-US" sz="1400" i="1" dirty="0">
                <a:ea typeface="ＭＳ Ｐゴシック" panose="020B0600070205080204" pitchFamily="34" charset="-128"/>
              </a:rPr>
              <a:t>Frazer v Walker </a:t>
            </a:r>
            <a:r>
              <a:rPr lang="en-AU" altLang="en-US" sz="1400" dirty="0">
                <a:ea typeface="ＭＳ Ｐゴシック" panose="020B0600070205080204" pitchFamily="34" charset="-128"/>
              </a:rPr>
              <a:t>case</a:t>
            </a:r>
          </a:p>
          <a:p>
            <a:pPr marL="535781" indent="-535781" algn="just">
              <a:buNone/>
            </a:pPr>
            <a:endParaRPr lang="en-AU" altLang="en-US" sz="900" i="1" dirty="0">
              <a:ea typeface="ＭＳ Ｐゴシック" panose="020B0600070205080204" pitchFamily="34" charset="-128"/>
            </a:endParaRPr>
          </a:p>
          <a:p>
            <a:pPr marL="547688" indent="-547688" algn="just">
              <a:spcBef>
                <a:spcPts val="900"/>
              </a:spcBef>
              <a:buNone/>
              <a:tabLst>
                <a:tab pos="267891" algn="l"/>
              </a:tabLst>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r>
              <a:rPr lang="en-AU" sz="1800" b="0" dirty="0">
                <a:solidFill>
                  <a:schemeClr val="bg1"/>
                </a:solidFill>
              </a:rPr>
              <a:t>Torrens Indefeasibility of Title – Correcting Errors</a:t>
            </a:r>
          </a:p>
        </p:txBody>
      </p:sp>
    </p:spTree>
    <p:extLst>
      <p:ext uri="{BB962C8B-B14F-4D97-AF65-F5344CB8AC3E}">
        <p14:creationId xmlns:p14="http://schemas.microsoft.com/office/powerpoint/2010/main" val="2567075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0" y="833152"/>
            <a:ext cx="5478720" cy="3883891"/>
          </a:xfrm>
        </p:spPr>
        <p:txBody>
          <a:bodyPr>
            <a:normAutofit/>
          </a:bodyPr>
          <a:lstStyle/>
          <a:p>
            <a:pPr marL="535781" indent="-535781">
              <a:buNone/>
            </a:pPr>
            <a:r>
              <a:rPr lang="en-AU" altLang="en-US" sz="1600" dirty="0">
                <a:ea typeface="ＭＳ Ｐゴシック" panose="020B0600070205080204" pitchFamily="34" charset="-128"/>
              </a:rPr>
              <a:t>Section 188(3) TLA: Registrar’s power of correction</a:t>
            </a:r>
          </a:p>
          <a:p>
            <a:pPr marL="176213">
              <a:buNone/>
            </a:pPr>
            <a:r>
              <a:rPr lang="en-US" altLang="en-US" sz="1400" dirty="0">
                <a:ea typeface="ＭＳ Ｐゴシック" panose="020B0600070205080204" pitchFamily="34" charset="-128"/>
              </a:rPr>
              <a:t>The Registrar shall upon the direction of the Commissioner correct errors in the Register or in entries made therein or in duplicate certificates (in cases of paper titles) or instruments or graphics and may supply entries omitted to be made under the provisions of this Act.</a:t>
            </a:r>
          </a:p>
          <a:p>
            <a:r>
              <a:rPr lang="en-AU" altLang="en-US" sz="1600" dirty="0">
                <a:ea typeface="ＭＳ Ｐゴシック" panose="020B0600070205080204" pitchFamily="34" charset="-128"/>
              </a:rPr>
              <a:t>Commentary on s 188 – Errors can be corrected but without prejudice to rights arising from a prior entry on the register. So the Registrar’s power is limited to the period before a bona fide purchaser or mortgage acquires an interest, having relied upon the register.</a:t>
            </a:r>
          </a:p>
          <a:p>
            <a:pPr marL="535781" indent="-535781">
              <a:buNone/>
            </a:pPr>
            <a:endParaRPr lang="en-US" altLang="en-US" sz="900" i="1" dirty="0">
              <a:ea typeface="ＭＳ Ｐゴシック" panose="020B0600070205080204" pitchFamily="34" charset="-128"/>
            </a:endParaRPr>
          </a:p>
          <a:p>
            <a:pPr marL="535781" indent="-535781" algn="just">
              <a:buNone/>
            </a:pPr>
            <a:endParaRPr lang="en-AU" altLang="en-US" sz="900" i="1" dirty="0">
              <a:ea typeface="ＭＳ Ｐゴシック" panose="020B0600070205080204" pitchFamily="34" charset="-128"/>
            </a:endParaRPr>
          </a:p>
          <a:p>
            <a:pPr marL="547688" indent="-547688" algn="just">
              <a:spcBef>
                <a:spcPts val="900"/>
              </a:spcBef>
              <a:buNone/>
              <a:tabLst>
                <a:tab pos="267891" algn="l"/>
              </a:tabLst>
              <a:defRPr/>
            </a:pPr>
            <a:endParaRPr lang="en-US" altLang="en-US" sz="900" b="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Torrens Indefeasibility of Title – Correcting Errors</a:t>
            </a:r>
          </a:p>
        </p:txBody>
      </p:sp>
    </p:spTree>
    <p:extLst>
      <p:ext uri="{BB962C8B-B14F-4D97-AF65-F5344CB8AC3E}">
        <p14:creationId xmlns:p14="http://schemas.microsoft.com/office/powerpoint/2010/main" val="1190327090"/>
      </p:ext>
    </p:extLst>
  </p:cSld>
  <p:clrMapOvr>
    <a:masterClrMapping/>
  </p:clrMapOvr>
</p:sld>
</file>

<file path=ppt/theme/theme1.xml><?xml version="1.0" encoding="utf-8"?>
<a:theme xmlns:a="http://schemas.openxmlformats.org/drawingml/2006/main" name="Office Theme">
  <a:themeElements>
    <a:clrScheme name="World Ready B&amp;L">
      <a:dk1>
        <a:srgbClr val="101920"/>
      </a:dk1>
      <a:lt1>
        <a:srgbClr val="FFFFFF"/>
      </a:lt1>
      <a:dk2>
        <a:srgbClr val="404140"/>
      </a:dk2>
      <a:lt2>
        <a:srgbClr val="FFFFFF"/>
      </a:lt2>
      <a:accent1>
        <a:srgbClr val="004B85"/>
      </a:accent1>
      <a:accent2>
        <a:srgbClr val="BE2F36"/>
      </a:accent2>
      <a:accent3>
        <a:srgbClr val="FFC658"/>
      </a:accent3>
      <a:accent4>
        <a:srgbClr val="7E71B3"/>
      </a:accent4>
      <a:accent5>
        <a:srgbClr val="F26122"/>
      </a:accent5>
      <a:accent6>
        <a:srgbClr val="EFECE5"/>
      </a:accent6>
      <a:hlink>
        <a:srgbClr val="004B85"/>
      </a:hlink>
      <a:folHlink>
        <a:srgbClr val="F2612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perty law 1 Lecture 1 2022" id="{E7BE7D35-74D4-45FB-AD1E-42753974E9E7}" vid="{DB914E17-A141-4B07-AD21-1298645D11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Property law 1 Lecture 1 2022</Template>
  <TotalTime>2133</TotalTime>
  <Words>2446</Words>
  <Application>Microsoft Office PowerPoint</Application>
  <PresentationFormat>Custom</PresentationFormat>
  <Paragraphs>119</Paragraphs>
  <Slides>16</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Arial</vt:lpstr>
      <vt:lpstr>ＭＳ Ｐゴシック</vt:lpstr>
      <vt:lpstr>Calibri</vt:lpstr>
      <vt:lpstr>Office Theme</vt:lpstr>
      <vt:lpstr>Packager Shell Object</vt:lpstr>
      <vt:lpstr>LAW2102 PROPERTY LAW 1 </vt:lpstr>
      <vt:lpstr>Today’s Agenda/Learning Objectives</vt:lpstr>
      <vt:lpstr>Purpose and Objectives of Torrens System</vt:lpstr>
      <vt:lpstr>Purpose and Objectives of Torrens System</vt:lpstr>
      <vt:lpstr>Torrens registration process</vt:lpstr>
      <vt:lpstr>Effect of Registration </vt:lpstr>
      <vt:lpstr>Torrens Indefeasibility of Title</vt:lpstr>
      <vt:lpstr>Torrens Indefeasibility of Title</vt:lpstr>
      <vt:lpstr>Torrens Indefeasibility of Title</vt:lpstr>
      <vt:lpstr>Torrens Indefeasibility of Title</vt:lpstr>
      <vt:lpstr>Torrens Indefeasibility of Title</vt:lpstr>
      <vt:lpstr>Torrens Indefeasibility of Title</vt:lpstr>
      <vt:lpstr>Torrens Indefeasibility of Title – exceptions within TLA – s68(1A). Here it is again!</vt:lpstr>
      <vt:lpstr>But there are exceptions to indefeasibility of title in section 68(1) itself? The ‘Oops’ exceptions)</vt:lpstr>
      <vt:lpstr>Torrens Indefeasibility of Title – Correcting Errors</vt:lpstr>
      <vt:lpstr>Torrens Indefeasibility of Title – Correcting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LAW2102 PROPERTY 1</dc:title>
  <dc:creator>Haydn RIGBY</dc:creator>
  <cp:lastModifiedBy>Joshua Forrester</cp:lastModifiedBy>
  <cp:revision>56</cp:revision>
  <dcterms:created xsi:type="dcterms:W3CDTF">2022-02-06T13:04:31Z</dcterms:created>
  <dcterms:modified xsi:type="dcterms:W3CDTF">2026-04-12T07:16:21Z</dcterms:modified>
</cp:coreProperties>
</file>