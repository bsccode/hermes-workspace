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bookmarkIdSeed="2">
  <p:sldMasterIdLst>
    <p:sldMasterId id="2147483677" r:id="rId1"/>
  </p:sldMasterIdLst>
  <p:notesMasterIdLst>
    <p:notesMasterId r:id="rId23"/>
  </p:notesMasterIdLst>
  <p:handoutMasterIdLst>
    <p:handoutMasterId r:id="rId24"/>
  </p:handoutMasterIdLst>
  <p:sldIdLst>
    <p:sldId id="258" r:id="rId2"/>
    <p:sldId id="417" r:id="rId3"/>
    <p:sldId id="477" r:id="rId4"/>
    <p:sldId id="497" r:id="rId5"/>
    <p:sldId id="478" r:id="rId6"/>
    <p:sldId id="479" r:id="rId7"/>
    <p:sldId id="480" r:id="rId8"/>
    <p:sldId id="452" r:id="rId9"/>
    <p:sldId id="467" r:id="rId10"/>
    <p:sldId id="468" r:id="rId11"/>
    <p:sldId id="482" r:id="rId12"/>
    <p:sldId id="486" r:id="rId13"/>
    <p:sldId id="487" r:id="rId14"/>
    <p:sldId id="488" r:id="rId15"/>
    <p:sldId id="498" r:id="rId16"/>
    <p:sldId id="496" r:id="rId17"/>
    <p:sldId id="495" r:id="rId18"/>
    <p:sldId id="490" r:id="rId19"/>
    <p:sldId id="491" r:id="rId20"/>
    <p:sldId id="493" r:id="rId21"/>
    <p:sldId id="494" r:id="rId22"/>
  </p:sldIdLst>
  <p:sldSz cx="6858000" cy="5143500"/>
  <p:notesSz cx="6858000" cy="9144000"/>
  <p:embeddedFontLst>
    <p:embeddedFont>
      <p:font typeface="ＭＳ Ｐゴシック" panose="020B0600070205080204" pitchFamily="34" charset="-128"/>
      <p:regular r:id="rId25"/>
    </p:embeddedFont>
  </p:embeddedFont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8B4C3"/>
    <a:srgbClr val="FCED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7" autoAdjust="0"/>
    <p:restoredTop sz="78840" autoAdjust="0"/>
  </p:normalViewPr>
  <p:slideViewPr>
    <p:cSldViewPr snapToGrid="0" snapToObjects="1">
      <p:cViewPr varScale="1">
        <p:scale>
          <a:sx n="76" d="100"/>
          <a:sy n="76" d="100"/>
        </p:scale>
        <p:origin x="1364" y="48"/>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26" d="100"/>
          <a:sy n="126" d="100"/>
        </p:scale>
        <p:origin x="2512"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203B3-A0E4-0F4B-B1B6-74A4145EFC5A}" type="datetimeFigureOut">
              <a:rPr lang="en-US" smtClean="0"/>
              <a:t>4/6/2026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5BC3C-2385-1947-9105-333D8DF003CC}" type="slidenum">
              <a:rPr lang="en-US" smtClean="0"/>
              <a:t>‹#›</a:t>
            </a:fld>
            <a:endParaRPr lang="en-US"/>
          </a:p>
        </p:txBody>
      </p:sp>
    </p:spTree>
    <p:extLst>
      <p:ext uri="{BB962C8B-B14F-4D97-AF65-F5344CB8AC3E}">
        <p14:creationId xmlns:p14="http://schemas.microsoft.com/office/powerpoint/2010/main" val="1366774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34E8-B235-5A4A-886D-94062B59BC60}" type="datetimeFigureOut">
              <a:rPr lang="en-US" smtClean="0"/>
              <a:t>4/6/2026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598F4-E49E-0C4A-95A0-3D4224C6B109}" type="slidenum">
              <a:rPr lang="en-US" smtClean="0"/>
              <a:t>‹#›</a:t>
            </a:fld>
            <a:endParaRPr lang="en-US"/>
          </a:p>
        </p:txBody>
      </p:sp>
    </p:spTree>
    <p:extLst>
      <p:ext uri="{BB962C8B-B14F-4D97-AF65-F5344CB8AC3E}">
        <p14:creationId xmlns:p14="http://schemas.microsoft.com/office/powerpoint/2010/main" val="169595773"/>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Cover Option A">
    <p:spTree>
      <p:nvGrpSpPr>
        <p:cNvPr id="1" name=""/>
        <p:cNvGrpSpPr/>
        <p:nvPr/>
      </p:nvGrpSpPr>
      <p:grpSpPr>
        <a:xfrm>
          <a:off x="0" y="0"/>
          <a:ext cx="0" cy="0"/>
          <a:chOff x="0" y="0"/>
          <a:chExt cx="0" cy="0"/>
        </a:xfrm>
      </p:grpSpPr>
      <p:sp>
        <p:nvSpPr>
          <p:cNvPr id="9" name="Rectangle 8"/>
          <p:cNvSpPr/>
          <p:nvPr userDrawn="1"/>
        </p:nvSpPr>
        <p:spPr>
          <a:xfrm>
            <a:off x="0" y="0"/>
            <a:ext cx="6858000"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6" name="Title 1"/>
          <p:cNvSpPr>
            <a:spLocks noGrp="1"/>
          </p:cNvSpPr>
          <p:nvPr>
            <p:ph type="ctrTitle" hasCustomPrompt="1"/>
          </p:nvPr>
        </p:nvSpPr>
        <p:spPr>
          <a:xfrm>
            <a:off x="385277" y="3511275"/>
            <a:ext cx="3362928" cy="1348199"/>
          </a:xfrm>
        </p:spPr>
        <p:txBody>
          <a:bodyPr anchor="ctr">
            <a:normAutofit/>
          </a:bodyPr>
          <a:lstStyle>
            <a:lvl1pPr algn="l">
              <a:lnSpc>
                <a:spcPct val="100000"/>
              </a:lnSpc>
              <a:spcAft>
                <a:spcPts val="338"/>
              </a:spcAft>
              <a:defRPr sz="1575" b="1" baseline="0">
                <a:solidFill>
                  <a:schemeClr val="tx1"/>
                </a:solidFill>
                <a:latin typeface="Arial" charset="0"/>
                <a:ea typeface="Arial" charset="0"/>
                <a:cs typeface="Arial" charset="0"/>
              </a:defRPr>
            </a:lvl1pPr>
          </a:lstStyle>
          <a:p>
            <a:r>
              <a:rPr lang="en-US" dirty="0"/>
              <a:t>Cover Option A: Click to add heading</a:t>
            </a:r>
          </a:p>
        </p:txBody>
      </p:sp>
      <p:pic>
        <p:nvPicPr>
          <p:cNvPr id="7" name="Picture 6"/>
          <p:cNvPicPr>
            <a:picLocks noChangeAspect="1"/>
          </p:cNvPicPr>
          <p:nvPr userDrawn="1"/>
        </p:nvPicPr>
        <p:blipFill>
          <a:blip r:embed="rId2"/>
          <a:stretch>
            <a:fillRect/>
          </a:stretch>
        </p:blipFill>
        <p:spPr>
          <a:xfrm>
            <a:off x="4340577" y="77164"/>
            <a:ext cx="2427111" cy="557336"/>
          </a:xfrm>
          <a:prstGeom prst="rect">
            <a:avLst/>
          </a:prstGeom>
        </p:spPr>
      </p:pic>
    </p:spTree>
    <p:extLst>
      <p:ext uri="{BB962C8B-B14F-4D97-AF65-F5344CB8AC3E}">
        <p14:creationId xmlns:p14="http://schemas.microsoft.com/office/powerpoint/2010/main" val="2044981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Main Cover Option C">
    <p:spTree>
      <p:nvGrpSpPr>
        <p:cNvPr id="1" name=""/>
        <p:cNvGrpSpPr/>
        <p:nvPr/>
      </p:nvGrpSpPr>
      <p:grpSpPr>
        <a:xfrm>
          <a:off x="0" y="0"/>
          <a:ext cx="0" cy="0"/>
          <a:chOff x="0" y="0"/>
          <a:chExt cx="0" cy="0"/>
        </a:xfrm>
      </p:grpSpPr>
      <p:sp>
        <p:nvSpPr>
          <p:cNvPr id="6" name="Picture Placeholder 5"/>
          <p:cNvSpPr>
            <a:spLocks noGrp="1" noChangeAspect="1"/>
          </p:cNvSpPr>
          <p:nvPr>
            <p:ph type="pic" sz="quarter" idx="10" hasCustomPrompt="1"/>
          </p:nvPr>
        </p:nvSpPr>
        <p:spPr>
          <a:xfrm>
            <a:off x="0" y="0"/>
            <a:ext cx="3800294" cy="5143500"/>
          </a:xfrm>
          <a:solidFill>
            <a:schemeClr val="tx2">
              <a:lumMod val="20000"/>
              <a:lumOff val="80000"/>
            </a:schemeClr>
          </a:solidFill>
        </p:spPr>
        <p:txBody>
          <a:bodyPr anchor="ctr">
            <a:normAutofit/>
          </a:bodyPr>
          <a:lstStyle>
            <a:lvl1pPr marL="0" indent="0" algn="ctr">
              <a:buNone/>
              <a:defRPr sz="900" b="0" baseline="0"/>
            </a:lvl1pPr>
          </a:lstStyle>
          <a:p>
            <a:r>
              <a:rPr lang="en-US" dirty="0"/>
              <a:t>Click this icon to insert image</a:t>
            </a:r>
          </a:p>
        </p:txBody>
      </p:sp>
      <p:sp>
        <p:nvSpPr>
          <p:cNvPr id="14" name="Title 1"/>
          <p:cNvSpPr>
            <a:spLocks noGrp="1"/>
          </p:cNvSpPr>
          <p:nvPr>
            <p:ph type="ctrTitle" hasCustomPrompt="1"/>
          </p:nvPr>
        </p:nvSpPr>
        <p:spPr>
          <a:xfrm>
            <a:off x="3964463" y="2254510"/>
            <a:ext cx="2706179" cy="928217"/>
          </a:xfrm>
        </p:spPr>
        <p:txBody>
          <a:bodyPr anchor="b">
            <a:normAutofit/>
          </a:bodyPr>
          <a:lstStyle>
            <a:lvl1pPr algn="l">
              <a:lnSpc>
                <a:spcPct val="100000"/>
              </a:lnSpc>
              <a:spcAft>
                <a:spcPts val="338"/>
              </a:spcAft>
              <a:defRPr sz="1600" b="1" baseline="0">
                <a:solidFill>
                  <a:schemeClr val="accent4"/>
                </a:solidFill>
                <a:latin typeface="Arial" charset="0"/>
                <a:ea typeface="Arial" charset="0"/>
                <a:cs typeface="Arial" charset="0"/>
              </a:defRPr>
            </a:lvl1pPr>
          </a:lstStyle>
          <a:p>
            <a:r>
              <a:rPr lang="en-US" dirty="0"/>
              <a:t>Cover Option C:</a:t>
            </a:r>
            <a:br>
              <a:rPr lang="en-US" dirty="0"/>
            </a:br>
            <a:r>
              <a:rPr lang="en-US" dirty="0"/>
              <a:t>Click to add heading</a:t>
            </a:r>
          </a:p>
        </p:txBody>
      </p:sp>
      <p:sp>
        <p:nvSpPr>
          <p:cNvPr id="5" name="Text Placeholder 4"/>
          <p:cNvSpPr>
            <a:spLocks noGrp="1"/>
          </p:cNvSpPr>
          <p:nvPr>
            <p:ph type="body" sz="quarter" idx="11" hasCustomPrompt="1"/>
          </p:nvPr>
        </p:nvSpPr>
        <p:spPr>
          <a:xfrm>
            <a:off x="3964843" y="3219451"/>
            <a:ext cx="2705873" cy="646113"/>
          </a:xfrm>
        </p:spPr>
        <p:txBody>
          <a:bodyPr>
            <a:normAutofit/>
          </a:bodyPr>
          <a:lstStyle>
            <a:lvl1pPr marL="0" indent="0">
              <a:lnSpc>
                <a:spcPct val="100000"/>
              </a:lnSpc>
              <a:buNone/>
              <a:defRPr sz="1400">
                <a:solidFill>
                  <a:schemeClr val="tx1"/>
                </a:solidFill>
              </a:defRPr>
            </a:lvl1pPr>
          </a:lstStyle>
          <a:p>
            <a:pPr lvl="0"/>
            <a:r>
              <a:rPr lang="en-US" dirty="0"/>
              <a:t>Click to add sub heading</a:t>
            </a:r>
          </a:p>
        </p:txBody>
      </p:sp>
      <p:pic>
        <p:nvPicPr>
          <p:cNvPr id="8" name="Picture 7"/>
          <p:cNvPicPr>
            <a:picLocks noChangeAspect="1"/>
          </p:cNvPicPr>
          <p:nvPr userDrawn="1"/>
        </p:nvPicPr>
        <p:blipFill>
          <a:blip r:embed="rId2"/>
          <a:stretch>
            <a:fillRect/>
          </a:stretch>
        </p:blipFill>
        <p:spPr>
          <a:xfrm>
            <a:off x="4340578" y="80586"/>
            <a:ext cx="2427111" cy="557336"/>
          </a:xfrm>
          <a:prstGeom prst="rect">
            <a:avLst/>
          </a:prstGeom>
        </p:spPr>
      </p:pic>
    </p:spTree>
    <p:extLst>
      <p:ext uri="{BB962C8B-B14F-4D97-AF65-F5344CB8AC3E}">
        <p14:creationId xmlns:p14="http://schemas.microsoft.com/office/powerpoint/2010/main" val="819357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 col text only">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59349" y="889908"/>
            <a:ext cx="4648755" cy="3742815"/>
          </a:xfrm>
        </p:spPr>
        <p:txBody>
          <a:bodyPr>
            <a:normAutofit/>
          </a:bodyPr>
          <a:lstStyle>
            <a:lvl1pPr marL="0" indent="0">
              <a:lnSpc>
                <a:spcPct val="100000"/>
              </a:lnSpc>
              <a:buNone/>
              <a:defRPr sz="900"/>
            </a:lvl1pPr>
            <a:lvl2pPr>
              <a:lnSpc>
                <a:spcPct val="100000"/>
              </a:lnSpc>
              <a:defRPr sz="900"/>
            </a:lvl2pPr>
            <a:lvl3pPr>
              <a:lnSpc>
                <a:spcPct val="100000"/>
              </a:lnSpc>
              <a:defRPr sz="900"/>
            </a:lvl3pPr>
          </a:lstStyle>
          <a:p>
            <a:pPr lvl="0"/>
            <a:r>
              <a:rPr lang="en-US"/>
              <a:t>Click to edit Master text styles</a:t>
            </a:r>
          </a:p>
          <a:p>
            <a:pPr lvl="1"/>
            <a:r>
              <a:rPr lang="en-US"/>
              <a:t>Second level</a:t>
            </a:r>
          </a:p>
          <a:p>
            <a:pPr lvl="2"/>
            <a:r>
              <a:rPr lang="en-US"/>
              <a:t>Third level</a:t>
            </a:r>
          </a:p>
        </p:txBody>
      </p:sp>
      <p:sp>
        <p:nvSpPr>
          <p:cNvPr id="9" name="Rectangle 8"/>
          <p:cNvSpPr>
            <a:spLocks noChangeArrowheads="1"/>
          </p:cNvSpPr>
          <p:nvPr userDrawn="1"/>
        </p:nvSpPr>
        <p:spPr bwMode="auto">
          <a:xfrm>
            <a:off x="0" y="0"/>
            <a:ext cx="6094304" cy="562369"/>
          </a:xfrm>
          <a:prstGeom prst="rect">
            <a:avLst/>
          </a:prstGeom>
          <a:solidFill>
            <a:schemeClr val="accent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1013">
              <a:solidFill>
                <a:schemeClr val="accent5"/>
              </a:solidFill>
            </a:endParaRPr>
          </a:p>
        </p:txBody>
      </p:sp>
      <p:sp>
        <p:nvSpPr>
          <p:cNvPr id="10" name="Title 1"/>
          <p:cNvSpPr>
            <a:spLocks noGrp="1"/>
          </p:cNvSpPr>
          <p:nvPr>
            <p:ph type="title" hasCustomPrompt="1"/>
          </p:nvPr>
        </p:nvSpPr>
        <p:spPr>
          <a:xfrm>
            <a:off x="259350" y="-2380"/>
            <a:ext cx="5667318" cy="564749"/>
          </a:xfrm>
        </p:spPr>
        <p:txBody>
          <a:bodyPr>
            <a:normAutofit/>
          </a:bodyPr>
          <a:lstStyle>
            <a:lvl1pPr>
              <a:defRPr sz="1350" b="1" baseline="0">
                <a:solidFill>
                  <a:schemeClr val="tx1"/>
                </a:solidFill>
              </a:defRPr>
            </a:lvl1pPr>
          </a:lstStyle>
          <a:p>
            <a:r>
              <a:rPr lang="en-US" dirty="0"/>
              <a:t>1 column text only slide. Click to add title. </a:t>
            </a:r>
          </a:p>
        </p:txBody>
      </p:sp>
      <p:pic>
        <p:nvPicPr>
          <p:cNvPr id="2" name="Picture 1"/>
          <p:cNvPicPr>
            <a:picLocks noChangeAspect="1"/>
          </p:cNvPicPr>
          <p:nvPr userDrawn="1"/>
        </p:nvPicPr>
        <p:blipFill>
          <a:blip r:embed="rId2"/>
          <a:stretch>
            <a:fillRect/>
          </a:stretch>
        </p:blipFill>
        <p:spPr>
          <a:xfrm>
            <a:off x="6094304" y="-2380"/>
            <a:ext cx="763695" cy="564749"/>
          </a:xfrm>
          <a:prstGeom prst="rect">
            <a:avLst/>
          </a:prstGeom>
        </p:spPr>
      </p:pic>
    </p:spTree>
    <p:extLst>
      <p:ext uri="{BB962C8B-B14F-4D97-AF65-F5344CB8AC3E}">
        <p14:creationId xmlns:p14="http://schemas.microsoft.com/office/powerpoint/2010/main" val="1283366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273845"/>
            <a:ext cx="5915025"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1369219"/>
            <a:ext cx="5915025"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4767264"/>
            <a:ext cx="154305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4/6/2026</a:t>
            </a:fld>
            <a:endParaRPr lang="en-US" dirty="0"/>
          </a:p>
        </p:txBody>
      </p:sp>
      <p:sp>
        <p:nvSpPr>
          <p:cNvPr id="5" name="Footer Placeholder 4"/>
          <p:cNvSpPr>
            <a:spLocks noGrp="1"/>
          </p:cNvSpPr>
          <p:nvPr>
            <p:ph type="ftr" sz="quarter" idx="3"/>
          </p:nvPr>
        </p:nvSpPr>
        <p:spPr>
          <a:xfrm>
            <a:off x="2271713" y="4767264"/>
            <a:ext cx="2314575"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43463" y="4767264"/>
            <a:ext cx="154305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50542115"/>
      </p:ext>
    </p:extLst>
  </p:cSld>
  <p:clrMap bg1="lt1" tx1="dk1" bg2="lt2" tx2="dk2" accent1="accent1" accent2="accent2" accent3="accent3" accent4="accent4" accent5="accent5" accent6="accent6" hlink="hlink" folHlink="folHlink"/>
  <p:sldLayoutIdLst>
    <p:sldLayoutId id="2147483676" r:id="rId1"/>
    <p:sldLayoutId id="2147483691" r:id="rId2"/>
    <p:sldLayoutId id="2147483692" r:id="rId3"/>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classic.austlii.edu.au/au/legis/wa/consol_act/tola1893160/s247.html#right"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ctrTitle"/>
          </p:nvPr>
        </p:nvSpPr>
        <p:spPr>
          <a:xfrm>
            <a:off x="3571023" y="1022492"/>
            <a:ext cx="3099619" cy="1080628"/>
          </a:xfrm>
        </p:spPr>
        <p:txBody>
          <a:bodyPr>
            <a:normAutofit/>
          </a:bodyPr>
          <a:lstStyle/>
          <a:p>
            <a:r>
              <a:rPr lang="en-US" altLang="en-US" sz="2400" b="1" dirty="0">
                <a:ea typeface="ＭＳ Ｐゴシック" panose="020B0600070205080204" pitchFamily="34" charset="-128"/>
              </a:rPr>
              <a:t>LAW2102</a:t>
            </a:r>
            <a:br>
              <a:rPr lang="en-US" altLang="en-US" sz="2400" b="1" dirty="0">
                <a:ea typeface="ＭＳ Ｐゴシック" panose="020B0600070205080204" pitchFamily="34" charset="-128"/>
              </a:rPr>
            </a:br>
            <a:r>
              <a:rPr lang="en-US" altLang="en-US" sz="2400" b="1" dirty="0">
                <a:ea typeface="ＭＳ Ｐゴシック" panose="020B0600070205080204" pitchFamily="34" charset="-128"/>
              </a:rPr>
              <a:t>PROPERTY </a:t>
            </a:r>
            <a:r>
              <a:rPr lang="en-US" altLang="en-US" sz="2400" dirty="0">
                <a:ea typeface="ＭＳ Ｐゴシック" panose="020B0600070205080204" pitchFamily="34" charset="-128"/>
              </a:rPr>
              <a:t>LAW </a:t>
            </a:r>
            <a:r>
              <a:rPr lang="en-US" altLang="en-US" sz="2400" b="1" dirty="0">
                <a:ea typeface="ＭＳ Ｐゴシック" panose="020B0600070205080204" pitchFamily="34" charset="-128"/>
              </a:rPr>
              <a:t>1</a:t>
            </a:r>
            <a:br>
              <a:rPr lang="en-US" altLang="en-US" sz="2400" b="1" dirty="0">
                <a:ea typeface="ＭＳ Ｐゴシック" panose="020B0600070205080204" pitchFamily="34" charset="-128"/>
              </a:rPr>
            </a:br>
            <a:endParaRPr lang="en-US" dirty="0"/>
          </a:p>
        </p:txBody>
      </p:sp>
      <p:graphicFrame>
        <p:nvGraphicFramePr>
          <p:cNvPr id="2" name="Picture Placeholder 1">
            <a:extLst>
              <a:ext uri="{FF2B5EF4-FFF2-40B4-BE49-F238E27FC236}">
                <a16:creationId xmlns:a16="http://schemas.microsoft.com/office/drawing/2014/main" id="{8DA06D4B-1117-4DEC-9AEC-206D30368E09}"/>
              </a:ext>
            </a:extLst>
          </p:cNvPr>
          <p:cNvGraphicFramePr>
            <a:graphicFrameLocks noGrp="1" noChangeAspect="1"/>
          </p:cNvGraphicFramePr>
          <p:nvPr>
            <p:ph type="pic" sz="quarter" idx="10"/>
            <p:extLst>
              <p:ext uri="{D42A27DB-BD31-4B8C-83A1-F6EECF244321}">
                <p14:modId xmlns:p14="http://schemas.microsoft.com/office/powerpoint/2010/main" val="1779662047"/>
              </p:ext>
            </p:extLst>
          </p:nvPr>
        </p:nvGraphicFramePr>
        <p:xfrm>
          <a:off x="655845" y="1368448"/>
          <a:ext cx="2468629" cy="1406283"/>
        </p:xfrm>
        <a:graphic>
          <a:graphicData uri="http://schemas.openxmlformats.org/presentationml/2006/ole">
            <mc:AlternateContent xmlns:mc="http://schemas.openxmlformats.org/markup-compatibility/2006">
              <mc:Choice xmlns:v="urn:schemas-microsoft-com:vml" Requires="v">
                <p:oleObj name="Packager Shell Object" showAsIcon="1" r:id="rId2" imgW="2549160" imgH="481320" progId="Package">
                  <p:embed/>
                </p:oleObj>
              </mc:Choice>
              <mc:Fallback>
                <p:oleObj name="Packager Shell Object" showAsIcon="1" r:id="rId2" imgW="2549160" imgH="481320" progId="Package">
                  <p:embed/>
                  <p:pic>
                    <p:nvPicPr>
                      <p:cNvPr id="2" name="Picture Placeholder 1">
                        <a:extLst>
                          <a:ext uri="{FF2B5EF4-FFF2-40B4-BE49-F238E27FC236}">
                            <a16:creationId xmlns:a16="http://schemas.microsoft.com/office/drawing/2014/main" id="{8DA06D4B-1117-4DEC-9AEC-206D30368E09}"/>
                          </a:ext>
                        </a:extLst>
                      </p:cNvPr>
                      <p:cNvPicPr/>
                      <p:nvPr/>
                    </p:nvPicPr>
                    <p:blipFill>
                      <a:blip r:embed="rId3"/>
                      <a:stretch>
                        <a:fillRect/>
                      </a:stretch>
                    </p:blipFill>
                    <p:spPr>
                      <a:xfrm>
                        <a:off x="655845" y="1368448"/>
                        <a:ext cx="2468629" cy="1406283"/>
                      </a:xfrm>
                      <a:prstGeom prst="rect">
                        <a:avLst/>
                      </a:prstGeom>
                    </p:spPr>
                  </p:pic>
                </p:oleObj>
              </mc:Fallback>
            </mc:AlternateContent>
          </a:graphicData>
        </a:graphic>
      </p:graphicFrame>
      <p:pic>
        <p:nvPicPr>
          <p:cNvPr id="5" name="Picture 4" descr="A picture containing ocean floor&#10;&#10;Description automatically generated">
            <a:extLst>
              <a:ext uri="{FF2B5EF4-FFF2-40B4-BE49-F238E27FC236}">
                <a16:creationId xmlns:a16="http://schemas.microsoft.com/office/drawing/2014/main" id="{34380880-65A2-460B-8559-05280CA515BE}"/>
              </a:ext>
            </a:extLst>
          </p:cNvPr>
          <p:cNvPicPr>
            <a:picLocks noChangeAspect="1"/>
          </p:cNvPicPr>
          <p:nvPr/>
        </p:nvPicPr>
        <p:blipFill>
          <a:blip r:embed="rId4"/>
          <a:stretch>
            <a:fillRect/>
          </a:stretch>
        </p:blipFill>
        <p:spPr>
          <a:xfrm>
            <a:off x="581879" y="1022492"/>
            <a:ext cx="2705100" cy="1685925"/>
          </a:xfrm>
          <a:prstGeom prst="rect">
            <a:avLst/>
          </a:prstGeom>
        </p:spPr>
      </p:pic>
      <p:sp>
        <p:nvSpPr>
          <p:cNvPr id="8" name="Text Placeholder 7">
            <a:extLst>
              <a:ext uri="{FF2B5EF4-FFF2-40B4-BE49-F238E27FC236}">
                <a16:creationId xmlns:a16="http://schemas.microsoft.com/office/drawing/2014/main" id="{659B5DBC-7B57-6585-7417-DC1D30CE7CAE}"/>
              </a:ext>
            </a:extLst>
          </p:cNvPr>
          <p:cNvSpPr>
            <a:spLocks noGrp="1"/>
          </p:cNvSpPr>
          <p:nvPr>
            <p:ph type="body" sz="quarter" idx="11"/>
          </p:nvPr>
        </p:nvSpPr>
        <p:spPr>
          <a:xfrm>
            <a:off x="3964843" y="3219451"/>
            <a:ext cx="2705873" cy="1478384"/>
          </a:xfrm>
        </p:spPr>
        <p:txBody>
          <a:bodyPr>
            <a:normAutofit fontScale="92500"/>
          </a:bodyPr>
          <a:lstStyle/>
          <a:p>
            <a:r>
              <a:rPr lang="en-US" altLang="en-US" sz="1300" b="1" dirty="0">
                <a:ea typeface="ＭＳ Ｐゴシック" panose="020B0600070205080204" pitchFamily="34" charset="-128"/>
              </a:rPr>
              <a:t>Week 8</a:t>
            </a:r>
            <a:br>
              <a:rPr lang="en-US" altLang="en-US" sz="1300" b="1" dirty="0">
                <a:ea typeface="ＭＳ Ｐゴシック" panose="020B0600070205080204" pitchFamily="34" charset="-128"/>
              </a:rPr>
            </a:br>
            <a:r>
              <a:rPr lang="en-US" altLang="en-US" sz="1300" b="1" dirty="0">
                <a:ea typeface="ＭＳ Ｐゴシック" panose="020B0600070205080204" pitchFamily="34" charset="-128"/>
              </a:rPr>
              <a:t>Acquisition and Transfer of Property Interests Continued – Priorities of competing interests</a:t>
            </a:r>
          </a:p>
          <a:p>
            <a:r>
              <a:rPr lang="en-US" sz="1300" dirty="0"/>
              <a:t>Semester 1, 2026</a:t>
            </a:r>
          </a:p>
          <a:p>
            <a:r>
              <a:rPr lang="en-US" sz="1300" dirty="0"/>
              <a:t>Presented by Joshua Forrester</a:t>
            </a:r>
          </a:p>
          <a:p>
            <a:endParaRPr lang="en-AU" dirty="0"/>
          </a:p>
        </p:txBody>
      </p:sp>
      <p:pic>
        <p:nvPicPr>
          <p:cNvPr id="13" name="Picture 2">
            <a:extLst>
              <a:ext uri="{FF2B5EF4-FFF2-40B4-BE49-F238E27FC236}">
                <a16:creationId xmlns:a16="http://schemas.microsoft.com/office/drawing/2014/main" id="{0CB2753D-CFD8-1622-70C0-1CA0F389BD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106" y="2832740"/>
            <a:ext cx="2705873" cy="178524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3C80CDC-9BF6-2B04-F290-1161B10762F1}"/>
              </a:ext>
            </a:extLst>
          </p:cNvPr>
          <p:cNvSpPr txBox="1"/>
          <p:nvPr/>
        </p:nvSpPr>
        <p:spPr>
          <a:xfrm>
            <a:off x="581106" y="4617982"/>
            <a:ext cx="2705873" cy="553998"/>
          </a:xfrm>
          <a:prstGeom prst="rect">
            <a:avLst/>
          </a:prstGeom>
          <a:noFill/>
        </p:spPr>
        <p:txBody>
          <a:bodyPr wrap="square" rtlCol="0">
            <a:spAutoFit/>
          </a:bodyPr>
          <a:lstStyle/>
          <a:p>
            <a:r>
              <a:rPr lang="en-US" sz="1000" dirty="0"/>
              <a:t>Godzilla and Gipsy Danger have competing priorities (destroy Hong Kong vs save Hong Kong) – who prevails?</a:t>
            </a:r>
            <a:endParaRPr lang="en-AU" sz="1000" dirty="0"/>
          </a:p>
        </p:txBody>
      </p:sp>
    </p:spTree>
    <p:extLst>
      <p:ext uri="{BB962C8B-B14F-4D97-AF65-F5344CB8AC3E}">
        <p14:creationId xmlns:p14="http://schemas.microsoft.com/office/powerpoint/2010/main" val="1133109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889908"/>
            <a:ext cx="3306811" cy="3742815"/>
          </a:xfrm>
        </p:spPr>
        <p:txBody>
          <a:bodyPr>
            <a:normAutofit/>
          </a:bodyPr>
          <a:lstStyle/>
          <a:p>
            <a:pPr marL="0" indent="0">
              <a:spcBef>
                <a:spcPts val="900"/>
              </a:spcBef>
              <a:buNone/>
              <a:tabLst>
                <a:tab pos="604838" algn="l"/>
              </a:tabLst>
              <a:defRPr/>
            </a:pPr>
            <a:r>
              <a:rPr lang="en-US" altLang="en-US" sz="1600" dirty="0">
                <a:ea typeface="ＭＳ Ｐゴシック" pitchFamily="34" charset="-128"/>
              </a:rPr>
              <a:t>By the end of this lecture, you should be able to:</a:t>
            </a:r>
          </a:p>
          <a:p>
            <a:pPr marL="342900" indent="-342900">
              <a:spcBef>
                <a:spcPts val="900"/>
              </a:spcBef>
              <a:buFont typeface="+mj-lt"/>
              <a:buAutoNum type="arabicPeriod"/>
              <a:tabLst>
                <a:tab pos="604838" algn="l"/>
              </a:tabLst>
              <a:defRPr/>
            </a:pPr>
            <a:r>
              <a:rPr lang="en-US" altLang="en-US" sz="1600" dirty="0">
                <a:ea typeface="ＭＳ Ｐゴシック" pitchFamily="34" charset="-128"/>
              </a:rPr>
              <a:t>Understand what is a priorities dispute. </a:t>
            </a:r>
          </a:p>
          <a:p>
            <a:pPr marL="342900" indent="-342900">
              <a:spcBef>
                <a:spcPts val="900"/>
              </a:spcBef>
              <a:buFont typeface="+mj-lt"/>
              <a:buAutoNum type="arabicPeriod"/>
              <a:tabLst>
                <a:tab pos="604838" algn="l"/>
              </a:tabLst>
              <a:defRPr/>
            </a:pPr>
            <a:r>
              <a:rPr lang="en-US" altLang="en-US" sz="1600" dirty="0">
                <a:ea typeface="ＭＳ Ｐゴシック" pitchFamily="34" charset="-128"/>
              </a:rPr>
              <a:t>Know the three steps involved in settling priorities disputes.</a:t>
            </a:r>
          </a:p>
          <a:p>
            <a:pPr marL="342900" indent="-342900">
              <a:spcBef>
                <a:spcPts val="900"/>
              </a:spcBef>
              <a:buFont typeface="+mj-lt"/>
              <a:buAutoNum type="arabicPeriod"/>
              <a:tabLst>
                <a:tab pos="604838" algn="l"/>
              </a:tabLst>
              <a:defRPr/>
            </a:pPr>
            <a:r>
              <a:rPr lang="en-US" altLang="en-US" sz="1600" dirty="0">
                <a:ea typeface="ＭＳ Ｐゴシック" pitchFamily="34" charset="-128"/>
              </a:rPr>
              <a:t>Be aware of the possible outcomes of </a:t>
            </a:r>
            <a:r>
              <a:rPr lang="en-US" altLang="en-US" sz="1600">
                <a:ea typeface="ＭＳ Ｐゴシック" pitchFamily="34" charset="-128"/>
              </a:rPr>
              <a:t>priorities disputes.</a:t>
            </a:r>
            <a:endParaRPr lang="en-AU" sz="1600" dirty="0"/>
          </a:p>
          <a:p>
            <a:pPr marL="0" lvl="2" indent="0" algn="just">
              <a:spcBef>
                <a:spcPts val="900"/>
              </a:spcBef>
              <a:buNone/>
              <a:defRPr/>
            </a:pPr>
            <a:endParaRPr lang="en-AU" b="1" dirty="0"/>
          </a:p>
          <a:p>
            <a:pPr marL="0" lvl="2" indent="0" algn="just">
              <a:spcBef>
                <a:spcPts val="900"/>
              </a:spcBef>
              <a:buNone/>
              <a:defRPr/>
            </a:pPr>
            <a:endParaRPr lang="en-AU" b="1" dirty="0"/>
          </a:p>
          <a:p>
            <a:pPr marL="0" lvl="2" indent="0" algn="just">
              <a:spcBef>
                <a:spcPts val="900"/>
              </a:spcBef>
              <a:buNone/>
              <a:defRPr/>
            </a:pPr>
            <a:endParaRPr lang="en-AU" b="1"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Today’s Agenda/Learning Objectives</a:t>
            </a:r>
          </a:p>
        </p:txBody>
      </p:sp>
      <p:pic>
        <p:nvPicPr>
          <p:cNvPr id="5" name="Picture 4" descr="Graphical user interface, application&#10;&#10;Description automatically generated">
            <a:extLst>
              <a:ext uri="{FF2B5EF4-FFF2-40B4-BE49-F238E27FC236}">
                <a16:creationId xmlns:a16="http://schemas.microsoft.com/office/drawing/2014/main" id="{C80B8A0F-C25F-EB9C-7DBD-7DA2580B489D}"/>
              </a:ext>
            </a:extLst>
          </p:cNvPr>
          <p:cNvPicPr>
            <a:picLocks noChangeAspect="1"/>
          </p:cNvPicPr>
          <p:nvPr/>
        </p:nvPicPr>
        <p:blipFill>
          <a:blip r:embed="rId2"/>
          <a:stretch>
            <a:fillRect/>
          </a:stretch>
        </p:blipFill>
        <p:spPr>
          <a:xfrm>
            <a:off x="3781424" y="691039"/>
            <a:ext cx="2352675" cy="3576161"/>
          </a:xfrm>
          <a:prstGeom prst="rect">
            <a:avLst/>
          </a:prstGeom>
        </p:spPr>
      </p:pic>
    </p:spTree>
    <p:extLst>
      <p:ext uri="{BB962C8B-B14F-4D97-AF65-F5344CB8AC3E}">
        <p14:creationId xmlns:p14="http://schemas.microsoft.com/office/powerpoint/2010/main" val="3656083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889908"/>
            <a:ext cx="2674351" cy="3742815"/>
          </a:xfrm>
        </p:spPr>
        <p:txBody>
          <a:bodyPr>
            <a:normAutofit lnSpcReduction="10000"/>
          </a:bodyPr>
          <a:lstStyle/>
          <a:p>
            <a:pPr algn="just">
              <a:spcBef>
                <a:spcPts val="900"/>
              </a:spcBef>
              <a:tabLst>
                <a:tab pos="604838" algn="l"/>
              </a:tabLst>
              <a:defRPr/>
            </a:pPr>
            <a:r>
              <a:rPr lang="en-US" altLang="en-US" sz="1400" dirty="0">
                <a:ea typeface="ＭＳ Ｐゴシック" pitchFamily="34" charset="-128"/>
              </a:rPr>
              <a:t>When 2 or more people claim </a:t>
            </a:r>
            <a:r>
              <a:rPr lang="en-US" altLang="en-US" sz="1400" b="1" dirty="0">
                <a:ea typeface="ＭＳ Ｐゴシック" pitchFamily="34" charset="-128"/>
              </a:rPr>
              <a:t>inconsistent rights </a:t>
            </a:r>
            <a:r>
              <a:rPr lang="en-US" altLang="en-US" sz="1400" dirty="0">
                <a:ea typeface="ＭＳ Ｐゴシック" pitchFamily="34" charset="-128"/>
              </a:rPr>
              <a:t>over the same property, there is a priorities dispute. </a:t>
            </a:r>
          </a:p>
          <a:p>
            <a:pPr algn="just">
              <a:spcBef>
                <a:spcPts val="900"/>
              </a:spcBef>
              <a:tabLst>
                <a:tab pos="604838" algn="l"/>
              </a:tabLst>
              <a:defRPr/>
            </a:pPr>
            <a:r>
              <a:rPr lang="en-US" altLang="en-US" sz="1400" dirty="0">
                <a:ea typeface="ＭＳ Ｐゴシック" pitchFamily="34" charset="-128"/>
              </a:rPr>
              <a:t>Because property is a bundle of rights, ownership of different rights might be harmonious (</a:t>
            </a:r>
            <a:r>
              <a:rPr lang="en-US" altLang="en-US" sz="1400" dirty="0" err="1">
                <a:ea typeface="ＭＳ Ｐゴシック" pitchFamily="34" charset="-128"/>
              </a:rPr>
              <a:t>eg</a:t>
            </a:r>
            <a:r>
              <a:rPr lang="en-US" altLang="en-US" sz="1400" dirty="0">
                <a:ea typeface="ＭＳ Ｐゴシック" pitchFamily="34" charset="-128"/>
              </a:rPr>
              <a:t> a lease where the landlord owns the reversionary interest and the tenant has the immediate right to possession) or they may clash (where the landlord sells the reversionary interest to another who also expects to get possession not knowing about the tenant who has that possessory right).</a:t>
            </a:r>
          </a:p>
          <a:p>
            <a:pPr algn="just">
              <a:spcBef>
                <a:spcPts val="900"/>
              </a:spcBef>
              <a:tabLst>
                <a:tab pos="604838" algn="l"/>
              </a:tabLst>
              <a:defRPr/>
            </a:pPr>
            <a:endParaRPr lang="en-US" altLang="en-US" sz="900" dirty="0">
              <a:ea typeface="ＭＳ Ｐゴシック" pitchFamily="34" charset="-128"/>
            </a:endParaRPr>
          </a:p>
          <a:p>
            <a:pPr algn="just">
              <a:spcBef>
                <a:spcPts val="900"/>
              </a:spcBef>
              <a:buFont typeface="Wingdings" panose="05000000000000000000" pitchFamily="2" charset="2"/>
              <a:buChar char="Ø"/>
              <a:tabLst>
                <a:tab pos="604838" algn="l"/>
              </a:tabLst>
              <a:defRPr/>
            </a:pPr>
            <a:endParaRPr lang="en-US" altLang="en-US" sz="900"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US" altLang="en-US" sz="1800" b="0" dirty="0">
                <a:solidFill>
                  <a:schemeClr val="bg1"/>
                </a:solidFill>
                <a:ea typeface="ＭＳ Ｐゴシック" panose="020B0600070205080204" pitchFamily="34" charset="-128"/>
                <a:cs typeface="Arial" panose="020B0604020202020204" pitchFamily="34" charset="0"/>
              </a:rPr>
              <a:t>What is a priority dispute?</a:t>
            </a:r>
            <a:endParaRPr lang="en-AU" sz="1800" b="0" dirty="0">
              <a:solidFill>
                <a:schemeClr val="bg1"/>
              </a:solidFill>
            </a:endParaRPr>
          </a:p>
        </p:txBody>
      </p:sp>
      <p:pic>
        <p:nvPicPr>
          <p:cNvPr id="5" name="Picture 4" descr="A person fighting another person&#10;&#10;Description automatically generated">
            <a:extLst>
              <a:ext uri="{FF2B5EF4-FFF2-40B4-BE49-F238E27FC236}">
                <a16:creationId xmlns:a16="http://schemas.microsoft.com/office/drawing/2014/main" id="{A9BE4563-9474-3E0A-9314-F1C3D0026D77}"/>
              </a:ext>
            </a:extLst>
          </p:cNvPr>
          <p:cNvPicPr>
            <a:picLocks noChangeAspect="1"/>
          </p:cNvPicPr>
          <p:nvPr/>
        </p:nvPicPr>
        <p:blipFill>
          <a:blip r:embed="rId2"/>
          <a:stretch>
            <a:fillRect/>
          </a:stretch>
        </p:blipFill>
        <p:spPr>
          <a:xfrm>
            <a:off x="3429000" y="889908"/>
            <a:ext cx="2619375" cy="3468732"/>
          </a:xfrm>
          <a:prstGeom prst="rect">
            <a:avLst/>
          </a:prstGeom>
        </p:spPr>
      </p:pic>
    </p:spTree>
    <p:extLst>
      <p:ext uri="{BB962C8B-B14F-4D97-AF65-F5344CB8AC3E}">
        <p14:creationId xmlns:p14="http://schemas.microsoft.com/office/powerpoint/2010/main" val="2360248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889908"/>
            <a:ext cx="4968497" cy="3742815"/>
          </a:xfrm>
        </p:spPr>
        <p:txBody>
          <a:bodyPr>
            <a:normAutofit/>
          </a:bodyPr>
          <a:lstStyle/>
          <a:p>
            <a:pPr marL="0" indent="0">
              <a:spcBef>
                <a:spcPts val="900"/>
              </a:spcBef>
              <a:buNone/>
              <a:tabLst>
                <a:tab pos="604838" algn="l"/>
              </a:tabLst>
              <a:defRPr/>
            </a:pPr>
            <a:r>
              <a:rPr lang="en-US" altLang="en-US" sz="2000" b="1" dirty="0">
                <a:ea typeface="ＭＳ Ｐゴシック" pitchFamily="34" charset="-128"/>
              </a:rPr>
              <a:t>There are THREE steps involved to solving a priorities dispute:</a:t>
            </a:r>
          </a:p>
          <a:p>
            <a:pPr marL="342900" indent="-342900">
              <a:spcBef>
                <a:spcPts val="900"/>
              </a:spcBef>
              <a:buFontTx/>
              <a:buAutoNum type="arabicPeriod"/>
              <a:tabLst>
                <a:tab pos="604838" algn="l"/>
              </a:tabLst>
              <a:defRPr/>
            </a:pPr>
            <a:r>
              <a:rPr lang="en-US" altLang="en-US" sz="2000" dirty="0">
                <a:ea typeface="ＭＳ Ｐゴシック" pitchFamily="34" charset="-128"/>
              </a:rPr>
              <a:t>Determine whether each interest is </a:t>
            </a:r>
            <a:r>
              <a:rPr lang="en-US" altLang="en-US" sz="2000" b="1" dirty="0">
                <a:ea typeface="ＭＳ Ｐゴシック" pitchFamily="34" charset="-128"/>
              </a:rPr>
              <a:t>legal or equitable </a:t>
            </a:r>
            <a:r>
              <a:rPr lang="en-US" altLang="en-US" sz="2000" dirty="0">
                <a:ea typeface="ＭＳ Ｐゴシック" pitchFamily="34" charset="-128"/>
              </a:rPr>
              <a:t>– see previous lecture.</a:t>
            </a:r>
          </a:p>
          <a:p>
            <a:pPr marL="342900" indent="-342900">
              <a:spcBef>
                <a:spcPts val="900"/>
              </a:spcBef>
              <a:buFontTx/>
              <a:buAutoNum type="arabicPeriod"/>
              <a:tabLst>
                <a:tab pos="604838" algn="l"/>
              </a:tabLst>
              <a:defRPr/>
            </a:pPr>
            <a:r>
              <a:rPr lang="en-US" altLang="en-US" sz="2000" dirty="0">
                <a:ea typeface="ＭＳ Ｐゴシック" pitchFamily="34" charset="-128"/>
              </a:rPr>
              <a:t>Determine the </a:t>
            </a:r>
            <a:r>
              <a:rPr lang="en-US" altLang="en-US" sz="2000" b="1" dirty="0">
                <a:ea typeface="ＭＳ Ｐゴシック" pitchFamily="34" charset="-128"/>
              </a:rPr>
              <a:t>date</a:t>
            </a:r>
            <a:r>
              <a:rPr lang="en-US" altLang="en-US" sz="2000" dirty="0">
                <a:ea typeface="ＭＳ Ｐゴシック" pitchFamily="34" charset="-128"/>
              </a:rPr>
              <a:t> that each interest was created.</a:t>
            </a:r>
          </a:p>
          <a:p>
            <a:pPr marL="342900" indent="-342900">
              <a:spcBef>
                <a:spcPts val="900"/>
              </a:spcBef>
              <a:buFontTx/>
              <a:buAutoNum type="arabicPeriod"/>
              <a:tabLst>
                <a:tab pos="604838" algn="l"/>
              </a:tabLst>
              <a:defRPr/>
            </a:pPr>
            <a:r>
              <a:rPr lang="en-US" altLang="en-US" sz="2000" dirty="0">
                <a:ea typeface="ＭＳ Ｐゴシック" pitchFamily="34" charset="-128"/>
              </a:rPr>
              <a:t>Apply the appropriate priority </a:t>
            </a:r>
            <a:r>
              <a:rPr lang="en-US" altLang="en-US" sz="2000" b="1" dirty="0">
                <a:ea typeface="ＭＳ Ｐゴシック" pitchFamily="34" charset="-128"/>
              </a:rPr>
              <a:t>rule</a:t>
            </a:r>
            <a:r>
              <a:rPr lang="en-US" altLang="en-US" sz="2000" dirty="0">
                <a:ea typeface="ＭＳ Ｐゴシック" pitchFamily="34" charset="-128"/>
              </a:rPr>
              <a:t> –see this lecture.</a:t>
            </a:r>
          </a:p>
          <a:p>
            <a:pPr algn="just">
              <a:spcBef>
                <a:spcPts val="900"/>
              </a:spcBef>
              <a:buFont typeface="Wingdings" panose="05000000000000000000" pitchFamily="2" charset="2"/>
              <a:buChar char="Ø"/>
              <a:tabLst>
                <a:tab pos="604838" algn="l"/>
              </a:tabLst>
              <a:defRPr/>
            </a:pPr>
            <a:endParaRPr lang="en-US" altLang="en-US" sz="2000" dirty="0">
              <a:ea typeface="ＭＳ Ｐゴシック" pitchFamily="34" charset="-128"/>
            </a:endParaRPr>
          </a:p>
          <a:p>
            <a:pPr algn="just">
              <a:spcBef>
                <a:spcPts val="900"/>
              </a:spcBef>
              <a:buFont typeface="Wingdings" panose="05000000000000000000" pitchFamily="2" charset="2"/>
              <a:buChar char="Ø"/>
              <a:tabLst>
                <a:tab pos="604838" algn="l"/>
              </a:tabLst>
              <a:defRPr/>
            </a:pPr>
            <a:endParaRPr lang="en-US" altLang="en-US" sz="900"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US" altLang="en-US" sz="1800" b="0" dirty="0">
                <a:solidFill>
                  <a:schemeClr val="bg1"/>
                </a:solidFill>
                <a:ea typeface="ＭＳ Ｐゴシック" panose="020B0600070205080204" pitchFamily="34" charset="-128"/>
                <a:cs typeface="Arial" panose="020B0604020202020204" pitchFamily="34" charset="0"/>
              </a:rPr>
              <a:t>What are the steps to resolving a priorities dispute?</a:t>
            </a:r>
            <a:endParaRPr lang="en-AU" sz="1800" b="0" dirty="0">
              <a:solidFill>
                <a:schemeClr val="bg1"/>
              </a:solidFill>
            </a:endParaRPr>
          </a:p>
        </p:txBody>
      </p:sp>
    </p:spTree>
    <p:extLst>
      <p:ext uri="{BB962C8B-B14F-4D97-AF65-F5344CB8AC3E}">
        <p14:creationId xmlns:p14="http://schemas.microsoft.com/office/powerpoint/2010/main" val="3613305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889908"/>
            <a:ext cx="3431807" cy="3742815"/>
          </a:xfrm>
        </p:spPr>
        <p:txBody>
          <a:bodyPr>
            <a:normAutofit/>
          </a:bodyPr>
          <a:lstStyle/>
          <a:p>
            <a:pPr marL="176213" indent="-176213">
              <a:spcBef>
                <a:spcPts val="900"/>
              </a:spcBef>
              <a:buNone/>
              <a:tabLst>
                <a:tab pos="92075" algn="l"/>
              </a:tabLst>
              <a:defRPr/>
            </a:pPr>
            <a:r>
              <a:rPr lang="en-US" altLang="en-US" sz="1900" dirty="0">
                <a:ea typeface="ＭＳ Ｐゴシック" pitchFamily="34" charset="-128"/>
              </a:rPr>
              <a:t>  Depending upon the nature of the interests, the inconsistent interest may be:</a:t>
            </a:r>
          </a:p>
          <a:p>
            <a:pPr marL="176213" indent="-176213">
              <a:spcBef>
                <a:spcPts val="900"/>
              </a:spcBef>
              <a:buFont typeface="Arial" panose="020B0604020202020204" pitchFamily="34" charset="0"/>
              <a:buChar char="•"/>
              <a:tabLst>
                <a:tab pos="92075" algn="l"/>
              </a:tabLst>
              <a:defRPr/>
            </a:pPr>
            <a:r>
              <a:rPr lang="en-US" altLang="en-US" sz="1900" dirty="0">
                <a:ea typeface="ＭＳ Ｐゴシック" pitchFamily="34" charset="-128"/>
              </a:rPr>
              <a:t>Defeated, or...</a:t>
            </a:r>
          </a:p>
          <a:p>
            <a:pPr marL="176213" indent="-176213">
              <a:spcBef>
                <a:spcPts val="900"/>
              </a:spcBef>
              <a:tabLst>
                <a:tab pos="92075" algn="l"/>
              </a:tabLst>
              <a:defRPr/>
            </a:pPr>
            <a:endParaRPr lang="en-US" altLang="en-US" sz="1900" dirty="0">
              <a:ea typeface="ＭＳ Ｐゴシック" pitchFamily="34" charset="-128"/>
            </a:endParaRPr>
          </a:p>
          <a:p>
            <a:pPr marL="176213" indent="-176213">
              <a:spcBef>
                <a:spcPts val="900"/>
              </a:spcBef>
              <a:tabLst>
                <a:tab pos="92075" algn="l"/>
              </a:tabLst>
              <a:defRPr/>
            </a:pPr>
            <a:endParaRPr lang="en-US" altLang="en-US" sz="1900" dirty="0">
              <a:ea typeface="ＭＳ Ｐゴシック" pitchFamily="34" charset="-128"/>
            </a:endParaRPr>
          </a:p>
          <a:p>
            <a:pPr marL="176213" indent="-176213">
              <a:spcBef>
                <a:spcPts val="900"/>
              </a:spcBef>
              <a:buFont typeface="Arial" panose="020B0604020202020204" pitchFamily="34" charset="0"/>
              <a:buChar char="•"/>
              <a:tabLst>
                <a:tab pos="92075" algn="l"/>
              </a:tabLst>
              <a:defRPr/>
            </a:pPr>
            <a:r>
              <a:rPr lang="en-US" altLang="en-US" sz="1900" dirty="0">
                <a:ea typeface="ＭＳ Ｐゴシック" pitchFamily="34" charset="-128"/>
              </a:rPr>
              <a:t>Made subject to another (prior) interest.</a:t>
            </a:r>
          </a:p>
          <a:p>
            <a:pPr algn="just">
              <a:spcBef>
                <a:spcPts val="900"/>
              </a:spcBef>
              <a:buFont typeface="Wingdings" panose="05000000000000000000" pitchFamily="2" charset="2"/>
              <a:buChar char="Ø"/>
              <a:tabLst>
                <a:tab pos="604838" algn="l"/>
              </a:tabLst>
              <a:defRPr/>
            </a:pP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US" altLang="en-US" sz="1800" b="0" dirty="0">
                <a:solidFill>
                  <a:schemeClr val="bg1"/>
                </a:solidFill>
                <a:ea typeface="ＭＳ Ｐゴシック" panose="020B0600070205080204" pitchFamily="34" charset="-128"/>
                <a:cs typeface="Arial" panose="020B0604020202020204" pitchFamily="34" charset="0"/>
              </a:rPr>
              <a:t>What are the outcomes of a priorities dispute?</a:t>
            </a:r>
            <a:endParaRPr lang="en-AU" sz="1800" b="0" dirty="0">
              <a:solidFill>
                <a:schemeClr val="bg1"/>
              </a:solidFill>
            </a:endParaRPr>
          </a:p>
        </p:txBody>
      </p:sp>
      <p:pic>
        <p:nvPicPr>
          <p:cNvPr id="5" name="Picture 4" descr="A person standing on another person's body&#10;&#10;Description automatically generated">
            <a:extLst>
              <a:ext uri="{FF2B5EF4-FFF2-40B4-BE49-F238E27FC236}">
                <a16:creationId xmlns:a16="http://schemas.microsoft.com/office/drawing/2014/main" id="{C416440A-9B17-9067-D7AD-56BEC315EDEA}"/>
              </a:ext>
            </a:extLst>
          </p:cNvPr>
          <p:cNvPicPr>
            <a:picLocks noChangeAspect="1"/>
          </p:cNvPicPr>
          <p:nvPr/>
        </p:nvPicPr>
        <p:blipFill>
          <a:blip r:embed="rId2"/>
          <a:stretch>
            <a:fillRect/>
          </a:stretch>
        </p:blipFill>
        <p:spPr>
          <a:xfrm>
            <a:off x="3938360" y="895350"/>
            <a:ext cx="2326958" cy="1676400"/>
          </a:xfrm>
          <a:prstGeom prst="rect">
            <a:avLst/>
          </a:prstGeom>
        </p:spPr>
      </p:pic>
      <p:pic>
        <p:nvPicPr>
          <p:cNvPr id="7" name="Picture 6" descr="A person with a chain on his leg&#10;&#10;Description automatically generated">
            <a:extLst>
              <a:ext uri="{FF2B5EF4-FFF2-40B4-BE49-F238E27FC236}">
                <a16:creationId xmlns:a16="http://schemas.microsoft.com/office/drawing/2014/main" id="{99F833EE-3931-1061-063D-CC6667588278}"/>
              </a:ext>
            </a:extLst>
          </p:cNvPr>
          <p:cNvPicPr>
            <a:picLocks noChangeAspect="1"/>
          </p:cNvPicPr>
          <p:nvPr/>
        </p:nvPicPr>
        <p:blipFill>
          <a:blip r:embed="rId3"/>
          <a:stretch>
            <a:fillRect/>
          </a:stretch>
        </p:blipFill>
        <p:spPr>
          <a:xfrm>
            <a:off x="3938360" y="2956322"/>
            <a:ext cx="2326957" cy="1676401"/>
          </a:xfrm>
          <a:prstGeom prst="rect">
            <a:avLst/>
          </a:prstGeom>
        </p:spPr>
      </p:pic>
      <p:sp>
        <p:nvSpPr>
          <p:cNvPr id="4" name="TextBox 3">
            <a:extLst>
              <a:ext uri="{FF2B5EF4-FFF2-40B4-BE49-F238E27FC236}">
                <a16:creationId xmlns:a16="http://schemas.microsoft.com/office/drawing/2014/main" id="{2F96D69B-2F9B-1D2C-34F6-4EE3271F82BA}"/>
              </a:ext>
            </a:extLst>
          </p:cNvPr>
          <p:cNvSpPr txBox="1"/>
          <p:nvPr/>
        </p:nvSpPr>
        <p:spPr>
          <a:xfrm>
            <a:off x="3938360" y="2571750"/>
            <a:ext cx="2326957" cy="300082"/>
          </a:xfrm>
          <a:prstGeom prst="rect">
            <a:avLst/>
          </a:prstGeom>
          <a:noFill/>
        </p:spPr>
        <p:txBody>
          <a:bodyPr wrap="square" rtlCol="0">
            <a:spAutoFit/>
          </a:bodyPr>
          <a:lstStyle/>
          <a:p>
            <a:pPr algn="ctr"/>
            <a:r>
              <a:rPr lang="en-US" dirty="0"/>
              <a:t>“I am the Greatest”!</a:t>
            </a:r>
            <a:endParaRPr lang="en-AU" dirty="0"/>
          </a:p>
        </p:txBody>
      </p:sp>
      <p:sp>
        <p:nvSpPr>
          <p:cNvPr id="6" name="TextBox 5">
            <a:extLst>
              <a:ext uri="{FF2B5EF4-FFF2-40B4-BE49-F238E27FC236}">
                <a16:creationId xmlns:a16="http://schemas.microsoft.com/office/drawing/2014/main" id="{3C38850D-9AC4-8DFA-9697-251B594B3483}"/>
              </a:ext>
            </a:extLst>
          </p:cNvPr>
          <p:cNvSpPr txBox="1"/>
          <p:nvPr/>
        </p:nvSpPr>
        <p:spPr>
          <a:xfrm>
            <a:off x="3938360" y="4781725"/>
            <a:ext cx="2326958" cy="300082"/>
          </a:xfrm>
          <a:prstGeom prst="rect">
            <a:avLst/>
          </a:prstGeom>
          <a:noFill/>
        </p:spPr>
        <p:txBody>
          <a:bodyPr wrap="square" rtlCol="0">
            <a:spAutoFit/>
          </a:bodyPr>
          <a:lstStyle/>
          <a:p>
            <a:pPr algn="ctr"/>
            <a:r>
              <a:rPr lang="en-US" dirty="0"/>
              <a:t>“This isn’t so great…”</a:t>
            </a:r>
            <a:endParaRPr lang="en-AU" dirty="0"/>
          </a:p>
        </p:txBody>
      </p:sp>
    </p:spTree>
    <p:extLst>
      <p:ext uri="{BB962C8B-B14F-4D97-AF65-F5344CB8AC3E}">
        <p14:creationId xmlns:p14="http://schemas.microsoft.com/office/powerpoint/2010/main" val="1320270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889908"/>
            <a:ext cx="4968497" cy="3742815"/>
          </a:xfrm>
        </p:spPr>
        <p:txBody>
          <a:bodyPr>
            <a:normAutofit/>
          </a:bodyPr>
          <a:lstStyle/>
          <a:p>
            <a:pPr marL="0" indent="0" algn="just">
              <a:spcBef>
                <a:spcPts val="900"/>
              </a:spcBef>
              <a:buNone/>
              <a:defRPr/>
            </a:pPr>
            <a:r>
              <a:rPr lang="en-AU" altLang="en-US" sz="1600" dirty="0">
                <a:ea typeface="ＭＳ Ｐゴシック" pitchFamily="34" charset="-128"/>
              </a:rPr>
              <a:t>Where there is a dispute between 2 legal interests: earlier legal (L1) vs later legal (L2):</a:t>
            </a:r>
          </a:p>
          <a:p>
            <a:pPr marL="285750" indent="-285750" algn="just">
              <a:spcBef>
                <a:spcPts val="900"/>
              </a:spcBef>
              <a:buFont typeface="Arial" panose="020B0604020202020204" pitchFamily="34" charset="0"/>
              <a:buChar char="•"/>
              <a:defRPr/>
            </a:pPr>
            <a:r>
              <a:rPr lang="en-AU" altLang="en-US" sz="1600" dirty="0">
                <a:ea typeface="ＭＳ Ｐゴシック" pitchFamily="34" charset="-128"/>
              </a:rPr>
              <a:t>The general common law principle is that legal interests are good against all the world.</a:t>
            </a:r>
            <a:endParaRPr lang="en-AU" altLang="en-US" sz="1600" b="1" dirty="0">
              <a:ea typeface="ＭＳ Ｐゴシック" pitchFamily="34" charset="-128"/>
            </a:endParaRPr>
          </a:p>
          <a:p>
            <a:pPr marL="285750" indent="-285750" algn="just">
              <a:spcBef>
                <a:spcPts val="900"/>
              </a:spcBef>
              <a:buFont typeface="Arial" panose="020B0604020202020204" pitchFamily="34" charset="0"/>
              <a:buChar char="•"/>
              <a:defRPr/>
            </a:pPr>
            <a:r>
              <a:rPr lang="en-AU" altLang="en-US" sz="1600" b="1" dirty="0">
                <a:ea typeface="ＭＳ Ｐゴシック" pitchFamily="34" charset="-128"/>
              </a:rPr>
              <a:t>Priority of time of</a:t>
            </a:r>
            <a:r>
              <a:rPr lang="en-AU" altLang="en-US" sz="1600" dirty="0">
                <a:ea typeface="ＭＳ Ｐゴシック" pitchFamily="34" charset="-128"/>
              </a:rPr>
              <a:t> </a:t>
            </a:r>
            <a:r>
              <a:rPr lang="en-AU" altLang="en-US" sz="1600" b="1" dirty="0">
                <a:ea typeface="ＭＳ Ｐゴシック" pitchFamily="34" charset="-128"/>
              </a:rPr>
              <a:t>creation</a:t>
            </a:r>
            <a:r>
              <a:rPr lang="en-AU" altLang="en-US" sz="1600" dirty="0">
                <a:ea typeface="ＭＳ Ｐゴシック" pitchFamily="34" charset="-128"/>
              </a:rPr>
              <a:t> of the respective interests is determinative. </a:t>
            </a:r>
          </a:p>
          <a:p>
            <a:pPr marL="285750" indent="-285750" algn="just">
              <a:spcBef>
                <a:spcPts val="900"/>
              </a:spcBef>
              <a:buFont typeface="Arial" panose="020B0604020202020204" pitchFamily="34" charset="0"/>
              <a:buChar char="•"/>
              <a:defRPr/>
            </a:pPr>
            <a:r>
              <a:rPr lang="en-AU" altLang="en-US" sz="1600" dirty="0">
                <a:ea typeface="ＭＳ Ｐゴシック" pitchFamily="34" charset="-128"/>
              </a:rPr>
              <a:t>In general, subject to considerations arising out of the conduct of the parties, as between two interests of the same quality, </a:t>
            </a:r>
            <a:r>
              <a:rPr lang="en-AU" altLang="en-US" sz="1600" b="1" dirty="0">
                <a:ea typeface="ＭＳ Ｐゴシック" pitchFamily="34" charset="-128"/>
              </a:rPr>
              <a:t>the first in time prevails</a:t>
            </a:r>
            <a:r>
              <a:rPr lang="en-AU" altLang="en-US" sz="1600" dirty="0">
                <a:ea typeface="ＭＳ Ｐゴシック" pitchFamily="34" charset="-128"/>
              </a:rPr>
              <a:t>: </a:t>
            </a:r>
            <a:r>
              <a:rPr lang="en-AU" altLang="en-US" sz="1600" i="1" dirty="0">
                <a:ea typeface="ＭＳ Ｐゴシック" pitchFamily="34" charset="-128"/>
              </a:rPr>
              <a:t>Moffett v Dylan</a:t>
            </a:r>
            <a:r>
              <a:rPr lang="en-AU" altLang="en-US" sz="1600" dirty="0">
                <a:ea typeface="ＭＳ Ｐゴシック" pitchFamily="34" charset="-128"/>
              </a:rPr>
              <a:t> [1999] 2 VR 480.</a:t>
            </a:r>
          </a:p>
          <a:p>
            <a:pPr algn="just">
              <a:spcBef>
                <a:spcPts val="900"/>
              </a:spcBef>
              <a:buFont typeface="Wingdings" panose="05000000000000000000" pitchFamily="2" charset="2"/>
              <a:buChar char="Ø"/>
              <a:tabLst>
                <a:tab pos="604838" algn="l"/>
              </a:tabLst>
              <a:defRPr/>
            </a:pP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US" altLang="en-US" sz="1800" b="0" dirty="0">
                <a:solidFill>
                  <a:schemeClr val="bg1"/>
                </a:solidFill>
                <a:ea typeface="ＭＳ Ｐゴシック" panose="020B0600070205080204" pitchFamily="34" charset="-128"/>
                <a:cs typeface="Arial" panose="020B0604020202020204" pitchFamily="34" charset="0"/>
              </a:rPr>
              <a:t>Legal interest vs legal interest</a:t>
            </a:r>
            <a:endParaRPr lang="en-AU" sz="1800" b="0" dirty="0">
              <a:solidFill>
                <a:schemeClr val="bg1"/>
              </a:solidFill>
            </a:endParaRPr>
          </a:p>
        </p:txBody>
      </p:sp>
    </p:spTree>
    <p:extLst>
      <p:ext uri="{BB962C8B-B14F-4D97-AF65-F5344CB8AC3E}">
        <p14:creationId xmlns:p14="http://schemas.microsoft.com/office/powerpoint/2010/main" val="3015598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632460"/>
            <a:ext cx="6040783" cy="4274820"/>
          </a:xfrm>
        </p:spPr>
        <p:txBody>
          <a:bodyPr>
            <a:normAutofit/>
          </a:bodyPr>
          <a:lstStyle/>
          <a:p>
            <a:pPr>
              <a:buNone/>
              <a:defRPr/>
            </a:pPr>
            <a:r>
              <a:rPr lang="en-AU" altLang="en-US" sz="1200" b="1" dirty="0">
                <a:ea typeface="ＭＳ Ｐゴシック" pitchFamily="34" charset="-128"/>
              </a:rPr>
              <a:t>Purpose of the act: </a:t>
            </a:r>
            <a:r>
              <a:rPr lang="en-US" altLang="en-US" sz="1200" dirty="0">
                <a:ea typeface="ＭＳ Ｐゴシック" pitchFamily="34" charset="-128"/>
              </a:rPr>
              <a:t>[T]o consolidate and amend the laws relating to the registration of deeds, wills, judgments and conveyances affecting real property. </a:t>
            </a:r>
          </a:p>
          <a:p>
            <a:pPr marL="176213" indent="-176213" algn="just">
              <a:spcBef>
                <a:spcPts val="900"/>
              </a:spcBef>
              <a:buNone/>
              <a:defRPr/>
            </a:pPr>
            <a:r>
              <a:rPr lang="en-AU" altLang="en-US" sz="1200" b="1" dirty="0">
                <a:ea typeface="ＭＳ Ｐゴシック" pitchFamily="34" charset="-128"/>
              </a:rPr>
              <a:t>Section 3 Priority according to date of registration</a:t>
            </a:r>
          </a:p>
          <a:p>
            <a:pPr marL="176213" algn="just">
              <a:spcBef>
                <a:spcPts val="900"/>
              </a:spcBef>
              <a:buNone/>
              <a:defRPr/>
            </a:pPr>
            <a:r>
              <a:rPr lang="en-AU" altLang="en-US" sz="1200" dirty="0">
                <a:ea typeface="ＭＳ Ｐゴシック" pitchFamily="34" charset="-128"/>
              </a:rPr>
              <a:t>That all such judgments, deeds, conveyances or instruments in writing, registered in pursuance of this Act, shall have priority one over the other according to the priority of their respective dates of registration; and that all such judgments, deeds, </a:t>
            </a:r>
            <a:r>
              <a:rPr lang="en-AU" altLang="en-US" sz="1200" spc="23" dirty="0">
                <a:ea typeface="ＭＳ Ｐゴシック" pitchFamily="34" charset="-128"/>
              </a:rPr>
              <a:t>conveyances, devises or instruments in writing not registered </a:t>
            </a:r>
            <a:r>
              <a:rPr lang="en-AU" altLang="en-US" sz="1200" dirty="0">
                <a:ea typeface="ＭＳ Ｐゴシック" pitchFamily="34" charset="-128"/>
              </a:rPr>
              <a:t>in pursuance of this or some former Act, shall (as against any subsequent </a:t>
            </a:r>
            <a:r>
              <a:rPr lang="en-AU" altLang="en-US" sz="1200" b="1" dirty="0">
                <a:ea typeface="ＭＳ Ｐゴシック" pitchFamily="34" charset="-128"/>
              </a:rPr>
              <a:t>bona fide </a:t>
            </a:r>
            <a:r>
              <a:rPr lang="en-AU" altLang="en-US" sz="1200" dirty="0">
                <a:ea typeface="ＭＳ Ｐゴシック" pitchFamily="34" charset="-128"/>
              </a:rPr>
              <a:t>purchaser or mortgagee of the same lands, tenements or hereditaments for valuable consideration) be absolutely null and void to all intents and purposes: Provided that nothing herein contained shall extend to bona fide leases at rack rent for any term not exceeding 14 years. </a:t>
            </a:r>
          </a:p>
          <a:p>
            <a:pPr marL="176213" indent="-176213" algn="just">
              <a:buNone/>
              <a:defRPr/>
            </a:pPr>
            <a:r>
              <a:rPr lang="en-AU" altLang="en-US" sz="1200" b="1" dirty="0">
                <a:ea typeface="ＭＳ Ｐゴシック" pitchFamily="34" charset="-128"/>
              </a:rPr>
              <a:t>Section 19 Court may cancel false or fraudulent registration</a:t>
            </a:r>
          </a:p>
          <a:p>
            <a:pPr marL="176213" algn="just">
              <a:buNone/>
              <a:defRPr/>
            </a:pPr>
            <a:r>
              <a:rPr lang="en-AU" altLang="en-US" sz="1200" dirty="0">
                <a:ea typeface="ＭＳ Ｐゴシック" pitchFamily="34" charset="-128"/>
              </a:rPr>
              <a:t>That it shall be lawful for the Supreme Court to receive a petition </a:t>
            </a:r>
            <a:r>
              <a:rPr lang="en-AU" altLang="en-US" sz="1200" spc="-38" dirty="0">
                <a:ea typeface="ＭＳ Ｐゴシック" pitchFamily="34" charset="-128"/>
              </a:rPr>
              <a:t>from any person praying relief against any registration affecting any interest of such petitioner in any lands or hereditaments, and alleged by him to be false or fraudulent; and if the said court shall by any means be fully satisfied of the truth of such allegation, it shall be lawful for the said court to order summarily that such registration be cancelled; and </a:t>
            </a:r>
            <a:r>
              <a:rPr lang="en-AU" altLang="en-US" sz="1200" dirty="0">
                <a:ea typeface="ＭＳ Ｐゴシック" pitchFamily="34" charset="-128"/>
              </a:rPr>
              <a:t>the said </a:t>
            </a:r>
            <a:r>
              <a:rPr lang="en-AU" altLang="en-US" sz="1200" spc="-45" dirty="0">
                <a:ea typeface="ＭＳ Ｐゴシック" pitchFamily="34" charset="-128"/>
              </a:rPr>
              <a:t>Registrar, on being personally served with such order, shall make such cancellation accordingly, and shall safely keep such order, making due reference thereto in his books of registry </a:t>
            </a:r>
            <a:r>
              <a:rPr lang="en-AU" altLang="en-US" sz="1200" dirty="0">
                <a:ea typeface="ＭＳ Ｐゴシック" pitchFamily="34" charset="-128"/>
              </a:rPr>
              <a:t>and indexes. </a:t>
            </a: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lstStyle/>
          <a:p>
            <a:r>
              <a:rPr lang="en-AU" altLang="en-US" sz="1400" b="0" dirty="0">
                <a:solidFill>
                  <a:schemeClr val="bg1"/>
                </a:solidFill>
                <a:ea typeface="ＭＳ Ｐゴシック" pitchFamily="34" charset="-128"/>
              </a:rPr>
              <a:t>Priority of Competing Legal Interests</a:t>
            </a:r>
            <a:br>
              <a:rPr lang="en-AU" altLang="en-US" sz="1400" b="0" dirty="0">
                <a:solidFill>
                  <a:schemeClr val="bg1"/>
                </a:solidFill>
                <a:ea typeface="ＭＳ Ｐゴシック" pitchFamily="34" charset="-128"/>
              </a:rPr>
            </a:br>
            <a:r>
              <a:rPr lang="en-AU" altLang="en-US" sz="1400" b="0" dirty="0">
                <a:solidFill>
                  <a:schemeClr val="bg1"/>
                </a:solidFill>
                <a:ea typeface="ＭＳ Ｐゴシック" pitchFamily="34" charset="-128"/>
              </a:rPr>
              <a:t>Non Torrens Land : </a:t>
            </a:r>
            <a:r>
              <a:rPr lang="en-AU" altLang="en-US" sz="1400" b="0" i="1" dirty="0">
                <a:solidFill>
                  <a:schemeClr val="bg1"/>
                </a:solidFill>
                <a:ea typeface="ＭＳ Ｐゴシック" pitchFamily="34" charset="-128"/>
              </a:rPr>
              <a:t>Registration Of Deeds Act 1856 </a:t>
            </a:r>
            <a:r>
              <a:rPr lang="en-AU" altLang="en-US" sz="1400" b="0" dirty="0">
                <a:solidFill>
                  <a:schemeClr val="bg1"/>
                </a:solidFill>
                <a:ea typeface="ＭＳ Ｐゴシック" pitchFamily="34" charset="-128"/>
              </a:rPr>
              <a:t>(WA)</a:t>
            </a:r>
            <a:endParaRPr lang="en-AU" b="0" dirty="0">
              <a:solidFill>
                <a:schemeClr val="bg1"/>
              </a:solidFill>
            </a:endParaRPr>
          </a:p>
        </p:txBody>
      </p:sp>
    </p:spTree>
    <p:extLst>
      <p:ext uri="{BB962C8B-B14F-4D97-AF65-F5344CB8AC3E}">
        <p14:creationId xmlns:p14="http://schemas.microsoft.com/office/powerpoint/2010/main" val="1661925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8" y="725214"/>
            <a:ext cx="6141451" cy="4237771"/>
          </a:xfrm>
        </p:spPr>
        <p:txBody>
          <a:bodyPr>
            <a:normAutofit fontScale="70000" lnSpcReduction="20000"/>
          </a:bodyPr>
          <a:lstStyle/>
          <a:p>
            <a:pPr algn="just">
              <a:spcBef>
                <a:spcPts val="900"/>
              </a:spcBef>
              <a:buNone/>
              <a:defRPr/>
            </a:pPr>
            <a:r>
              <a:rPr lang="en-AU" altLang="en-US" sz="3200" dirty="0">
                <a:ea typeface="ＭＳ Ｐゴシック" pitchFamily="34" charset="-128"/>
              </a:rPr>
              <a:t>For Torrens land, no legal interest in land may pass without registration:</a:t>
            </a:r>
          </a:p>
          <a:p>
            <a:pPr algn="just">
              <a:spcBef>
                <a:spcPts val="900"/>
              </a:spcBef>
              <a:buNone/>
              <a:defRPr/>
            </a:pPr>
            <a:r>
              <a:rPr lang="en-AU" altLang="en-US" sz="2800" dirty="0">
                <a:ea typeface="ＭＳ Ｐゴシック" pitchFamily="34" charset="-128"/>
              </a:rPr>
              <a:t>Section 58 TLA </a:t>
            </a:r>
            <a:r>
              <a:rPr lang="en-US" altLang="en-US" sz="2800" dirty="0">
                <a:ea typeface="ＭＳ Ｐゴシック" pitchFamily="34" charset="-128"/>
              </a:rPr>
              <a:t>Instruments not effectual until registered</a:t>
            </a:r>
            <a:endParaRPr lang="en-US" altLang="en-US" sz="2800" b="1" dirty="0">
              <a:ea typeface="ＭＳ Ｐゴシック" pitchFamily="34" charset="-128"/>
            </a:endParaRPr>
          </a:p>
          <a:p>
            <a:pPr marL="176213" algn="just">
              <a:spcBef>
                <a:spcPts val="900"/>
              </a:spcBef>
              <a:buNone/>
              <a:defRPr/>
            </a:pPr>
            <a:r>
              <a:rPr lang="en-US" altLang="en-US" sz="2600" b="1" dirty="0">
                <a:ea typeface="ＭＳ Ｐゴシック" pitchFamily="34" charset="-128"/>
              </a:rPr>
              <a:t>No instrument until registered </a:t>
            </a:r>
            <a:r>
              <a:rPr lang="en-US" altLang="en-US" sz="2600" dirty="0">
                <a:ea typeface="ＭＳ Ｐゴシック" pitchFamily="34" charset="-128"/>
              </a:rPr>
              <a:t>in manner herein provided </a:t>
            </a:r>
            <a:r>
              <a:rPr lang="en-US" altLang="en-US" sz="2600" b="1" dirty="0">
                <a:ea typeface="ＭＳ Ｐゴシック" pitchFamily="34" charset="-128"/>
              </a:rPr>
              <a:t>shall be effectual to pass any estate or interest in any land </a:t>
            </a:r>
            <a:r>
              <a:rPr lang="en-US" altLang="en-US" sz="2600" dirty="0">
                <a:ea typeface="ＭＳ Ｐゴシック" pitchFamily="34" charset="-128"/>
              </a:rPr>
              <a:t>under the operation of this Act or to render such land liable to any mortgage or charge or to make any dealing in respect of Crown land effective, as the case requires; but upon such registration the estate or interest comprised in the instrument shall pass or as the case may be the land shall become liable in manner and subject to the covenants and conditions set forth and specified in the instrument or by this Act declared to be implied in instruments of a like nature, or the dealing in in respect of Crown land is made effective, as the case required.</a:t>
            </a:r>
          </a:p>
          <a:p>
            <a:pPr marL="535781" indent="-535781" algn="just">
              <a:spcBef>
                <a:spcPts val="900"/>
              </a:spcBef>
              <a:buNone/>
              <a:defRPr/>
            </a:pPr>
            <a:endParaRPr lang="en-AU" altLang="en-US" sz="3200" dirty="0">
              <a:ea typeface="ＭＳ Ｐゴシック"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a:xfrm>
            <a:off x="259350" y="-2380"/>
            <a:ext cx="5958570" cy="564749"/>
          </a:xfrm>
        </p:spPr>
        <p:txBody>
          <a:bodyPr>
            <a:noAutofit/>
          </a:bodyPr>
          <a:lstStyle/>
          <a:p>
            <a:r>
              <a:rPr lang="en-AU" altLang="en-US" sz="1800" b="0" dirty="0">
                <a:solidFill>
                  <a:schemeClr val="bg1"/>
                </a:solidFill>
                <a:ea typeface="ＭＳ Ｐゴシック" pitchFamily="34" charset="-128"/>
              </a:rPr>
              <a:t>Priority of Competing Legal Interests</a:t>
            </a:r>
            <a:br>
              <a:rPr lang="en-AU" altLang="en-US" sz="1800" b="0" dirty="0">
                <a:solidFill>
                  <a:schemeClr val="bg1"/>
                </a:solidFill>
                <a:ea typeface="ＭＳ Ｐゴシック" pitchFamily="34" charset="-128"/>
              </a:rPr>
            </a:br>
            <a:r>
              <a:rPr lang="en-AU" altLang="en-US" sz="1800" b="0" dirty="0">
                <a:solidFill>
                  <a:schemeClr val="bg1"/>
                </a:solidFill>
                <a:ea typeface="ＭＳ Ｐゴシック" pitchFamily="34" charset="-128"/>
              </a:rPr>
              <a:t>Torrens Land: </a:t>
            </a:r>
            <a:r>
              <a:rPr lang="en-AU" altLang="en-US" sz="1800" b="0" i="1" dirty="0">
                <a:solidFill>
                  <a:schemeClr val="bg1"/>
                </a:solidFill>
                <a:ea typeface="ＭＳ Ｐゴシック" pitchFamily="34" charset="-128"/>
              </a:rPr>
              <a:t>Transfer of Land Act 1893 </a:t>
            </a:r>
            <a:r>
              <a:rPr lang="en-AU" altLang="en-US" sz="1800" b="0" dirty="0">
                <a:solidFill>
                  <a:schemeClr val="bg1"/>
                </a:solidFill>
                <a:ea typeface="ＭＳ Ｐゴシック" pitchFamily="34" charset="-128"/>
              </a:rPr>
              <a:t>(WA) ss 58, 68 </a:t>
            </a:r>
            <a:endParaRPr lang="en-AU" sz="1800" b="0" dirty="0">
              <a:solidFill>
                <a:schemeClr val="bg1"/>
              </a:solidFill>
            </a:endParaRPr>
          </a:p>
        </p:txBody>
      </p:sp>
    </p:spTree>
    <p:extLst>
      <p:ext uri="{BB962C8B-B14F-4D97-AF65-F5344CB8AC3E}">
        <p14:creationId xmlns:p14="http://schemas.microsoft.com/office/powerpoint/2010/main" val="2489560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8" y="725214"/>
            <a:ext cx="6484352" cy="4237771"/>
          </a:xfrm>
        </p:spPr>
        <p:txBody>
          <a:bodyPr>
            <a:normAutofit fontScale="25000" lnSpcReduction="20000"/>
          </a:bodyPr>
          <a:lstStyle/>
          <a:p>
            <a:pPr marL="449263" indent="-449263"/>
            <a:r>
              <a:rPr lang="en-AU" sz="7200" dirty="0"/>
              <a:t>Section 68(1) TLA</a:t>
            </a:r>
          </a:p>
          <a:p>
            <a:pPr marL="176213"/>
            <a:r>
              <a:rPr lang="en-AU" sz="6400" dirty="0"/>
              <a:t>Notwithstanding the existence in any other person of any estate or interest whether derived by grant or transfer of the fee simple from the Crown or otherwise which but for this Act might be held to be paramount or to have priority the proprietor of land or of any estate or interest in land under the operation of this Act shall except in case of fraud hold the same subject to such encumbrances as may be notified on the registered certificate of title for the land; but absolutely free from all other encumbrances whatsoever </a:t>
            </a:r>
            <a:r>
              <a:rPr lang="en-AU" sz="6400" b="1" i="1" dirty="0"/>
              <a:t>except the estate or interest of a proprietor claiming the same land under a prior registered certificate of title</a:t>
            </a:r>
            <a:r>
              <a:rPr lang="en-AU" sz="6400" i="1" dirty="0"/>
              <a:t> </a:t>
            </a:r>
            <a:r>
              <a:rPr lang="en-AU" sz="6400" dirty="0"/>
              <a:t>and except as regards any portion of land that may by wrong description of parcels or boundaries be included in the certificate of title or instrument evidencing the title of such proprietor not being a purchaser for valuable consideration or deriving from or through such a purchaser. </a:t>
            </a:r>
            <a:br>
              <a:rPr lang="en-AU" sz="5600" dirty="0"/>
            </a:br>
            <a:endParaRPr lang="en-AU" sz="5600" dirty="0"/>
          </a:p>
          <a:p>
            <a:pPr marL="535781" indent="-535781" algn="just">
              <a:spcBef>
                <a:spcPts val="900"/>
              </a:spcBef>
              <a:buNone/>
              <a:defRPr/>
            </a:pPr>
            <a:endParaRPr lang="en-AU" altLang="en-US" sz="3200" dirty="0">
              <a:ea typeface="ＭＳ Ｐゴシック"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fontScale="90000"/>
          </a:bodyPr>
          <a:lstStyle/>
          <a:p>
            <a:r>
              <a:rPr lang="en-AU" altLang="en-US" sz="1800" b="0" dirty="0">
                <a:solidFill>
                  <a:schemeClr val="bg1"/>
                </a:solidFill>
                <a:ea typeface="ＭＳ Ｐゴシック" pitchFamily="34" charset="-128"/>
              </a:rPr>
              <a:t>Priority of Competing Legal Interests</a:t>
            </a:r>
            <a:br>
              <a:rPr lang="en-AU" altLang="en-US" sz="1800" b="0" dirty="0">
                <a:solidFill>
                  <a:schemeClr val="bg1"/>
                </a:solidFill>
                <a:ea typeface="ＭＳ Ｐゴシック" pitchFamily="34" charset="-128"/>
              </a:rPr>
            </a:br>
            <a:r>
              <a:rPr lang="en-AU" altLang="en-US" sz="1800" b="0" dirty="0">
                <a:solidFill>
                  <a:schemeClr val="bg1"/>
                </a:solidFill>
                <a:ea typeface="ＭＳ Ｐゴシック" pitchFamily="34" charset="-128"/>
              </a:rPr>
              <a:t>Torrens Land: </a:t>
            </a:r>
            <a:r>
              <a:rPr lang="en-AU" altLang="en-US" sz="1800" b="0" i="1" dirty="0">
                <a:solidFill>
                  <a:schemeClr val="bg1"/>
                </a:solidFill>
                <a:ea typeface="ＭＳ Ｐゴシック" pitchFamily="34" charset="-128"/>
              </a:rPr>
              <a:t>Transfer of Land Act 1893 </a:t>
            </a:r>
            <a:r>
              <a:rPr lang="en-AU" altLang="en-US" sz="1800" b="0" dirty="0">
                <a:solidFill>
                  <a:schemeClr val="bg1"/>
                </a:solidFill>
                <a:ea typeface="ＭＳ Ｐゴシック" pitchFamily="34" charset="-128"/>
              </a:rPr>
              <a:t>(WA) ss 58, 68 </a:t>
            </a:r>
            <a:endParaRPr lang="en-AU" sz="1800" dirty="0">
              <a:solidFill>
                <a:schemeClr val="bg1"/>
              </a:solidFill>
            </a:endParaRPr>
          </a:p>
        </p:txBody>
      </p:sp>
    </p:spTree>
    <p:extLst>
      <p:ext uri="{BB962C8B-B14F-4D97-AF65-F5344CB8AC3E}">
        <p14:creationId xmlns:p14="http://schemas.microsoft.com/office/powerpoint/2010/main" val="4254126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8" y="725214"/>
            <a:ext cx="6141451" cy="4237771"/>
          </a:xfrm>
        </p:spPr>
        <p:txBody>
          <a:bodyPr>
            <a:normAutofit fontScale="25000" lnSpcReduction="20000"/>
          </a:bodyPr>
          <a:lstStyle/>
          <a:p>
            <a:pPr marL="715963" indent="-715963" algn="just">
              <a:spcBef>
                <a:spcPts val="900"/>
              </a:spcBef>
              <a:buNone/>
              <a:defRPr/>
            </a:pPr>
            <a:r>
              <a:rPr lang="en-AU" sz="5600" dirty="0"/>
              <a:t>68(1A)  Despite subsection (1), the land which shall be included in any certificate of title or registered instrument </a:t>
            </a:r>
            <a:r>
              <a:rPr lang="en-AU" sz="5600" b="1" dirty="0"/>
              <a:t>shall be deemed to be subject to the reservations exceptions conditions and powers (if any) contained in the grant thereof or transfer of the fee simple or otherwise and to any </a:t>
            </a:r>
            <a:r>
              <a:rPr lang="en-AU" sz="5600" b="1" dirty="0">
                <a:hlinkClick r:id="rId2"/>
              </a:rPr>
              <a:t>rights</a:t>
            </a:r>
            <a:r>
              <a:rPr lang="en-AU" sz="5600" b="1" dirty="0"/>
              <a:t> subsisting under any adverse possession of such land and to any public </a:t>
            </a:r>
            <a:r>
              <a:rPr lang="en-AU" sz="5600" b="1" dirty="0">
                <a:hlinkClick r:id="rId2"/>
              </a:rPr>
              <a:t>rights</a:t>
            </a:r>
            <a:r>
              <a:rPr lang="en-AU" sz="5600" b="1" dirty="0"/>
              <a:t> of way and to any easements acquired by enjoyment or user or subsisting over or upon or affecting such land and to any unpaid rates and to any mining lease or licence issued under the provisions of any statute and to any prior unregistered lease or agreement for lease or for letting for a term not exceeding 5 years to a tenant in actual possession notwithstanding the same respectively may not be specially notified as encumbrances </a:t>
            </a:r>
            <a:r>
              <a:rPr lang="en-AU" sz="5600" dirty="0"/>
              <a:t>on such certificate or instrument but no option of purchase or renewal in any such lease or agreement shall be valid as against a subsequent registered interest unless such lease or agreement is registered or protected by caveat. </a:t>
            </a:r>
          </a:p>
          <a:p>
            <a:pPr algn="just">
              <a:spcBef>
                <a:spcPts val="900"/>
              </a:spcBef>
              <a:buNone/>
              <a:defRPr/>
            </a:pPr>
            <a:r>
              <a:rPr lang="en-AU" sz="5600" dirty="0"/>
              <a:t>So, for interests to be legal interests they must be registered and priority depends on time of registration (first in time prevails) under s 68(1), unless interests are those that are not required to be registered under s 68(1A) which prevail over later registered interests.</a:t>
            </a:r>
          </a:p>
          <a:p>
            <a:pPr marL="535781" indent="-535781" algn="just">
              <a:spcBef>
                <a:spcPts val="900"/>
              </a:spcBef>
              <a:buNone/>
              <a:defRPr/>
            </a:pPr>
            <a:endParaRPr lang="en-AU" altLang="en-US" sz="3200" dirty="0">
              <a:ea typeface="ＭＳ Ｐゴシック"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fontScale="90000"/>
          </a:bodyPr>
          <a:lstStyle/>
          <a:p>
            <a:r>
              <a:rPr lang="en-AU" altLang="en-US" sz="1800" b="0" dirty="0">
                <a:solidFill>
                  <a:schemeClr val="bg1"/>
                </a:solidFill>
                <a:ea typeface="ＭＳ Ｐゴシック" pitchFamily="34" charset="-128"/>
              </a:rPr>
              <a:t>Priority of Competing Legal Interests</a:t>
            </a:r>
            <a:br>
              <a:rPr lang="en-AU" altLang="en-US" sz="1800" b="0" dirty="0">
                <a:solidFill>
                  <a:schemeClr val="bg1"/>
                </a:solidFill>
                <a:ea typeface="ＭＳ Ｐゴシック" pitchFamily="34" charset="-128"/>
              </a:rPr>
            </a:br>
            <a:r>
              <a:rPr lang="en-AU" altLang="en-US" sz="1800" b="0" dirty="0">
                <a:solidFill>
                  <a:schemeClr val="bg1"/>
                </a:solidFill>
                <a:ea typeface="ＭＳ Ｐゴシック" pitchFamily="34" charset="-128"/>
              </a:rPr>
              <a:t>Torrens Land: </a:t>
            </a:r>
            <a:r>
              <a:rPr lang="en-AU" altLang="en-US" sz="1800" b="0" i="1" dirty="0">
                <a:solidFill>
                  <a:schemeClr val="bg1"/>
                </a:solidFill>
                <a:ea typeface="ＭＳ Ｐゴシック" pitchFamily="34" charset="-128"/>
              </a:rPr>
              <a:t>Transfer of Land Act 1893 </a:t>
            </a:r>
            <a:r>
              <a:rPr lang="en-AU" altLang="en-US" sz="1800" b="0" dirty="0">
                <a:solidFill>
                  <a:schemeClr val="bg1"/>
                </a:solidFill>
                <a:ea typeface="ＭＳ Ｐゴシック" pitchFamily="34" charset="-128"/>
              </a:rPr>
              <a:t>(WA) ss 58, 68 </a:t>
            </a:r>
            <a:endParaRPr lang="en-AU" sz="1800" dirty="0">
              <a:solidFill>
                <a:schemeClr val="bg1"/>
              </a:solidFill>
            </a:endParaRPr>
          </a:p>
        </p:txBody>
      </p:sp>
    </p:spTree>
    <p:extLst>
      <p:ext uri="{BB962C8B-B14F-4D97-AF65-F5344CB8AC3E}">
        <p14:creationId xmlns:p14="http://schemas.microsoft.com/office/powerpoint/2010/main" val="3945331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8" y="562369"/>
            <a:ext cx="6598651" cy="4443970"/>
          </a:xfrm>
        </p:spPr>
        <p:txBody>
          <a:bodyPr>
            <a:normAutofit lnSpcReduction="10000"/>
          </a:bodyPr>
          <a:lstStyle/>
          <a:p>
            <a:pPr algn="just">
              <a:spcBef>
                <a:spcPts val="900"/>
              </a:spcBef>
              <a:buNone/>
              <a:defRPr/>
            </a:pPr>
            <a:r>
              <a:rPr lang="en-AU" sz="1100" dirty="0"/>
              <a:t>A prior (registered) legal interest will generally prevail over a later (unregistered) equitable interest </a:t>
            </a:r>
          </a:p>
          <a:p>
            <a:pPr algn="just">
              <a:spcBef>
                <a:spcPts val="900"/>
              </a:spcBef>
              <a:buNone/>
              <a:defRPr/>
            </a:pPr>
            <a:r>
              <a:rPr lang="en-AU" sz="1100" dirty="0"/>
              <a:t>However, a legal interest will be </a:t>
            </a:r>
            <a:r>
              <a:rPr lang="en-AU" sz="1100" b="1" dirty="0"/>
              <a:t>postponed</a:t>
            </a:r>
            <a:r>
              <a:rPr lang="en-AU" sz="1100" dirty="0"/>
              <a:t> to a subsequent equitable interest where the owner of the legal estate has been involved in a fraud which created the later equitable interest by concealing the prior legal interest giving the impression that the equitable estate would be a legal estate.</a:t>
            </a:r>
          </a:p>
          <a:p>
            <a:pPr algn="just">
              <a:spcBef>
                <a:spcPts val="900"/>
              </a:spcBef>
              <a:defRPr/>
            </a:pPr>
            <a:r>
              <a:rPr lang="en-AU" sz="1100" i="1" dirty="0"/>
              <a:t>Northern Counties of England Fire Insurance Co v </a:t>
            </a:r>
            <a:r>
              <a:rPr lang="en-AU" sz="1100" i="1" dirty="0" err="1"/>
              <a:t>Whipp</a:t>
            </a:r>
            <a:r>
              <a:rPr lang="en-AU" sz="1100" dirty="0"/>
              <a:t> (1884) 26 Ch D 482.</a:t>
            </a:r>
          </a:p>
          <a:p>
            <a:pPr algn="just">
              <a:spcBef>
                <a:spcPts val="900"/>
              </a:spcBef>
              <a:buNone/>
              <a:defRPr/>
            </a:pPr>
            <a:r>
              <a:rPr lang="en-AU" sz="1100" dirty="0"/>
              <a:t>A manager of a company borrowed money from the company and mortgaged his property to them. The title deeds were kept in the company safe. The manager then took the title deeds out of the safe (he had access to the key) and borrowed money from Mrs Whipp who became equitable mortgagee without notice of the prior legal mortgage. </a:t>
            </a:r>
          </a:p>
          <a:p>
            <a:pPr algn="just">
              <a:spcBef>
                <a:spcPts val="900"/>
              </a:spcBef>
              <a:buNone/>
              <a:defRPr/>
            </a:pPr>
            <a:r>
              <a:rPr lang="en-AU" sz="1100" dirty="0"/>
              <a:t>Mrs Whip sought a declaration that the earlier legal mortgage was fraudulent and should be postponed because of conduct of company as legal mortgagee in not retaining possession of title deeds. The court held that the legal mortgage had priority and would not be postponed. This was because the company, while careless in respect of their control over the deeds, was not party to the fraud nor did it hold out that the manager (the mortgagor) was its agent. Per Fry J:</a:t>
            </a:r>
          </a:p>
          <a:p>
            <a:pPr marL="176213">
              <a:spcBef>
                <a:spcPts val="900"/>
              </a:spcBef>
              <a:buNone/>
              <a:defRPr/>
            </a:pPr>
            <a:r>
              <a:rPr lang="en-AU" sz="1100" dirty="0"/>
              <a:t>(1) ‘where the owner of the legal estate has assisted in or connived at the fraud which has led to the creation of a subsequent equitable estate, without notice of the prior legal estate’; or</a:t>
            </a:r>
          </a:p>
          <a:p>
            <a:pPr marL="176213">
              <a:spcBef>
                <a:spcPts val="900"/>
              </a:spcBef>
              <a:buNone/>
              <a:defRPr/>
            </a:pPr>
            <a:r>
              <a:rPr lang="en-AU" sz="1100" dirty="0"/>
              <a:t>(2) ‘where the owner of the legal estate has constituted the mortgagor his agent to raise money and the estate thus created has by the fraud or misconduct of the agent been represented as being the first estate.’ </a:t>
            </a:r>
          </a:p>
          <a:p>
            <a:pPr marL="176213">
              <a:spcBef>
                <a:spcPts val="900"/>
              </a:spcBef>
              <a:buNone/>
              <a:defRPr/>
            </a:pPr>
            <a:r>
              <a:rPr lang="en-AU" sz="1100" dirty="0"/>
              <a:t>However, ‘the court will not postpone the prior legal estate to the subsequent equitable estate on the ground of mere carelessness or want of prudence on the part of the legal owner.’</a:t>
            </a:r>
          </a:p>
          <a:p>
            <a:pPr>
              <a:spcBef>
                <a:spcPts val="900"/>
              </a:spcBef>
              <a:buNone/>
              <a:defRPr/>
            </a:pPr>
            <a:r>
              <a:rPr lang="en-AU" sz="1100" dirty="0"/>
              <a:t>Land under the Torrens system has similar rules (exceptions to indefeasibility of title) – discussed later.</a:t>
            </a: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Autofit/>
          </a:bodyPr>
          <a:lstStyle/>
          <a:p>
            <a:pPr marL="0" indent="0">
              <a:spcBef>
                <a:spcPts val="900"/>
              </a:spcBef>
              <a:buNone/>
              <a:defRPr/>
            </a:pPr>
            <a:r>
              <a:rPr lang="en-AU" sz="1800" b="0" dirty="0">
                <a:solidFill>
                  <a:schemeClr val="bg1"/>
                </a:solidFill>
              </a:rPr>
              <a:t>Priority of prior legal interest (L1) vs </a:t>
            </a:r>
            <a:br>
              <a:rPr lang="en-AU" sz="1800" b="0" dirty="0">
                <a:solidFill>
                  <a:schemeClr val="bg1"/>
                </a:solidFill>
              </a:rPr>
            </a:br>
            <a:r>
              <a:rPr lang="en-AU" sz="1800" b="0" dirty="0">
                <a:solidFill>
                  <a:schemeClr val="bg1"/>
                </a:solidFill>
              </a:rPr>
              <a:t>later equitable interest (E2)</a:t>
            </a:r>
          </a:p>
        </p:txBody>
      </p:sp>
    </p:spTree>
    <p:extLst>
      <p:ext uri="{BB962C8B-B14F-4D97-AF65-F5344CB8AC3E}">
        <p14:creationId xmlns:p14="http://schemas.microsoft.com/office/powerpoint/2010/main" val="3941675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8" y="731520"/>
            <a:ext cx="6326009" cy="4084320"/>
          </a:xfrm>
        </p:spPr>
        <p:txBody>
          <a:bodyPr>
            <a:normAutofit lnSpcReduction="10000"/>
          </a:bodyPr>
          <a:lstStyle/>
          <a:p>
            <a:pPr algn="just">
              <a:spcBef>
                <a:spcPts val="900"/>
              </a:spcBef>
              <a:buNone/>
              <a:tabLst>
                <a:tab pos="535781" algn="l"/>
                <a:tab pos="872729" algn="l"/>
              </a:tabLst>
              <a:defRPr/>
            </a:pPr>
            <a:r>
              <a:rPr lang="en-AU" sz="1600" dirty="0"/>
              <a:t>The </a:t>
            </a:r>
            <a:r>
              <a:rPr lang="en-AU" sz="1600" i="1" dirty="0"/>
              <a:t>general law </a:t>
            </a:r>
            <a:r>
              <a:rPr lang="en-AU" sz="1600" dirty="0"/>
              <a:t>requirements for the later legal interest to prevail: </a:t>
            </a:r>
          </a:p>
          <a:p>
            <a:pPr marL="266700" indent="-266700" algn="just">
              <a:spcBef>
                <a:spcPts val="900"/>
              </a:spcBef>
              <a:tabLst>
                <a:tab pos="535781" algn="l"/>
                <a:tab pos="872729" algn="l"/>
              </a:tabLst>
              <a:defRPr/>
            </a:pPr>
            <a:r>
              <a:rPr lang="en-AU" sz="1600" dirty="0"/>
              <a:t>The purchaser of the legal interest must be </a:t>
            </a:r>
            <a:r>
              <a:rPr lang="en-AU" sz="1600" b="1" dirty="0"/>
              <a:t>bona fide </a:t>
            </a:r>
            <a:r>
              <a:rPr lang="en-AU" sz="1600" dirty="0"/>
              <a:t>and for value.</a:t>
            </a:r>
          </a:p>
          <a:p>
            <a:pPr algn="just">
              <a:spcBef>
                <a:spcPts val="900"/>
              </a:spcBef>
              <a:tabLst>
                <a:tab pos="535781" algn="l"/>
                <a:tab pos="872729" algn="l"/>
              </a:tabLst>
              <a:defRPr/>
            </a:pPr>
            <a:r>
              <a:rPr lang="en-AU" sz="1600" dirty="0"/>
              <a:t>The purchaser must take </a:t>
            </a:r>
            <a:r>
              <a:rPr lang="en-AU" sz="1600" b="1" dirty="0"/>
              <a:t>without notice </a:t>
            </a:r>
            <a:r>
              <a:rPr lang="en-AU" sz="1600" dirty="0"/>
              <a:t>of the prior equitable interest. The 3 types of notice are </a:t>
            </a:r>
            <a:r>
              <a:rPr lang="en-AU" sz="1600" i="1" dirty="0"/>
              <a:t>actual</a:t>
            </a:r>
            <a:r>
              <a:rPr lang="en-AU" sz="1600" dirty="0"/>
              <a:t>, </a:t>
            </a:r>
            <a:r>
              <a:rPr lang="en-AU" sz="1600" i="1" dirty="0"/>
              <a:t>imputed</a:t>
            </a:r>
            <a:r>
              <a:rPr lang="en-AU" sz="1600" dirty="0"/>
              <a:t> and </a:t>
            </a:r>
            <a:r>
              <a:rPr lang="en-AU" sz="1600" i="1" dirty="0"/>
              <a:t>constructive </a:t>
            </a:r>
            <a:r>
              <a:rPr lang="en-AU" sz="1600" dirty="0"/>
              <a:t>notice.</a:t>
            </a:r>
          </a:p>
          <a:p>
            <a:pPr algn="just">
              <a:spcBef>
                <a:spcPts val="900"/>
              </a:spcBef>
              <a:buNone/>
              <a:tabLst>
                <a:tab pos="535781" algn="l"/>
                <a:tab pos="872729" algn="l"/>
              </a:tabLst>
              <a:defRPr/>
            </a:pPr>
            <a:r>
              <a:rPr lang="en-AU" sz="1600" dirty="0"/>
              <a:t>Actual notice is self explanatory.</a:t>
            </a:r>
          </a:p>
          <a:p>
            <a:pPr algn="just">
              <a:spcBef>
                <a:spcPts val="900"/>
              </a:spcBef>
              <a:buNone/>
              <a:tabLst>
                <a:tab pos="535781" algn="l"/>
                <a:tab pos="872729" algn="l"/>
              </a:tabLst>
              <a:defRPr/>
            </a:pPr>
            <a:r>
              <a:rPr lang="en-AU" sz="1600" dirty="0"/>
              <a:t>Imputed notice is where notice is imputed to the holder. For example, notice given to a purchaser’s agent is imputed to the purchaser.	</a:t>
            </a:r>
          </a:p>
          <a:p>
            <a:pPr algn="just">
              <a:spcBef>
                <a:spcPts val="900"/>
              </a:spcBef>
              <a:buNone/>
              <a:tabLst>
                <a:tab pos="535781" algn="l"/>
                <a:tab pos="872729" algn="l"/>
              </a:tabLst>
              <a:defRPr/>
            </a:pPr>
            <a:r>
              <a:rPr lang="en-AU" sz="1600" dirty="0"/>
              <a:t>As to determining constructive notice, the purchaser has two duties:</a:t>
            </a:r>
          </a:p>
          <a:p>
            <a:pPr marL="285750" lvl="1" indent="-285750" algn="just">
              <a:spcBef>
                <a:spcPts val="900"/>
              </a:spcBef>
              <a:tabLst>
                <a:tab pos="535781" algn="l"/>
                <a:tab pos="872729" algn="l"/>
              </a:tabLst>
              <a:defRPr/>
            </a:pPr>
            <a:r>
              <a:rPr lang="en-AU" sz="1600" dirty="0"/>
              <a:t>A duty to search and examine all documents pertaining to the transaction.</a:t>
            </a:r>
          </a:p>
          <a:p>
            <a:pPr marL="285750" lvl="1" indent="-285750" algn="just">
              <a:spcBef>
                <a:spcPts val="900"/>
              </a:spcBef>
              <a:tabLst>
                <a:tab pos="535781" algn="l"/>
                <a:tab pos="872729" algn="l"/>
              </a:tabLst>
              <a:defRPr/>
            </a:pPr>
            <a:r>
              <a:rPr lang="en-AU" sz="1600" dirty="0"/>
              <a:t>A duty to inspect the land – </a:t>
            </a:r>
            <a:r>
              <a:rPr lang="en-AU" sz="1600" dirty="0" err="1"/>
              <a:t>eg</a:t>
            </a:r>
            <a:r>
              <a:rPr lang="en-AU" sz="1600" dirty="0"/>
              <a:t> </a:t>
            </a:r>
            <a:r>
              <a:rPr lang="en-AU" sz="1600" i="1" dirty="0"/>
              <a:t>Jared v Clements</a:t>
            </a:r>
            <a:r>
              <a:rPr lang="en-AU" sz="1600" dirty="0"/>
              <a:t> [1902] 2 Ch 399, </a:t>
            </a:r>
            <a:r>
              <a:rPr lang="en-AU" sz="1600" i="1" dirty="0"/>
              <a:t>Smith v Jones</a:t>
            </a:r>
            <a:r>
              <a:rPr lang="en-AU" sz="1600" dirty="0"/>
              <a:t> [1954] 1 WLR 1089.</a:t>
            </a:r>
          </a:p>
          <a:p>
            <a:pPr algn="just">
              <a:spcBef>
                <a:spcPts val="900"/>
              </a:spcBef>
              <a:buFont typeface="Wingdings" panose="05000000000000000000" pitchFamily="2" charset="2"/>
              <a:buChar char="Ø"/>
              <a:tabLst>
                <a:tab pos="604838" algn="l"/>
              </a:tabLst>
              <a:defRPr/>
            </a:pP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a:xfrm>
            <a:off x="109057" y="-2380"/>
            <a:ext cx="6031683" cy="564749"/>
          </a:xfrm>
        </p:spPr>
        <p:txBody>
          <a:bodyPr>
            <a:noAutofit/>
          </a:bodyPr>
          <a:lstStyle/>
          <a:p>
            <a:pPr algn="just">
              <a:spcBef>
                <a:spcPts val="900"/>
              </a:spcBef>
              <a:buNone/>
              <a:defRPr/>
            </a:pPr>
            <a:r>
              <a:rPr lang="en-AU" sz="1800" b="0" dirty="0">
                <a:solidFill>
                  <a:schemeClr val="bg1"/>
                </a:solidFill>
              </a:rPr>
              <a:t>Earlier Equitable Interest (E1) vs Later Legal Interest (L2)</a:t>
            </a:r>
          </a:p>
        </p:txBody>
      </p:sp>
    </p:spTree>
    <p:extLst>
      <p:ext uri="{BB962C8B-B14F-4D97-AF65-F5344CB8AC3E}">
        <p14:creationId xmlns:p14="http://schemas.microsoft.com/office/powerpoint/2010/main" val="1019347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00342"/>
            <a:ext cx="5780724" cy="3742815"/>
          </a:xfrm>
        </p:spPr>
        <p:txBody>
          <a:bodyPr>
            <a:normAutofit/>
          </a:bodyPr>
          <a:lstStyle/>
          <a:p>
            <a:pPr marL="0" indent="0" algn="just">
              <a:spcBef>
                <a:spcPts val="900"/>
              </a:spcBef>
              <a:buNone/>
              <a:defRPr/>
            </a:pPr>
            <a:r>
              <a:rPr lang="en-AU" altLang="en-US" sz="1800" dirty="0">
                <a:ea typeface="ＭＳ Ｐゴシック" pitchFamily="34" charset="-128"/>
              </a:rPr>
              <a:t>Priorities dispute between prior equitable interest (E1) vs subsequent equitable interest (E2).</a:t>
            </a:r>
          </a:p>
          <a:p>
            <a:pPr marL="535781" indent="-535781" algn="just">
              <a:spcBef>
                <a:spcPts val="900"/>
              </a:spcBef>
              <a:buNone/>
              <a:defRPr/>
            </a:pPr>
            <a:r>
              <a:rPr lang="en-AU" altLang="en-US" sz="1800" b="1" dirty="0">
                <a:ea typeface="ＭＳ Ｐゴシック" pitchFamily="34" charset="-128"/>
              </a:rPr>
              <a:t>Most</a:t>
            </a:r>
            <a:r>
              <a:rPr lang="en-AU" altLang="en-US" sz="1800" dirty="0">
                <a:ea typeface="ＭＳ Ｐゴシック" pitchFamily="34" charset="-128"/>
              </a:rPr>
              <a:t> priorities disputes fall into this category. </a:t>
            </a:r>
          </a:p>
          <a:p>
            <a:pPr marL="535781" indent="-535781" algn="just">
              <a:spcBef>
                <a:spcPts val="900"/>
              </a:spcBef>
              <a:buNone/>
              <a:defRPr/>
            </a:pPr>
            <a:r>
              <a:rPr lang="en-AU" altLang="en-US" sz="1800" dirty="0">
                <a:ea typeface="ＭＳ Ｐゴシック" pitchFamily="34" charset="-128"/>
              </a:rPr>
              <a:t>Leading case:</a:t>
            </a:r>
          </a:p>
          <a:p>
            <a:pPr marL="535781" indent="-535781" algn="just">
              <a:spcBef>
                <a:spcPts val="900"/>
              </a:spcBef>
              <a:buNone/>
              <a:defRPr/>
            </a:pPr>
            <a:r>
              <a:rPr lang="en-AU" altLang="en-US" sz="1800" i="1" dirty="0">
                <a:ea typeface="ＭＳ Ｐゴシック" pitchFamily="34" charset="-128"/>
              </a:rPr>
              <a:t>Rice v Rice</a:t>
            </a:r>
            <a:r>
              <a:rPr lang="en-AU" altLang="en-US" sz="1800" dirty="0">
                <a:ea typeface="ＭＳ Ｐゴシック" pitchFamily="34" charset="-128"/>
              </a:rPr>
              <a:t> (1853) 161 ER 646 </a:t>
            </a:r>
          </a:p>
          <a:p>
            <a:pPr marL="535781" indent="-535781" algn="just">
              <a:spcBef>
                <a:spcPts val="900"/>
              </a:spcBef>
              <a:buNone/>
              <a:defRPr/>
            </a:pPr>
            <a:r>
              <a:rPr lang="en-AU" altLang="en-US" sz="1800" dirty="0">
                <a:ea typeface="ＭＳ Ｐゴシック" pitchFamily="34" charset="-128"/>
              </a:rPr>
              <a:t>Decided:</a:t>
            </a:r>
          </a:p>
          <a:p>
            <a:pPr algn="just">
              <a:spcBef>
                <a:spcPts val="900"/>
              </a:spcBef>
              <a:buNone/>
              <a:defRPr/>
            </a:pPr>
            <a:r>
              <a:rPr lang="en-AU" altLang="en-US" sz="1800" dirty="0">
                <a:ea typeface="ＭＳ Ｐゴシック" pitchFamily="34" charset="-128"/>
              </a:rPr>
              <a:t>Where the equities are equal, priority of time is the last ground courts will resort to.</a:t>
            </a:r>
          </a:p>
          <a:p>
            <a:pPr algn="just">
              <a:spcBef>
                <a:spcPts val="900"/>
              </a:spcBef>
              <a:buNone/>
              <a:defRPr/>
            </a:pPr>
            <a:r>
              <a:rPr lang="en-AU" altLang="en-US" sz="1800" dirty="0">
                <a:ea typeface="ＭＳ Ｐゴシック" pitchFamily="34" charset="-128"/>
              </a:rPr>
              <a:t>The general rule is that </a:t>
            </a:r>
            <a:r>
              <a:rPr lang="en-AU" altLang="en-US" sz="1800" b="1" dirty="0">
                <a:ea typeface="ＭＳ Ｐゴシック" pitchFamily="34" charset="-128"/>
              </a:rPr>
              <a:t>equity will search for the better equity.</a:t>
            </a:r>
            <a:endParaRPr lang="en-AU" altLang="en-US" sz="1800" b="1" i="1" dirty="0">
              <a:ea typeface="ＭＳ Ｐゴシック" pitchFamily="34" charset="-128"/>
            </a:endParaRPr>
          </a:p>
          <a:p>
            <a:pPr algn="just">
              <a:spcBef>
                <a:spcPts val="900"/>
              </a:spcBef>
              <a:tabLst>
                <a:tab pos="604838" algn="l"/>
              </a:tabLst>
              <a:defRPr/>
            </a:pP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pPr marL="535781" indent="-535781" algn="just">
              <a:spcBef>
                <a:spcPts val="900"/>
              </a:spcBef>
              <a:buNone/>
              <a:defRPr/>
            </a:pPr>
            <a:r>
              <a:rPr lang="en-AU" sz="1800" b="0" dirty="0">
                <a:solidFill>
                  <a:schemeClr val="bg1"/>
                </a:solidFill>
              </a:rPr>
              <a:t>Equitable Interest (E1) vs Equitable Interest (E2)</a:t>
            </a:r>
          </a:p>
        </p:txBody>
      </p:sp>
    </p:spTree>
    <p:extLst>
      <p:ext uri="{BB962C8B-B14F-4D97-AF65-F5344CB8AC3E}">
        <p14:creationId xmlns:p14="http://schemas.microsoft.com/office/powerpoint/2010/main" val="3981165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08660"/>
            <a:ext cx="5923337" cy="4434840"/>
          </a:xfrm>
        </p:spPr>
        <p:txBody>
          <a:bodyPr>
            <a:normAutofit lnSpcReduction="10000"/>
          </a:bodyPr>
          <a:lstStyle/>
          <a:p>
            <a:pPr algn="just">
              <a:spcBef>
                <a:spcPts val="900"/>
              </a:spcBef>
              <a:buNone/>
              <a:defRPr/>
            </a:pPr>
            <a:r>
              <a:rPr lang="en-AU" altLang="en-US" sz="1800" i="1" dirty="0">
                <a:ea typeface="ＭＳ Ｐゴシック" pitchFamily="34" charset="-128"/>
              </a:rPr>
              <a:t>Rice v Rice</a:t>
            </a:r>
            <a:r>
              <a:rPr lang="en-AU" altLang="en-US" sz="1800" dirty="0">
                <a:ea typeface="ＭＳ Ｐゴシック" pitchFamily="34" charset="-128"/>
              </a:rPr>
              <a:t> (1853) 161 ER 646</a:t>
            </a:r>
          </a:p>
          <a:p>
            <a:pPr algn="just">
              <a:spcBef>
                <a:spcPts val="900"/>
              </a:spcBef>
              <a:buNone/>
              <a:defRPr/>
            </a:pPr>
            <a:r>
              <a:rPr lang="en-AU" altLang="en-US" sz="1800" dirty="0">
                <a:solidFill>
                  <a:srgbClr val="000000"/>
                </a:solidFill>
                <a:ea typeface="ＭＳ Ｐゴシック" pitchFamily="34" charset="-128"/>
              </a:rPr>
              <a:t>This case involved a prior vendor’s equitable lien vs subsequent equitable mortgagee.</a:t>
            </a:r>
          </a:p>
          <a:p>
            <a:pPr algn="just">
              <a:spcBef>
                <a:spcPts val="900"/>
              </a:spcBef>
              <a:buNone/>
              <a:defRPr/>
            </a:pPr>
            <a:r>
              <a:rPr lang="en-AU" altLang="en-US" sz="1800" dirty="0">
                <a:solidFill>
                  <a:srgbClr val="000000"/>
                </a:solidFill>
                <a:ea typeface="ＭＳ Ｐゴシック" pitchFamily="34" charset="-128"/>
              </a:rPr>
              <a:t>The vendor had sold his property to a relative and signed a receipt for the purchase price even though money hadn’t been paid. This was to enable the purchaser (the relative) to borrow against the property from a bank (who believed he owed nothing on the property). The purchaser borrowed from a bank and gave them the title deeds effectively giving the bank an equitable mortgage. The vendor claimed his equitable interest (because he was entitled to be paid) prevailed. The court found that the later bank interest should prevail as the conduct of the vendor had put them in this position so he only had himself to blame. </a:t>
            </a:r>
          </a:p>
          <a:p>
            <a:pPr marL="535781" indent="0" algn="just">
              <a:spcBef>
                <a:spcPts val="900"/>
              </a:spcBef>
              <a:buNone/>
              <a:defRPr/>
            </a:pPr>
            <a:br>
              <a:rPr lang="en-AU" altLang="en-US" sz="900" i="1" dirty="0">
                <a:solidFill>
                  <a:srgbClr val="000000"/>
                </a:solidFill>
                <a:ea typeface="ＭＳ Ｐゴシック" pitchFamily="34" charset="-128"/>
              </a:rPr>
            </a:b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pPr marL="535781" indent="-535781" algn="just">
              <a:spcBef>
                <a:spcPts val="900"/>
              </a:spcBef>
              <a:buNone/>
              <a:defRPr/>
            </a:pPr>
            <a:r>
              <a:rPr lang="en-AU" sz="1800" b="0" dirty="0">
                <a:solidFill>
                  <a:schemeClr val="bg1"/>
                </a:solidFill>
              </a:rPr>
              <a:t>Equitable Interest (E1) vs Equitable Interest (E2)</a:t>
            </a:r>
            <a:endParaRPr lang="en-AU" sz="1800" b="0" dirty="0"/>
          </a:p>
        </p:txBody>
      </p:sp>
    </p:spTree>
    <p:extLst>
      <p:ext uri="{BB962C8B-B14F-4D97-AF65-F5344CB8AC3E}">
        <p14:creationId xmlns:p14="http://schemas.microsoft.com/office/powerpoint/2010/main" val="3632771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08660"/>
            <a:ext cx="4102926" cy="4434840"/>
          </a:xfrm>
        </p:spPr>
        <p:txBody>
          <a:bodyPr>
            <a:normAutofit/>
          </a:bodyPr>
          <a:lstStyle/>
          <a:p>
            <a:pPr algn="just">
              <a:spcBef>
                <a:spcPts val="900"/>
              </a:spcBef>
              <a:defRPr/>
            </a:pPr>
            <a:r>
              <a:rPr lang="en-AU" altLang="en-US" sz="1800" i="1" dirty="0">
                <a:ea typeface="ＭＳ Ｐゴシック" pitchFamily="34" charset="-128"/>
              </a:rPr>
              <a:t>Rice v Rice</a:t>
            </a:r>
            <a:r>
              <a:rPr lang="en-AU" altLang="en-US" sz="1800" dirty="0">
                <a:ea typeface="ＭＳ Ｐゴシック" pitchFamily="34" charset="-128"/>
              </a:rPr>
              <a:t> (1853) 161 ER 646 (</a:t>
            </a:r>
            <a:r>
              <a:rPr lang="en-AU" altLang="en-US" sz="1800" dirty="0">
                <a:solidFill>
                  <a:srgbClr val="000000"/>
                </a:solidFill>
                <a:ea typeface="ＭＳ Ｐゴシック" pitchFamily="34" charset="-128"/>
              </a:rPr>
              <a:t>Kindersley VC):</a:t>
            </a:r>
            <a:endParaRPr lang="en-AU" altLang="en-US" sz="1600" i="1" dirty="0">
              <a:ea typeface="ＭＳ Ｐゴシック" pitchFamily="34" charset="-128"/>
            </a:endParaRPr>
          </a:p>
          <a:p>
            <a:pPr marL="176213" algn="just">
              <a:spcBef>
                <a:spcPts val="900"/>
              </a:spcBef>
              <a:buNone/>
              <a:defRPr/>
            </a:pPr>
            <a:r>
              <a:rPr lang="en-AU" altLang="en-US" sz="1600" dirty="0">
                <a:ea typeface="ＭＳ Ｐゴシック" pitchFamily="34" charset="-128"/>
              </a:rPr>
              <a:t>The general rule of equity as to priorities is that as between persons having only equitable interests, if their equities are in all other respects equal, </a:t>
            </a:r>
            <a:r>
              <a:rPr lang="en-AU" altLang="en-US" sz="1600" spc="8" dirty="0">
                <a:ea typeface="ＭＳ Ｐゴシック" pitchFamily="34" charset="-128"/>
              </a:rPr>
              <a:t>priority of time gives the better equity. In order to determine if the equities are equal, the </a:t>
            </a:r>
            <a:r>
              <a:rPr lang="en-AU" altLang="en-US" sz="1600" dirty="0">
                <a:ea typeface="ＭＳ Ｐゴシック" pitchFamily="34" charset="-128"/>
              </a:rPr>
              <a:t>court will generally consider:</a:t>
            </a:r>
          </a:p>
          <a:p>
            <a:pPr marL="176213" algn="just">
              <a:spcBef>
                <a:spcPts val="900"/>
              </a:spcBef>
              <a:buNone/>
              <a:defRPr/>
            </a:pPr>
            <a:r>
              <a:rPr lang="en-AU" altLang="en-US" sz="1600" dirty="0">
                <a:ea typeface="ＭＳ Ｐゴシック" pitchFamily="34" charset="-128"/>
              </a:rPr>
              <a:t>[1] the nature and condition of the  </a:t>
            </a:r>
            <a:r>
              <a:rPr lang="en-AU" altLang="en-US" sz="1600" dirty="0">
                <a:solidFill>
                  <a:srgbClr val="000000"/>
                </a:solidFill>
                <a:ea typeface="ＭＳ Ｐゴシック" pitchFamily="34" charset="-128"/>
              </a:rPr>
              <a:t>respective equitable interests; </a:t>
            </a:r>
          </a:p>
          <a:p>
            <a:pPr marL="176213" algn="just">
              <a:spcBef>
                <a:spcPts val="900"/>
              </a:spcBef>
              <a:buNone/>
              <a:defRPr/>
            </a:pPr>
            <a:r>
              <a:rPr lang="en-AU" altLang="en-US" sz="1600" dirty="0">
                <a:solidFill>
                  <a:srgbClr val="000000"/>
                </a:solidFill>
                <a:ea typeface="ＭＳ Ｐゴシック" pitchFamily="34" charset="-128"/>
              </a:rPr>
              <a:t>[2] the circumstances and manner of acquisition of the respective interests; and </a:t>
            </a:r>
          </a:p>
          <a:p>
            <a:pPr marL="176213" algn="just">
              <a:spcBef>
                <a:spcPts val="900"/>
              </a:spcBef>
              <a:buNone/>
              <a:defRPr/>
            </a:pPr>
            <a:r>
              <a:rPr lang="en-AU" altLang="en-US" sz="1600" dirty="0">
                <a:solidFill>
                  <a:srgbClr val="000000"/>
                </a:solidFill>
                <a:ea typeface="ＭＳ Ｐゴシック" pitchFamily="34" charset="-128"/>
              </a:rPr>
              <a:t>[3] the whole conduct of each party.</a:t>
            </a:r>
          </a:p>
          <a:p>
            <a:pPr algn="just">
              <a:spcBef>
                <a:spcPts val="900"/>
              </a:spcBef>
              <a:buNone/>
              <a:defRPr/>
            </a:pPr>
            <a:endParaRPr lang="en-AU" altLang="en-US" sz="1400" i="1" dirty="0">
              <a:solidFill>
                <a:srgbClr val="000000"/>
              </a:solidFill>
              <a:ea typeface="ＭＳ Ｐゴシック" pitchFamily="34" charset="-128"/>
            </a:endParaRPr>
          </a:p>
          <a:p>
            <a:pPr marL="535781" indent="0" algn="just">
              <a:spcBef>
                <a:spcPts val="900"/>
              </a:spcBef>
              <a:buNone/>
              <a:defRPr/>
            </a:pP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pPr marL="535781" indent="-535781" algn="just">
              <a:spcBef>
                <a:spcPts val="900"/>
              </a:spcBef>
              <a:buNone/>
              <a:defRPr/>
            </a:pPr>
            <a:r>
              <a:rPr lang="en-AU" sz="1800" b="0" dirty="0">
                <a:solidFill>
                  <a:schemeClr val="bg1"/>
                </a:solidFill>
              </a:rPr>
              <a:t>Equitable Interest (E1) vs Equitable Interest (E2)</a:t>
            </a:r>
            <a:endParaRPr lang="en-AU" sz="1800" b="0" dirty="0"/>
          </a:p>
        </p:txBody>
      </p:sp>
      <p:pic>
        <p:nvPicPr>
          <p:cNvPr id="5" name="Picture 4" descr="A person sitting in a chair&#10;&#10;Description automatically generated">
            <a:extLst>
              <a:ext uri="{FF2B5EF4-FFF2-40B4-BE49-F238E27FC236}">
                <a16:creationId xmlns:a16="http://schemas.microsoft.com/office/drawing/2014/main" id="{704DBF27-9AB0-5237-A800-5E3620365E6C}"/>
              </a:ext>
            </a:extLst>
          </p:cNvPr>
          <p:cNvPicPr>
            <a:picLocks noChangeAspect="1"/>
          </p:cNvPicPr>
          <p:nvPr/>
        </p:nvPicPr>
        <p:blipFill>
          <a:blip r:embed="rId2"/>
          <a:stretch>
            <a:fillRect/>
          </a:stretch>
        </p:blipFill>
        <p:spPr>
          <a:xfrm>
            <a:off x="4567797" y="980114"/>
            <a:ext cx="2030854" cy="3356994"/>
          </a:xfrm>
          <a:prstGeom prst="rect">
            <a:avLst/>
          </a:prstGeom>
        </p:spPr>
      </p:pic>
    </p:spTree>
    <p:extLst>
      <p:ext uri="{BB962C8B-B14F-4D97-AF65-F5344CB8AC3E}">
        <p14:creationId xmlns:p14="http://schemas.microsoft.com/office/powerpoint/2010/main" val="1481204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632460"/>
            <a:ext cx="4058794" cy="4275100"/>
          </a:xfrm>
        </p:spPr>
        <p:txBody>
          <a:bodyPr>
            <a:normAutofit fontScale="92500"/>
          </a:bodyPr>
          <a:lstStyle/>
          <a:p>
            <a:pPr algn="just">
              <a:spcBef>
                <a:spcPts val="900"/>
              </a:spcBef>
              <a:buNone/>
              <a:defRPr/>
            </a:pPr>
            <a:r>
              <a:rPr lang="en-AU" altLang="en-US" sz="1400" i="1" dirty="0">
                <a:ea typeface="ＭＳ Ｐゴシック" pitchFamily="34" charset="-128"/>
              </a:rPr>
              <a:t>Barry v Heider </a:t>
            </a:r>
            <a:r>
              <a:rPr lang="en-AU" altLang="en-US" sz="1400" dirty="0">
                <a:ea typeface="ＭＳ Ｐゴシック" pitchFamily="34" charset="-128"/>
              </a:rPr>
              <a:t>(1914) 19 CLR 197</a:t>
            </a:r>
          </a:p>
          <a:p>
            <a:pPr algn="just">
              <a:spcBef>
                <a:spcPts val="900"/>
              </a:spcBef>
              <a:buNone/>
              <a:defRPr/>
            </a:pPr>
            <a:r>
              <a:rPr lang="en-AU" altLang="en-US" sz="1400" dirty="0">
                <a:ea typeface="ＭＳ Ｐゴシック" pitchFamily="34" charset="-128"/>
              </a:rPr>
              <a:t>Barry signed a transfer of property over to Schmidt who didn’t pay the stated amount of £1,200. Schmidt mortgaged the property to Heider. Heider did not register the mortgage but had no notice of Barry’s interest. Barry sought a declaration that the unregistered mortgage was invalid. </a:t>
            </a:r>
          </a:p>
          <a:p>
            <a:pPr algn="just">
              <a:spcBef>
                <a:spcPts val="900"/>
              </a:spcBef>
              <a:buNone/>
              <a:defRPr/>
            </a:pPr>
            <a:r>
              <a:rPr lang="en-AU" altLang="en-US" sz="1400" dirty="0">
                <a:ea typeface="ＭＳ Ｐゴシック" pitchFamily="34" charset="-128"/>
              </a:rPr>
              <a:t>The court found that Heider had an equitable interest that took priority over Barry’s equitable interest (as he Barry longer had a legal interest).</a:t>
            </a:r>
          </a:p>
          <a:p>
            <a:pPr algn="just">
              <a:spcBef>
                <a:spcPts val="900"/>
              </a:spcBef>
              <a:defRPr/>
            </a:pPr>
            <a:r>
              <a:rPr lang="en-AU" altLang="en-US" sz="1400" dirty="0">
                <a:ea typeface="ＭＳ Ｐゴシック" pitchFamily="34" charset="-128"/>
              </a:rPr>
              <a:t>This case is authority for the following:</a:t>
            </a:r>
          </a:p>
          <a:p>
            <a:pPr marL="285750" indent="-285750" algn="just">
              <a:spcBef>
                <a:spcPts val="900"/>
              </a:spcBef>
              <a:buFont typeface="Arial" panose="020B0604020202020204" pitchFamily="34" charset="0"/>
              <a:buChar char="•"/>
              <a:defRPr/>
            </a:pPr>
            <a:r>
              <a:rPr lang="en-AU" altLang="en-US" sz="1400" dirty="0">
                <a:ea typeface="ＭＳ Ｐゴシック" pitchFamily="34" charset="-128"/>
              </a:rPr>
              <a:t>The taker of a later equitable interest without notice of an earlier equitable interest can have priority where earlier interest holder has contributed to later interest holder getting their equitable interest.</a:t>
            </a:r>
          </a:p>
          <a:p>
            <a:pPr marL="285750" indent="-285750" algn="just">
              <a:spcBef>
                <a:spcPts val="900"/>
              </a:spcBef>
              <a:buFont typeface="Arial" panose="020B0604020202020204" pitchFamily="34" charset="0"/>
              <a:buChar char="•"/>
              <a:defRPr/>
            </a:pPr>
            <a:r>
              <a:rPr lang="en-AU" altLang="en-US" sz="1400" dirty="0">
                <a:ea typeface="ＭＳ Ｐゴシック" pitchFamily="34" charset="-128"/>
              </a:rPr>
              <a:t>That an unregistered instrument can confer an equitable interest (in this case a mortgage).</a:t>
            </a: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pPr marL="535781" indent="-535781" algn="just">
              <a:spcBef>
                <a:spcPts val="900"/>
              </a:spcBef>
              <a:buNone/>
              <a:defRPr/>
            </a:pPr>
            <a:r>
              <a:rPr lang="en-AU" sz="1800" b="0" dirty="0">
                <a:solidFill>
                  <a:schemeClr val="bg1"/>
                </a:solidFill>
              </a:rPr>
              <a:t>Equitable Interest (E1) vs Equitable Interest (E2)</a:t>
            </a:r>
            <a:endParaRPr lang="en-AU" sz="1800" b="0" dirty="0"/>
          </a:p>
        </p:txBody>
      </p:sp>
      <p:pic>
        <p:nvPicPr>
          <p:cNvPr id="5" name="Picture 4" descr="A yellow sign with black text&#10;&#10;Description automatically generated">
            <a:extLst>
              <a:ext uri="{FF2B5EF4-FFF2-40B4-BE49-F238E27FC236}">
                <a16:creationId xmlns:a16="http://schemas.microsoft.com/office/drawing/2014/main" id="{AE2D7B89-6735-8F5E-01F4-E8842FDF08E2}"/>
              </a:ext>
            </a:extLst>
          </p:cNvPr>
          <p:cNvPicPr>
            <a:picLocks noChangeAspect="1"/>
          </p:cNvPicPr>
          <p:nvPr/>
        </p:nvPicPr>
        <p:blipFill>
          <a:blip r:embed="rId2"/>
          <a:stretch>
            <a:fillRect/>
          </a:stretch>
        </p:blipFill>
        <p:spPr>
          <a:xfrm>
            <a:off x="4504340" y="1221669"/>
            <a:ext cx="1982098" cy="3199329"/>
          </a:xfrm>
          <a:prstGeom prst="rect">
            <a:avLst/>
          </a:prstGeom>
        </p:spPr>
      </p:pic>
    </p:spTree>
    <p:extLst>
      <p:ext uri="{BB962C8B-B14F-4D97-AF65-F5344CB8AC3E}">
        <p14:creationId xmlns:p14="http://schemas.microsoft.com/office/powerpoint/2010/main" val="143136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662730"/>
            <a:ext cx="4446875" cy="4186107"/>
          </a:xfrm>
        </p:spPr>
        <p:txBody>
          <a:bodyPr>
            <a:normAutofit lnSpcReduction="10000"/>
          </a:bodyPr>
          <a:lstStyle/>
          <a:p>
            <a:pPr algn="just">
              <a:spcBef>
                <a:spcPts val="900"/>
              </a:spcBef>
              <a:buNone/>
              <a:defRPr/>
            </a:pPr>
            <a:r>
              <a:rPr lang="en-AU" altLang="en-US" sz="1600" dirty="0">
                <a:ea typeface="ＭＳ Ｐゴシック" pitchFamily="34" charset="-128"/>
              </a:rPr>
              <a:t>More stupidity – ‘arming’ the intermediary with the means of granting a subsequent equitable interest.</a:t>
            </a:r>
          </a:p>
          <a:p>
            <a:pPr algn="just">
              <a:spcBef>
                <a:spcPts val="900"/>
              </a:spcBef>
              <a:buNone/>
              <a:defRPr/>
            </a:pPr>
            <a:r>
              <a:rPr lang="en-AU" altLang="en-US" sz="1600" i="1" dirty="0">
                <a:ea typeface="ＭＳ Ｐゴシック" pitchFamily="34" charset="-128"/>
              </a:rPr>
              <a:t>Abigail v Lapin </a:t>
            </a:r>
            <a:r>
              <a:rPr lang="en-AU" altLang="en-US" sz="1600" dirty="0">
                <a:ea typeface="ＭＳ Ｐゴシック" pitchFamily="34" charset="-128"/>
              </a:rPr>
              <a:t>51 CLR 58 (1934 PC case on appeal from HC Australia).</a:t>
            </a:r>
          </a:p>
          <a:p>
            <a:pPr algn="just">
              <a:spcBef>
                <a:spcPts val="900"/>
              </a:spcBef>
              <a:buNone/>
              <a:defRPr/>
            </a:pPr>
            <a:r>
              <a:rPr lang="en-AU" sz="1600" dirty="0">
                <a:effectLst/>
              </a:rPr>
              <a:t>The Lapins transferred title to their land to Mrs Heavener as security for a loan from her. She subsequently borrowed money from the Abigails who had no notice of the Lapins’ prior equitable interest. The Abigails did not register their mortgage so only had an equitable interest. </a:t>
            </a:r>
          </a:p>
          <a:p>
            <a:pPr algn="just">
              <a:spcBef>
                <a:spcPts val="900"/>
              </a:spcBef>
              <a:buNone/>
              <a:defRPr/>
            </a:pPr>
            <a:r>
              <a:rPr lang="en-AU" sz="1600" dirty="0">
                <a:effectLst/>
              </a:rPr>
              <a:t>The court held that the Lapins had ‘armed’ Ms Heavener with the means of entering in the subsequent arrangement by transferring the title to her and not putting a caveat on th</a:t>
            </a:r>
            <a:r>
              <a:rPr lang="en-AU" sz="1600" dirty="0"/>
              <a:t>e title so had postponed their interest to the Abigails.</a:t>
            </a:r>
            <a:endParaRPr lang="en-AU" sz="1600" dirty="0">
              <a:effectLst/>
            </a:endParaRPr>
          </a:p>
          <a:p>
            <a:pPr algn="just">
              <a:spcBef>
                <a:spcPts val="900"/>
              </a:spcBef>
              <a:buNone/>
              <a:defRPr/>
            </a:pPr>
            <a:endParaRPr lang="en-AU" dirty="0">
              <a:latin typeface="Times New Roman" panose="02020603050405020304" pitchFamily="18" charset="0"/>
            </a:endParaRPr>
          </a:p>
          <a:p>
            <a:pPr algn="just">
              <a:spcBef>
                <a:spcPts val="900"/>
              </a:spcBef>
              <a:buNone/>
              <a:defRPr/>
            </a:pP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pPr marL="535781" indent="-535781" algn="just">
              <a:spcBef>
                <a:spcPts val="900"/>
              </a:spcBef>
              <a:buNone/>
              <a:defRPr/>
            </a:pPr>
            <a:r>
              <a:rPr lang="en-AU" sz="1800" b="0" dirty="0">
                <a:solidFill>
                  <a:schemeClr val="bg1"/>
                </a:solidFill>
              </a:rPr>
              <a:t>Equitable Interest (E1) vs Equitable Interest (E2)</a:t>
            </a:r>
            <a:endParaRPr lang="en-AU" sz="1800" b="0" dirty="0"/>
          </a:p>
        </p:txBody>
      </p:sp>
      <p:pic>
        <p:nvPicPr>
          <p:cNvPr id="5" name="Picture 4" descr="A hand holding a sword&#10;&#10;Description automatically generated">
            <a:extLst>
              <a:ext uri="{FF2B5EF4-FFF2-40B4-BE49-F238E27FC236}">
                <a16:creationId xmlns:a16="http://schemas.microsoft.com/office/drawing/2014/main" id="{3F2E059A-0808-1AB7-F512-F3513673BC8F}"/>
              </a:ext>
            </a:extLst>
          </p:cNvPr>
          <p:cNvPicPr>
            <a:picLocks noChangeAspect="1"/>
          </p:cNvPicPr>
          <p:nvPr/>
        </p:nvPicPr>
        <p:blipFill>
          <a:blip r:embed="rId2"/>
          <a:stretch>
            <a:fillRect/>
          </a:stretch>
        </p:blipFill>
        <p:spPr>
          <a:xfrm>
            <a:off x="4919870" y="978179"/>
            <a:ext cx="1678781" cy="3187141"/>
          </a:xfrm>
          <a:prstGeom prst="rect">
            <a:avLst/>
          </a:prstGeom>
        </p:spPr>
      </p:pic>
    </p:spTree>
    <p:extLst>
      <p:ext uri="{BB962C8B-B14F-4D97-AF65-F5344CB8AC3E}">
        <p14:creationId xmlns:p14="http://schemas.microsoft.com/office/powerpoint/2010/main" val="423948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91440" y="693420"/>
            <a:ext cx="4799341" cy="4229100"/>
          </a:xfrm>
        </p:spPr>
        <p:txBody>
          <a:bodyPr>
            <a:normAutofit fontScale="92500" lnSpcReduction="10000"/>
          </a:bodyPr>
          <a:lstStyle/>
          <a:p>
            <a:pPr marL="535781" indent="-535781" algn="just">
              <a:spcBef>
                <a:spcPts val="900"/>
              </a:spcBef>
              <a:defRPr/>
            </a:pPr>
            <a:r>
              <a:rPr lang="en-AU" sz="1400" dirty="0"/>
              <a:t>HCA’s current position:</a:t>
            </a:r>
            <a:endParaRPr lang="en-AU" sz="1400" i="1" dirty="0"/>
          </a:p>
          <a:p>
            <a:pPr marL="535781" indent="-535781" algn="just">
              <a:spcBef>
                <a:spcPts val="900"/>
              </a:spcBef>
              <a:defRPr/>
            </a:pPr>
            <a:r>
              <a:rPr lang="en-AU" sz="1400" i="1" dirty="0"/>
              <a:t>Heid v Reliance Finance Corp Pty Ltd </a:t>
            </a:r>
            <a:r>
              <a:rPr lang="en-AU" sz="1400" dirty="0"/>
              <a:t>(1983) 154 CLR 326:</a:t>
            </a:r>
          </a:p>
          <a:p>
            <a:pPr marL="176213" indent="-176213" algn="just">
              <a:spcBef>
                <a:spcPts val="900"/>
              </a:spcBef>
              <a:buNone/>
              <a:defRPr/>
            </a:pPr>
            <a:r>
              <a:rPr lang="en-AU" sz="1400" i="1" dirty="0"/>
              <a:t>	</a:t>
            </a:r>
            <a:r>
              <a:rPr lang="en-AU" sz="1400" dirty="0"/>
              <a:t>Priority between competing equitable interests is to be determined by a more </a:t>
            </a:r>
            <a:r>
              <a:rPr lang="en-AU" sz="1400" b="1" dirty="0"/>
              <a:t>general and flexible principle with preference given to … the better equity</a:t>
            </a:r>
            <a:r>
              <a:rPr lang="en-AU" sz="1400" dirty="0"/>
              <a:t>. In an examination of the relevant circumstances … the overriding question is … </a:t>
            </a:r>
            <a:r>
              <a:rPr lang="en-AU" sz="1400" b="1" dirty="0"/>
              <a:t>whose is the better equity</a:t>
            </a:r>
            <a:r>
              <a:rPr lang="en-AU" sz="1400" dirty="0"/>
              <a:t>, bearing in mind the </a:t>
            </a:r>
            <a:r>
              <a:rPr lang="en-AU" sz="1400" b="1" dirty="0"/>
              <a:t>conduct of both parties</a:t>
            </a:r>
            <a:r>
              <a:rPr lang="en-AU" sz="1400" dirty="0"/>
              <a:t>, the question of any negligence on the part of the prior claimant, the effect of any representation (by the prior claimant) as possibly raising an estoppel (in favour of the later holder) and whether it can be said that the conduct of the … prior owner has enabled such a representation to be made.</a:t>
            </a:r>
            <a:endParaRPr lang="en-AU" altLang="en-US" sz="1400" dirty="0">
              <a:solidFill>
                <a:srgbClr val="000000"/>
              </a:solidFill>
              <a:ea typeface="ＭＳ Ｐゴシック" pitchFamily="34" charset="-128"/>
            </a:endParaRPr>
          </a:p>
          <a:p>
            <a:pPr algn="just">
              <a:spcBef>
                <a:spcPts val="900"/>
              </a:spcBef>
              <a:defRPr/>
            </a:pPr>
            <a:r>
              <a:rPr lang="en-AU" altLang="en-US" sz="1400" dirty="0">
                <a:solidFill>
                  <a:srgbClr val="000000"/>
                </a:solidFill>
                <a:ea typeface="ＭＳ Ｐゴシック" pitchFamily="34" charset="-128"/>
              </a:rPr>
              <a:t>This case was similar to </a:t>
            </a:r>
            <a:r>
              <a:rPr lang="en-AU" altLang="en-US" sz="1400" i="1" dirty="0">
                <a:solidFill>
                  <a:srgbClr val="000000"/>
                </a:solidFill>
                <a:ea typeface="ＭＳ Ｐゴシック" pitchFamily="34" charset="-128"/>
              </a:rPr>
              <a:t>Rice v Rice. </a:t>
            </a:r>
            <a:r>
              <a:rPr lang="en-AU" altLang="en-US" sz="1400" dirty="0">
                <a:solidFill>
                  <a:srgbClr val="000000"/>
                </a:solidFill>
                <a:ea typeface="ＭＳ Ｐゴシック" pitchFamily="34" charset="-128"/>
              </a:rPr>
              <a:t>Heid sold property to a company. He acknowledged receipt of $165K in full payment for the property, but he had only been paid $15K. The company mortgaged the property to Reliance Finance by way of an equitable mortgage. Reliance Finance had no knowledge of Heid’s equitable interest (which was a vendor’s lien). The High Court held that Heid </a:t>
            </a:r>
            <a:r>
              <a:rPr lang="en-AU" altLang="en-US" sz="1400">
                <a:solidFill>
                  <a:srgbClr val="000000"/>
                </a:solidFill>
                <a:ea typeface="ＭＳ Ｐゴシック" pitchFamily="34" charset="-128"/>
              </a:rPr>
              <a:t>had postponed </a:t>
            </a:r>
            <a:r>
              <a:rPr lang="en-AU" altLang="en-US" sz="1400" dirty="0">
                <a:solidFill>
                  <a:srgbClr val="000000"/>
                </a:solidFill>
                <a:ea typeface="ＭＳ Ｐゴシック" pitchFamily="34" charset="-128"/>
              </a:rPr>
              <a:t>his prior equitable interest to Reliance Finance’s later equitable interest.</a:t>
            </a:r>
          </a:p>
          <a:p>
            <a:pPr algn="just">
              <a:spcBef>
                <a:spcPts val="900"/>
              </a:spcBef>
              <a:buFont typeface="Wingdings" panose="05000000000000000000" pitchFamily="2" charset="2"/>
              <a:buChar char="Ø"/>
              <a:tabLst>
                <a:tab pos="604838" algn="l"/>
              </a:tabLst>
              <a:defRPr/>
            </a:pP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lstStyle/>
          <a:p>
            <a:pPr marL="535781" indent="-535781" algn="just">
              <a:spcBef>
                <a:spcPts val="900"/>
              </a:spcBef>
              <a:buNone/>
              <a:defRPr/>
            </a:pPr>
            <a:r>
              <a:rPr lang="en-AU" sz="1800" b="0" dirty="0">
                <a:solidFill>
                  <a:schemeClr val="bg1"/>
                </a:solidFill>
              </a:rPr>
              <a:t>Equitable Interest (E1) vs Equitable Interest (E2</a:t>
            </a:r>
            <a:r>
              <a:rPr lang="en-AU" sz="1400" dirty="0">
                <a:solidFill>
                  <a:schemeClr val="bg1"/>
                </a:solidFill>
              </a:rPr>
              <a:t>)</a:t>
            </a:r>
            <a:endParaRPr lang="en-AU" sz="1400" dirty="0"/>
          </a:p>
        </p:txBody>
      </p:sp>
      <p:pic>
        <p:nvPicPr>
          <p:cNvPr id="5" name="Picture 4" descr="A snow falling on a city&#10;&#10;Description automatically generated">
            <a:extLst>
              <a:ext uri="{FF2B5EF4-FFF2-40B4-BE49-F238E27FC236}">
                <a16:creationId xmlns:a16="http://schemas.microsoft.com/office/drawing/2014/main" id="{8482E121-BC28-863E-1ABF-35221EC9C284}"/>
              </a:ext>
            </a:extLst>
          </p:cNvPr>
          <p:cNvPicPr>
            <a:picLocks noChangeAspect="1"/>
          </p:cNvPicPr>
          <p:nvPr/>
        </p:nvPicPr>
        <p:blipFill>
          <a:blip r:embed="rId2"/>
          <a:stretch>
            <a:fillRect/>
          </a:stretch>
        </p:blipFill>
        <p:spPr>
          <a:xfrm>
            <a:off x="4954758" y="1219200"/>
            <a:ext cx="1704842" cy="2705100"/>
          </a:xfrm>
          <a:prstGeom prst="rect">
            <a:avLst/>
          </a:prstGeom>
        </p:spPr>
      </p:pic>
    </p:spTree>
    <p:extLst>
      <p:ext uri="{BB962C8B-B14F-4D97-AF65-F5344CB8AC3E}">
        <p14:creationId xmlns:p14="http://schemas.microsoft.com/office/powerpoint/2010/main" val="2980051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889908"/>
            <a:ext cx="4968497" cy="3742815"/>
          </a:xfrm>
        </p:spPr>
        <p:txBody>
          <a:bodyPr>
            <a:normAutofit lnSpcReduction="10000"/>
          </a:bodyPr>
          <a:lstStyle/>
          <a:p>
            <a:pPr>
              <a:spcBef>
                <a:spcPts val="900"/>
              </a:spcBef>
              <a:buNone/>
              <a:defRPr/>
            </a:pPr>
            <a:r>
              <a:rPr lang="en-AU" altLang="en-US" sz="1600" dirty="0">
                <a:solidFill>
                  <a:srgbClr val="000000"/>
                </a:solidFill>
                <a:ea typeface="ＭＳ Ｐゴシック" pitchFamily="34" charset="-128"/>
              </a:rPr>
              <a:t>All things being equal, as a general rule an earlier equitable interest will be </a:t>
            </a:r>
            <a:r>
              <a:rPr lang="en-AU" altLang="en-US" sz="1600" b="1" dirty="0">
                <a:solidFill>
                  <a:srgbClr val="000000"/>
                </a:solidFill>
                <a:ea typeface="ＭＳ Ｐゴシック" pitchFamily="34" charset="-128"/>
              </a:rPr>
              <a:t>postponed</a:t>
            </a:r>
            <a:r>
              <a:rPr lang="en-AU" altLang="en-US" sz="1600" dirty="0">
                <a:solidFill>
                  <a:srgbClr val="000000"/>
                </a:solidFill>
                <a:ea typeface="ＭＳ Ｐゴシック" pitchFamily="34" charset="-128"/>
              </a:rPr>
              <a:t> to a later one where:</a:t>
            </a:r>
          </a:p>
          <a:p>
            <a:pPr>
              <a:spcBef>
                <a:spcPts val="900"/>
              </a:spcBef>
              <a:buFont typeface="Wingdings" panose="05000000000000000000" pitchFamily="2" charset="2"/>
              <a:buChar char="Ø"/>
              <a:defRPr/>
            </a:pPr>
            <a:r>
              <a:rPr lang="en-AU" altLang="en-US" sz="1600" dirty="0">
                <a:solidFill>
                  <a:srgbClr val="000000"/>
                </a:solidFill>
                <a:ea typeface="ＭＳ Ｐゴシック" pitchFamily="34" charset="-128"/>
              </a:rPr>
              <a:t> The conduct of the earlier holder has allowed the later holder to acquire that interest in the </a:t>
            </a:r>
            <a:r>
              <a:rPr lang="en-AU" altLang="en-US" sz="1600" b="1" dirty="0">
                <a:solidFill>
                  <a:srgbClr val="000000"/>
                </a:solidFill>
                <a:ea typeface="ＭＳ Ｐゴシック" pitchFamily="34" charset="-128"/>
              </a:rPr>
              <a:t>mistaken belief </a:t>
            </a:r>
            <a:r>
              <a:rPr lang="en-AU" altLang="en-US" sz="1600" dirty="0">
                <a:solidFill>
                  <a:srgbClr val="000000"/>
                </a:solidFill>
                <a:ea typeface="ＭＳ Ｐゴシック" pitchFamily="34" charset="-128"/>
              </a:rPr>
              <a:t>that the earlier interest did not exist </a:t>
            </a:r>
            <a:r>
              <a:rPr lang="en-AU" altLang="en-US" sz="1600" i="1" dirty="0">
                <a:solidFill>
                  <a:srgbClr val="000000"/>
                </a:solidFill>
                <a:ea typeface="ＭＳ Ｐゴシック" pitchFamily="34" charset="-128"/>
              </a:rPr>
              <a:t>(Barry v Heider).</a:t>
            </a:r>
          </a:p>
          <a:p>
            <a:pPr algn="just">
              <a:spcBef>
                <a:spcPts val="900"/>
              </a:spcBef>
              <a:buFont typeface="Wingdings" panose="05000000000000000000" pitchFamily="2" charset="2"/>
              <a:buChar char="Ø"/>
              <a:defRPr/>
            </a:pPr>
            <a:r>
              <a:rPr lang="en-AU" sz="1600" dirty="0"/>
              <a:t> The earlier holder’s </a:t>
            </a:r>
            <a:r>
              <a:rPr lang="en-AU" sz="1600" b="1" dirty="0"/>
              <a:t>conduct </a:t>
            </a:r>
            <a:r>
              <a:rPr lang="en-AU" sz="1600" dirty="0"/>
              <a:t>contributed to the later holder acquiring its interest without notice of the earlier interest (</a:t>
            </a:r>
            <a:r>
              <a:rPr lang="en-AU" sz="1600" i="1" dirty="0"/>
              <a:t>Abigailv Lapin).</a:t>
            </a:r>
          </a:p>
          <a:p>
            <a:pPr algn="just">
              <a:spcBef>
                <a:spcPts val="900"/>
              </a:spcBef>
              <a:buFont typeface="Wingdings" panose="05000000000000000000" pitchFamily="2" charset="2"/>
              <a:buChar char="Ø"/>
              <a:defRPr/>
            </a:pPr>
            <a:r>
              <a:rPr lang="en-AU" sz="1600" dirty="0"/>
              <a:t> Where it was </a:t>
            </a:r>
            <a:r>
              <a:rPr lang="en-AU" sz="1600" b="1" dirty="0"/>
              <a:t>reasonably foreseeable </a:t>
            </a:r>
            <a:r>
              <a:rPr lang="en-AU" sz="1600" dirty="0"/>
              <a:t>that as a consequence of the earlier holder’s conduct, a later equitable interest might be created and the owner of the later interest would assume the non-existence of the earlier (</a:t>
            </a:r>
            <a:r>
              <a:rPr lang="en-AU" sz="1600" i="1" dirty="0"/>
              <a:t>Heid v Reliance Finance</a:t>
            </a:r>
            <a:r>
              <a:rPr lang="en-AU" sz="1600" dirty="0"/>
              <a:t>).</a:t>
            </a:r>
            <a:endParaRPr lang="en-AU" sz="1600" i="1" dirty="0"/>
          </a:p>
          <a:p>
            <a:pPr algn="just">
              <a:spcBef>
                <a:spcPts val="900"/>
              </a:spcBef>
              <a:buFont typeface="Wingdings" panose="05000000000000000000" pitchFamily="2" charset="2"/>
              <a:buChar char="Ø"/>
              <a:tabLst>
                <a:tab pos="604838" algn="l"/>
              </a:tabLst>
              <a:defRPr/>
            </a:pP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pPr marL="535781" indent="-535781" algn="just">
              <a:spcBef>
                <a:spcPts val="900"/>
              </a:spcBef>
              <a:buNone/>
              <a:defRPr/>
            </a:pPr>
            <a:r>
              <a:rPr lang="en-AU" sz="1800" b="0" dirty="0">
                <a:solidFill>
                  <a:schemeClr val="bg1"/>
                </a:solidFill>
              </a:rPr>
              <a:t>Equitable Interest (E1) vs Equitable Interest (E2)</a:t>
            </a:r>
            <a:endParaRPr lang="en-AU" sz="1800" b="0" dirty="0"/>
          </a:p>
        </p:txBody>
      </p:sp>
    </p:spTree>
    <p:extLst>
      <p:ext uri="{BB962C8B-B14F-4D97-AF65-F5344CB8AC3E}">
        <p14:creationId xmlns:p14="http://schemas.microsoft.com/office/powerpoint/2010/main" val="881528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00342"/>
            <a:ext cx="6091117" cy="3742815"/>
          </a:xfrm>
        </p:spPr>
        <p:txBody>
          <a:bodyPr>
            <a:normAutofit lnSpcReduction="10000"/>
          </a:bodyPr>
          <a:lstStyle/>
          <a:p>
            <a:pPr algn="just">
              <a:spcBef>
                <a:spcPts val="450"/>
              </a:spcBef>
              <a:defRPr/>
            </a:pPr>
            <a:r>
              <a:rPr lang="en-US" altLang="en-US" sz="1600" dirty="0">
                <a:ea typeface="ＭＳ Ｐゴシック" pitchFamily="34" charset="-128"/>
              </a:rPr>
              <a:t>What is an equitable interest? What we have looked at thus far – </a:t>
            </a:r>
            <a:r>
              <a:rPr lang="en-US" altLang="en-US" sz="1600" dirty="0" err="1">
                <a:ea typeface="ＭＳ Ｐゴシック" pitchFamily="34" charset="-128"/>
              </a:rPr>
              <a:t>eg</a:t>
            </a:r>
            <a:r>
              <a:rPr lang="en-US" altLang="en-US" sz="1600" dirty="0">
                <a:ea typeface="ＭＳ Ｐゴシック" pitchFamily="34" charset="-128"/>
              </a:rPr>
              <a:t> an equitable freehold interest acquired in land pursuant to a contract of sale that has not been transferred to the purchaser, an equitable leasehold interest, an interest held by a beneficiary of an express or implied trust – in other words, a </a:t>
            </a:r>
            <a:r>
              <a:rPr lang="en-US" altLang="en-US" sz="1600" i="1" dirty="0">
                <a:ea typeface="ＭＳ Ｐゴシック" pitchFamily="34" charset="-128"/>
              </a:rPr>
              <a:t>proprietary </a:t>
            </a:r>
            <a:r>
              <a:rPr lang="en-US" altLang="en-US" sz="1600" dirty="0">
                <a:ea typeface="ＭＳ Ｐゴシック" pitchFamily="34" charset="-128"/>
              </a:rPr>
              <a:t>equitable</a:t>
            </a:r>
            <a:r>
              <a:rPr lang="en-US" altLang="en-US" sz="1600" i="1" dirty="0">
                <a:ea typeface="ＭＳ Ｐゴシック" pitchFamily="34" charset="-128"/>
              </a:rPr>
              <a:t> </a:t>
            </a:r>
            <a:r>
              <a:rPr lang="en-US" altLang="en-US" sz="1600" dirty="0">
                <a:ea typeface="ＭＳ Ｐゴシック" pitchFamily="34" charset="-128"/>
              </a:rPr>
              <a:t>interest</a:t>
            </a:r>
          </a:p>
          <a:p>
            <a:pPr algn="just">
              <a:spcBef>
                <a:spcPts val="450"/>
              </a:spcBef>
              <a:buNone/>
              <a:defRPr/>
            </a:pPr>
            <a:r>
              <a:rPr lang="en-US" altLang="en-US" sz="1600" dirty="0">
                <a:ea typeface="ＭＳ Ｐゴシック" pitchFamily="34" charset="-128"/>
              </a:rPr>
              <a:t>What is a mere equity? This has been hard for courts to define, but it involves an interest which has not yet matured into an equitable interest </a:t>
            </a:r>
            <a:r>
              <a:rPr lang="en-US" altLang="en-US" sz="1600" dirty="0" err="1">
                <a:ea typeface="ＭＳ Ｐゴシック" pitchFamily="34" charset="-128"/>
              </a:rPr>
              <a:t>eg</a:t>
            </a:r>
            <a:r>
              <a:rPr lang="en-US" altLang="en-US" sz="1600" dirty="0">
                <a:ea typeface="ＭＳ Ｐゴシック" pitchFamily="34" charset="-128"/>
              </a:rPr>
              <a:t> the right of an innocent party to seek the assistance of a court to set aside a voidable contract tainted by fraud or undue influence.</a:t>
            </a:r>
          </a:p>
          <a:p>
            <a:pPr algn="just">
              <a:spcBef>
                <a:spcPts val="450"/>
              </a:spcBef>
              <a:buNone/>
              <a:defRPr/>
            </a:pPr>
            <a:r>
              <a:rPr lang="en-US" altLang="en-US" sz="1600" dirty="0">
                <a:ea typeface="ＭＳ Ｐゴシック" pitchFamily="34" charset="-128"/>
              </a:rPr>
              <a:t>The priority rule here is that, provided the equitable interest has been acquired in good faith and for valuable consideration and without notice, it will prevail over the mere equity.</a:t>
            </a:r>
          </a:p>
          <a:p>
            <a:pPr algn="just">
              <a:spcBef>
                <a:spcPts val="450"/>
              </a:spcBef>
              <a:defRPr/>
            </a:pPr>
            <a:r>
              <a:rPr lang="en-US" altLang="en-US" sz="1600" i="1" dirty="0" err="1">
                <a:ea typeface="ＭＳ Ｐゴシック" pitchFamily="34" charset="-128"/>
              </a:rPr>
              <a:t>Latec</a:t>
            </a:r>
            <a:r>
              <a:rPr lang="en-US" altLang="en-US" sz="1600" i="1" dirty="0">
                <a:ea typeface="ＭＳ Ｐゴシック" pitchFamily="34" charset="-128"/>
              </a:rPr>
              <a:t> Investments v Hotel </a:t>
            </a:r>
            <a:r>
              <a:rPr lang="en-US" altLang="en-US" sz="1600" i="1" dirty="0" err="1">
                <a:ea typeface="ＭＳ Ｐゴシック" pitchFamily="34" charset="-128"/>
              </a:rPr>
              <a:t>Terrigal</a:t>
            </a:r>
            <a:r>
              <a:rPr lang="en-US" altLang="en-US" sz="1600" dirty="0">
                <a:ea typeface="ＭＳ Ｐゴシック" pitchFamily="34" charset="-128"/>
              </a:rPr>
              <a:t> (1965) 113 CLR 265</a:t>
            </a:r>
            <a:endParaRPr lang="en-US" altLang="en-US" sz="1600" i="1" dirty="0">
              <a:ea typeface="ＭＳ Ｐゴシック" pitchFamily="34" charset="-128"/>
            </a:endParaRPr>
          </a:p>
          <a:p>
            <a:pPr algn="just">
              <a:spcBef>
                <a:spcPts val="900"/>
              </a:spcBef>
              <a:buFont typeface="Wingdings" panose="05000000000000000000" pitchFamily="2" charset="2"/>
              <a:buChar char="Ø"/>
              <a:tabLst>
                <a:tab pos="604838" algn="l"/>
              </a:tabLst>
              <a:defRPr/>
            </a:pP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Autofit/>
          </a:bodyPr>
          <a:lstStyle/>
          <a:p>
            <a:pPr marL="0" indent="0">
              <a:spcBef>
                <a:spcPts val="450"/>
              </a:spcBef>
              <a:buNone/>
              <a:defRPr/>
            </a:pPr>
            <a:r>
              <a:rPr lang="en-US" altLang="en-US" sz="1800" b="0" dirty="0">
                <a:solidFill>
                  <a:schemeClr val="bg1"/>
                </a:solidFill>
                <a:ea typeface="ＭＳ Ｐゴシック" pitchFamily="34" charset="-128"/>
              </a:rPr>
              <a:t>Priorities dispute between a mere equity </a:t>
            </a:r>
            <a:br>
              <a:rPr lang="en-US" altLang="en-US" sz="1800" b="0" dirty="0">
                <a:solidFill>
                  <a:schemeClr val="bg1"/>
                </a:solidFill>
                <a:ea typeface="ＭＳ Ｐゴシック" pitchFamily="34" charset="-128"/>
              </a:rPr>
            </a:br>
            <a:r>
              <a:rPr lang="en-US" altLang="en-US" sz="1800" b="0" dirty="0">
                <a:solidFill>
                  <a:schemeClr val="bg1"/>
                </a:solidFill>
                <a:ea typeface="ＭＳ Ｐゴシック" pitchFamily="34" charset="-128"/>
              </a:rPr>
              <a:t>and an equitable interest</a:t>
            </a:r>
          </a:p>
        </p:txBody>
      </p:sp>
    </p:spTree>
    <p:extLst>
      <p:ext uri="{BB962C8B-B14F-4D97-AF65-F5344CB8AC3E}">
        <p14:creationId xmlns:p14="http://schemas.microsoft.com/office/powerpoint/2010/main" val="452141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8" y="629174"/>
            <a:ext cx="6057561" cy="4177718"/>
          </a:xfrm>
        </p:spPr>
        <p:txBody>
          <a:bodyPr>
            <a:normAutofit fontScale="92500" lnSpcReduction="10000"/>
          </a:bodyPr>
          <a:lstStyle/>
          <a:p>
            <a:pPr algn="just">
              <a:buNone/>
              <a:defRPr/>
            </a:pPr>
            <a:r>
              <a:rPr lang="en-AU" altLang="en-US" sz="1800" u="sng" dirty="0">
                <a:ea typeface="ＭＳ Ｐゴシック" panose="020B0600070205080204" pitchFamily="34" charset="-128"/>
              </a:rPr>
              <a:t>Priority rules for Torrens title land</a:t>
            </a:r>
            <a:r>
              <a:rPr lang="en-AU" altLang="en-US" sz="1800" dirty="0">
                <a:ea typeface="ＭＳ Ｐゴシック" panose="020B0600070205080204" pitchFamily="34" charset="-128"/>
              </a:rPr>
              <a:t> (this will make more sense once we have completed lectures on the Torrens system).</a:t>
            </a:r>
          </a:p>
          <a:p>
            <a:pPr algn="just">
              <a:buNone/>
              <a:defRPr/>
            </a:pPr>
            <a:r>
              <a:rPr lang="en-AU" altLang="en-US" sz="1800" i="1" dirty="0">
                <a:ea typeface="ＭＳ Ｐゴシック" panose="020B0600070205080204" pitchFamily="34" charset="-128"/>
              </a:rPr>
              <a:t>Earlier legal versus later legal </a:t>
            </a:r>
            <a:r>
              <a:rPr lang="en-AU" altLang="en-US" sz="1800" dirty="0">
                <a:ea typeface="ＭＳ Ｐゴシック" panose="020B0600070205080204" pitchFamily="34" charset="-128"/>
              </a:rPr>
              <a:t>– priority simply depends on the date of registration.</a:t>
            </a:r>
          </a:p>
          <a:p>
            <a:pPr algn="just">
              <a:spcBef>
                <a:spcPts val="900"/>
              </a:spcBef>
              <a:buNone/>
              <a:defRPr/>
            </a:pPr>
            <a:r>
              <a:rPr lang="en-AU" altLang="en-US" sz="1800" i="1" dirty="0">
                <a:ea typeface="ＭＳ Ｐゴシック" panose="020B0600070205080204" pitchFamily="34" charset="-128"/>
              </a:rPr>
              <a:t>Earlier equitable versus later legal </a:t>
            </a:r>
            <a:r>
              <a:rPr lang="en-AU" altLang="en-US" sz="1800" dirty="0">
                <a:ea typeface="ＭＳ Ｐゴシック" panose="020B0600070205080204" pitchFamily="34" charset="-128"/>
              </a:rPr>
              <a:t>– the doctrine of notice is abolished except in the case of fraud (see s 134 TLA</a:t>
            </a:r>
            <a:r>
              <a:rPr lang="en-AU" altLang="en-US" sz="1800" i="1" dirty="0">
                <a:ea typeface="ＭＳ Ｐゴシック" panose="020B0600070205080204" pitchFamily="34" charset="-128"/>
              </a:rPr>
              <a:t> – </a:t>
            </a:r>
            <a:r>
              <a:rPr lang="en-AU" altLang="en-US" sz="1800" dirty="0">
                <a:ea typeface="ＭＳ Ｐゴシック" panose="020B0600070205080204" pitchFamily="34" charset="-128"/>
              </a:rPr>
              <a:t>doesn’t matter if there is notice) and instead replaced by the concept of indefeasibility of title, subject to the recognised exceptions (s 68(1), (1A) TLA).</a:t>
            </a:r>
          </a:p>
          <a:p>
            <a:pPr algn="just">
              <a:spcBef>
                <a:spcPts val="900"/>
              </a:spcBef>
              <a:buNone/>
              <a:defRPr/>
            </a:pPr>
            <a:r>
              <a:rPr lang="en-AU" altLang="en-US" sz="1800" i="1" dirty="0">
                <a:ea typeface="ＭＳ Ｐゴシック" panose="020B0600070205080204" pitchFamily="34" charset="-128"/>
              </a:rPr>
              <a:t>Earlier legal interest versus later equitable interest </a:t>
            </a:r>
            <a:r>
              <a:rPr lang="en-AU" altLang="en-US" sz="1800" dirty="0">
                <a:ea typeface="ＭＳ Ｐゴシック" panose="020B0600070205080204" pitchFamily="34" charset="-128"/>
              </a:rPr>
              <a:t>– the earlier registered interest prevails unless the later unregistered interest is an exception to indefeasibility.</a:t>
            </a:r>
          </a:p>
          <a:p>
            <a:pPr algn="just">
              <a:spcBef>
                <a:spcPts val="900"/>
              </a:spcBef>
              <a:buNone/>
              <a:defRPr/>
            </a:pPr>
            <a:r>
              <a:rPr lang="en-AU" altLang="en-US" sz="1800" i="1" dirty="0">
                <a:ea typeface="ＭＳ Ｐゴシック" panose="020B0600070205080204" pitchFamily="34" charset="-128"/>
              </a:rPr>
              <a:t>Competing equitable interests </a:t>
            </a:r>
            <a:r>
              <a:rPr lang="en-AU" altLang="en-US" sz="1800" dirty="0">
                <a:ea typeface="ＭＳ Ｐゴシック" panose="020B0600070205080204" pitchFamily="34" charset="-128"/>
              </a:rPr>
              <a:t>– apply the general law rule (</a:t>
            </a:r>
            <a:r>
              <a:rPr lang="en-AU" altLang="en-US" sz="1800" dirty="0" err="1">
                <a:ea typeface="ＭＳ Ｐゴシック" panose="020B0600070205080204" pitchFamily="34" charset="-128"/>
              </a:rPr>
              <a:t>eg</a:t>
            </a:r>
            <a:r>
              <a:rPr lang="en-AU" altLang="en-US" sz="1800" dirty="0">
                <a:ea typeface="ＭＳ Ｐゴシック" panose="020B0600070205080204" pitchFamily="34" charset="-128"/>
              </a:rPr>
              <a:t> </a:t>
            </a:r>
            <a:r>
              <a:rPr lang="en-AU" altLang="en-US" sz="1800" i="1" dirty="0">
                <a:ea typeface="ＭＳ Ｐゴシック" panose="020B0600070205080204" pitchFamily="34" charset="-128"/>
              </a:rPr>
              <a:t>Rice v Rice</a:t>
            </a:r>
            <a:r>
              <a:rPr lang="en-AU" altLang="en-US" sz="1800" dirty="0">
                <a:ea typeface="ＭＳ Ｐゴシック" panose="020B0600070205080204" pitchFamily="34" charset="-128"/>
              </a:rPr>
              <a:t>) but also consider any failure to lodge a caveat as something that may postpone priority.</a:t>
            </a:r>
          </a:p>
          <a:p>
            <a:pPr algn="just">
              <a:spcBef>
                <a:spcPts val="900"/>
              </a:spcBef>
              <a:buFont typeface="Wingdings" panose="05000000000000000000" pitchFamily="2" charset="2"/>
              <a:buChar char="Ø"/>
              <a:tabLst>
                <a:tab pos="604838" algn="l"/>
              </a:tabLst>
              <a:defRPr/>
            </a:pPr>
            <a:endParaRPr lang="en-US" altLang="en-US"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pPr marL="0" indent="0" algn="just">
              <a:spcBef>
                <a:spcPts val="450"/>
              </a:spcBef>
              <a:buNone/>
              <a:defRPr/>
            </a:pPr>
            <a:r>
              <a:rPr lang="en-US" altLang="en-US" sz="1800" b="0" dirty="0">
                <a:solidFill>
                  <a:schemeClr val="bg1"/>
                </a:solidFill>
                <a:ea typeface="ＭＳ Ｐゴシック" pitchFamily="34" charset="-128"/>
              </a:rPr>
              <a:t>Torrens Title Land – Changes to Law of Proprieties</a:t>
            </a:r>
          </a:p>
        </p:txBody>
      </p:sp>
    </p:spTree>
    <p:extLst>
      <p:ext uri="{BB962C8B-B14F-4D97-AF65-F5344CB8AC3E}">
        <p14:creationId xmlns:p14="http://schemas.microsoft.com/office/powerpoint/2010/main" val="582305220"/>
      </p:ext>
    </p:extLst>
  </p:cSld>
  <p:clrMapOvr>
    <a:masterClrMapping/>
  </p:clrMapOvr>
</p:sld>
</file>

<file path=ppt/theme/theme1.xml><?xml version="1.0" encoding="utf-8"?>
<a:theme xmlns:a="http://schemas.openxmlformats.org/drawingml/2006/main" name="Office Theme">
  <a:themeElements>
    <a:clrScheme name="World Ready B&amp;L">
      <a:dk1>
        <a:srgbClr val="101920"/>
      </a:dk1>
      <a:lt1>
        <a:srgbClr val="FFFFFF"/>
      </a:lt1>
      <a:dk2>
        <a:srgbClr val="404140"/>
      </a:dk2>
      <a:lt2>
        <a:srgbClr val="FFFFFF"/>
      </a:lt2>
      <a:accent1>
        <a:srgbClr val="004B85"/>
      </a:accent1>
      <a:accent2>
        <a:srgbClr val="BE2F36"/>
      </a:accent2>
      <a:accent3>
        <a:srgbClr val="FFC658"/>
      </a:accent3>
      <a:accent4>
        <a:srgbClr val="7E71B3"/>
      </a:accent4>
      <a:accent5>
        <a:srgbClr val="F26122"/>
      </a:accent5>
      <a:accent6>
        <a:srgbClr val="EFECE5"/>
      </a:accent6>
      <a:hlink>
        <a:srgbClr val="004B85"/>
      </a:hlink>
      <a:folHlink>
        <a:srgbClr val="F2612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perty law 1 Lecture 1 2022" id="{E7BE7D35-74D4-45FB-AD1E-42753974E9E7}" vid="{DB914E17-A141-4B07-AD21-1298645D11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Property law 1 Lecture 1 2022</Template>
  <TotalTime>3147</TotalTime>
  <Words>3173</Words>
  <Application>Microsoft Office PowerPoint</Application>
  <PresentationFormat>Custom</PresentationFormat>
  <Paragraphs>119</Paragraphs>
  <Slides>21</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8" baseType="lpstr">
      <vt:lpstr>Calibri</vt:lpstr>
      <vt:lpstr>Arial</vt:lpstr>
      <vt:lpstr>ＭＳ Ｐゴシック</vt:lpstr>
      <vt:lpstr>Times New Roman</vt:lpstr>
      <vt:lpstr>Wingdings</vt:lpstr>
      <vt:lpstr>Office Theme</vt:lpstr>
      <vt:lpstr>Packager Shell Object</vt:lpstr>
      <vt:lpstr>LAW2102 PROPERTY LAW 1 </vt:lpstr>
      <vt:lpstr>Today’s Agenda/Learning Objectives</vt:lpstr>
      <vt:lpstr>What is a priority dispute?</vt:lpstr>
      <vt:lpstr>What are the steps to resolving a priorities dispute?</vt:lpstr>
      <vt:lpstr>What are the outcomes of a priorities dispute?</vt:lpstr>
      <vt:lpstr>Legal interest vs legal interest</vt:lpstr>
      <vt:lpstr>Priority of Competing Legal Interests Non Torrens Land : Registration Of Deeds Act 1856 (WA)</vt:lpstr>
      <vt:lpstr>Priority of Competing Legal Interests Torrens Land: Transfer of Land Act 1893 (WA) ss 58, 68 </vt:lpstr>
      <vt:lpstr>Priority of Competing Legal Interests Torrens Land: Transfer of Land Act 1893 (WA) ss 58, 68 </vt:lpstr>
      <vt:lpstr>Priority of Competing Legal Interests Torrens Land: Transfer of Land Act 1893 (WA) ss 58, 68 </vt:lpstr>
      <vt:lpstr>Priority of prior legal interest (L1) vs  later equitable interest (E2)</vt:lpstr>
      <vt:lpstr>Earlier Equitable Interest (E1) vs Later Legal Interest (L2)</vt:lpstr>
      <vt:lpstr>Equitable Interest (E1) vs Equitable Interest (E2)</vt:lpstr>
      <vt:lpstr>Equitable Interest (E1) vs Equitable Interest (E2)</vt:lpstr>
      <vt:lpstr>Equitable Interest (E1) vs Equitable Interest (E2)</vt:lpstr>
      <vt:lpstr>Equitable Interest (E1) vs Equitable Interest (E2)</vt:lpstr>
      <vt:lpstr>Equitable Interest (E1) vs Equitable Interest (E2)</vt:lpstr>
      <vt:lpstr>Equitable Interest (E1) vs Equitable Interest (E2)</vt:lpstr>
      <vt:lpstr>Equitable Interest (E1) vs Equitable Interest (E2)</vt:lpstr>
      <vt:lpstr>Priorities dispute between a mere equity  and an equitable interest</vt:lpstr>
      <vt:lpstr>Torrens Title Land – Changes to Law of Proprieties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LAW2102 PROPERTY 1</dc:title>
  <dc:creator>Haydn RIGBY</dc:creator>
  <cp:lastModifiedBy>Joshua Forrester</cp:lastModifiedBy>
  <cp:revision>68</cp:revision>
  <dcterms:created xsi:type="dcterms:W3CDTF">2022-02-06T13:04:31Z</dcterms:created>
  <dcterms:modified xsi:type="dcterms:W3CDTF">2026-04-07T03:11:18Z</dcterms:modified>
</cp:coreProperties>
</file>